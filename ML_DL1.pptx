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89" r:id="rId5"/>
    <p:sldId id="320" r:id="rId6"/>
    <p:sldId id="321" r:id="rId7"/>
    <p:sldId id="322" r:id="rId8"/>
    <p:sldId id="305" r:id="rId9"/>
    <p:sldId id="290" r:id="rId10"/>
    <p:sldId id="301" r:id="rId11"/>
    <p:sldId id="291" r:id="rId12"/>
    <p:sldId id="306" r:id="rId13"/>
    <p:sldId id="312" r:id="rId14"/>
    <p:sldId id="313" r:id="rId15"/>
    <p:sldId id="314" r:id="rId16"/>
    <p:sldId id="304" r:id="rId17"/>
    <p:sldId id="324" r:id="rId18"/>
    <p:sldId id="325" r:id="rId19"/>
    <p:sldId id="323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65" autoAdjust="0"/>
    <p:restoredTop sz="73694" autoAdjust="0"/>
  </p:normalViewPr>
  <p:slideViewPr>
    <p:cSldViewPr snapToGrid="0">
      <p:cViewPr varScale="1">
        <p:scale>
          <a:sx n="46" d="100"/>
          <a:sy n="46" d="100"/>
        </p:scale>
        <p:origin x="1136" y="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12053E-2E83-4B6C-8E5D-F2803ED7C926}" type="doc">
      <dgm:prSet loTypeId="urn:microsoft.com/office/officeart/2005/8/layout/vList2" loCatId="list" qsTypeId="urn:microsoft.com/office/officeart/2005/8/quickstyle/simple1" qsCatId="simple" csTypeId="urn:microsoft.com/office/officeart/2005/8/colors/accent4_5" csCatId="accent4"/>
      <dgm:spPr/>
      <dgm:t>
        <a:bodyPr/>
        <a:lstStyle/>
        <a:p>
          <a:endParaRPr lang="es-ES"/>
        </a:p>
      </dgm:t>
    </dgm:pt>
    <dgm:pt modelId="{F9E170A3-054F-41B7-9545-673CE81809F9}">
      <dgm:prSet/>
      <dgm:spPr/>
      <dgm:t>
        <a:bodyPr/>
        <a:lstStyle/>
        <a:p>
          <a:r>
            <a:rPr lang="es-ES"/>
            <a:t>📌 </a:t>
          </a:r>
          <a:r>
            <a:rPr lang="es-ES" b="1"/>
            <a:t>Problema:</a:t>
          </a:r>
          <a:br>
            <a:rPr lang="es-ES"/>
          </a:br>
          <a:r>
            <a:rPr lang="es-ES"/>
            <a:t>El mercado de alquileres a corto plazo (Airbnb) ha crecido exponencialmente, generando desafíos en la fijación de precios, la identificación de tendencias y la optimización de ofertas.</a:t>
          </a:r>
        </a:p>
      </dgm:t>
    </dgm:pt>
    <dgm:pt modelId="{32875C36-1573-47BA-A9CB-E3D150AFCE9E}" type="parTrans" cxnId="{8B330848-C462-4257-9606-FAE68D304F77}">
      <dgm:prSet/>
      <dgm:spPr/>
      <dgm:t>
        <a:bodyPr/>
        <a:lstStyle/>
        <a:p>
          <a:endParaRPr lang="es-ES"/>
        </a:p>
      </dgm:t>
    </dgm:pt>
    <dgm:pt modelId="{788107D5-4710-42EF-B569-7DF473C79D22}" type="sibTrans" cxnId="{8B330848-C462-4257-9606-FAE68D304F77}">
      <dgm:prSet/>
      <dgm:spPr/>
      <dgm:t>
        <a:bodyPr/>
        <a:lstStyle/>
        <a:p>
          <a:endParaRPr lang="es-ES"/>
        </a:p>
      </dgm:t>
    </dgm:pt>
    <dgm:pt modelId="{2FF0BA1B-208D-4A52-9BA9-8B6A09185788}" type="pres">
      <dgm:prSet presAssocID="{5812053E-2E83-4B6C-8E5D-F2803ED7C926}" presName="linear" presStyleCnt="0">
        <dgm:presLayoutVars>
          <dgm:animLvl val="lvl"/>
          <dgm:resizeHandles val="exact"/>
        </dgm:presLayoutVars>
      </dgm:prSet>
      <dgm:spPr/>
    </dgm:pt>
    <dgm:pt modelId="{66FDC7A6-12FA-4171-B236-D6D68A0F570A}" type="pres">
      <dgm:prSet presAssocID="{F9E170A3-054F-41B7-9545-673CE81809F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B330848-C462-4257-9606-FAE68D304F77}" srcId="{5812053E-2E83-4B6C-8E5D-F2803ED7C926}" destId="{F9E170A3-054F-41B7-9545-673CE81809F9}" srcOrd="0" destOrd="0" parTransId="{32875C36-1573-47BA-A9CB-E3D150AFCE9E}" sibTransId="{788107D5-4710-42EF-B569-7DF473C79D22}"/>
    <dgm:cxn modelId="{C635CD98-0D74-4C26-B2AA-E17C0F580F9E}" type="presOf" srcId="{F9E170A3-054F-41B7-9545-673CE81809F9}" destId="{66FDC7A6-12FA-4171-B236-D6D68A0F570A}" srcOrd="0" destOrd="0" presId="urn:microsoft.com/office/officeart/2005/8/layout/vList2"/>
    <dgm:cxn modelId="{FB77CAC6-588A-4E6F-8FBB-310097D0AACD}" type="presOf" srcId="{5812053E-2E83-4B6C-8E5D-F2803ED7C926}" destId="{2FF0BA1B-208D-4A52-9BA9-8B6A09185788}" srcOrd="0" destOrd="0" presId="urn:microsoft.com/office/officeart/2005/8/layout/vList2"/>
    <dgm:cxn modelId="{C4FFFD90-DB64-48E4-8EC1-71B4474F76D2}" type="presParOf" srcId="{2FF0BA1B-208D-4A52-9BA9-8B6A09185788}" destId="{66FDC7A6-12FA-4171-B236-D6D68A0F570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E1EACC-56D5-430E-8952-769C09111FC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4_1" csCatId="accent4"/>
      <dgm:spPr/>
      <dgm:t>
        <a:bodyPr/>
        <a:lstStyle/>
        <a:p>
          <a:endParaRPr lang="en-US"/>
        </a:p>
      </dgm:t>
    </dgm:pt>
    <dgm:pt modelId="{619EF199-8740-4986-BA54-9E7F4EB6155D}">
      <dgm:prSet/>
      <dgm:spPr/>
      <dgm:t>
        <a:bodyPr/>
        <a:lstStyle/>
        <a:p>
          <a:r>
            <a:rPr lang="es-ES" dirty="0"/>
            <a:t>📌 </a:t>
          </a:r>
          <a:r>
            <a:rPr lang="es-ES" b="1" dirty="0"/>
            <a:t>Impacto en el negocio:</a:t>
          </a:r>
          <a:endParaRPr lang="en-US" dirty="0"/>
        </a:p>
      </dgm:t>
    </dgm:pt>
    <dgm:pt modelId="{5C1F4BC2-9547-4925-ABB0-D7073EC0291D}" type="parTrans" cxnId="{DDA3A415-3743-42B5-9D2A-0C314CCB8C6C}">
      <dgm:prSet/>
      <dgm:spPr/>
      <dgm:t>
        <a:bodyPr/>
        <a:lstStyle/>
        <a:p>
          <a:endParaRPr lang="en-US"/>
        </a:p>
      </dgm:t>
    </dgm:pt>
    <dgm:pt modelId="{DA2E6B9F-59A9-4F36-8481-9DD8C2A60ED8}" type="sibTrans" cxnId="{DDA3A415-3743-42B5-9D2A-0C314CCB8C6C}">
      <dgm:prSet/>
      <dgm:spPr/>
      <dgm:t>
        <a:bodyPr/>
        <a:lstStyle/>
        <a:p>
          <a:endParaRPr lang="en-US"/>
        </a:p>
      </dgm:t>
    </dgm:pt>
    <dgm:pt modelId="{D60CD645-7108-497F-A412-A3AA6F2A9E20}">
      <dgm:prSet/>
      <dgm:spPr/>
      <dgm:t>
        <a:bodyPr/>
        <a:lstStyle/>
        <a:p>
          <a:r>
            <a:rPr lang="es-ES"/>
            <a:t>Los anfitriones necesitan establecer precios competitivos para maximizar su ocupación y rentabilidad.</a:t>
          </a:r>
          <a:endParaRPr lang="en-US"/>
        </a:p>
      </dgm:t>
    </dgm:pt>
    <dgm:pt modelId="{C8D02FCF-6C2E-474F-9B5F-F73FB665D145}" type="parTrans" cxnId="{5BD3344E-9AB4-4A60-BAA6-ECEE92509606}">
      <dgm:prSet/>
      <dgm:spPr/>
      <dgm:t>
        <a:bodyPr/>
        <a:lstStyle/>
        <a:p>
          <a:endParaRPr lang="en-US"/>
        </a:p>
      </dgm:t>
    </dgm:pt>
    <dgm:pt modelId="{483ED37E-EBBC-4001-AED2-9EAAC1F5FA94}" type="sibTrans" cxnId="{5BD3344E-9AB4-4A60-BAA6-ECEE92509606}">
      <dgm:prSet/>
      <dgm:spPr/>
      <dgm:t>
        <a:bodyPr/>
        <a:lstStyle/>
        <a:p>
          <a:endParaRPr lang="en-US"/>
        </a:p>
      </dgm:t>
    </dgm:pt>
    <dgm:pt modelId="{FA7CF4FC-CC82-4688-8465-53D54299C469}">
      <dgm:prSet/>
      <dgm:spPr/>
      <dgm:t>
        <a:bodyPr/>
        <a:lstStyle/>
        <a:p>
          <a:r>
            <a:rPr lang="es-ES"/>
            <a:t>Los huéspedes buscan encontrar la mejor relación calidad-precio en sus alojamientos.</a:t>
          </a:r>
          <a:endParaRPr lang="en-US"/>
        </a:p>
      </dgm:t>
    </dgm:pt>
    <dgm:pt modelId="{39B6AD9F-A2C7-4163-9705-7FC547C8B7D6}" type="parTrans" cxnId="{F8A3B7F8-3DB6-48A2-939D-C2B069587112}">
      <dgm:prSet/>
      <dgm:spPr/>
      <dgm:t>
        <a:bodyPr/>
        <a:lstStyle/>
        <a:p>
          <a:endParaRPr lang="en-US"/>
        </a:p>
      </dgm:t>
    </dgm:pt>
    <dgm:pt modelId="{618393F7-934F-4E98-9DB7-1E222ADDAC77}" type="sibTrans" cxnId="{F8A3B7F8-3DB6-48A2-939D-C2B069587112}">
      <dgm:prSet/>
      <dgm:spPr/>
      <dgm:t>
        <a:bodyPr/>
        <a:lstStyle/>
        <a:p>
          <a:endParaRPr lang="en-US"/>
        </a:p>
      </dgm:t>
    </dgm:pt>
    <dgm:pt modelId="{117BA3CD-848A-42E8-802F-E741972A0BC5}">
      <dgm:prSet/>
      <dgm:spPr/>
      <dgm:t>
        <a:bodyPr/>
        <a:lstStyle/>
        <a:p>
          <a:r>
            <a:rPr lang="es-ES"/>
            <a:t>Las autoridades locales deben monitorear tendencias y regular el impacto en la economía y comunidad.</a:t>
          </a:r>
          <a:endParaRPr lang="en-US"/>
        </a:p>
      </dgm:t>
    </dgm:pt>
    <dgm:pt modelId="{189C648A-44B6-4766-871D-B27D66033F11}" type="parTrans" cxnId="{4F6C0E93-3917-4890-864C-067B1C70ACC8}">
      <dgm:prSet/>
      <dgm:spPr/>
      <dgm:t>
        <a:bodyPr/>
        <a:lstStyle/>
        <a:p>
          <a:endParaRPr lang="en-US"/>
        </a:p>
      </dgm:t>
    </dgm:pt>
    <dgm:pt modelId="{ACDE61D8-E4C1-4DB4-9E87-1989ED8ED716}" type="sibTrans" cxnId="{4F6C0E93-3917-4890-864C-067B1C70ACC8}">
      <dgm:prSet/>
      <dgm:spPr/>
      <dgm:t>
        <a:bodyPr/>
        <a:lstStyle/>
        <a:p>
          <a:endParaRPr lang="en-US"/>
        </a:p>
      </dgm:t>
    </dgm:pt>
    <dgm:pt modelId="{34E283BC-8E07-4CEC-9174-AE4605577392}" type="pres">
      <dgm:prSet presAssocID="{F5E1EACC-56D5-430E-8952-769C09111FCA}" presName="Name0" presStyleCnt="0">
        <dgm:presLayoutVars>
          <dgm:dir/>
          <dgm:resizeHandles val="exact"/>
        </dgm:presLayoutVars>
      </dgm:prSet>
      <dgm:spPr/>
    </dgm:pt>
    <dgm:pt modelId="{D8CEE1EB-AF3E-4FB4-ACF2-EBE062AD7BE7}" type="pres">
      <dgm:prSet presAssocID="{619EF199-8740-4986-BA54-9E7F4EB6155D}" presName="node" presStyleLbl="node1" presStyleIdx="0" presStyleCnt="4">
        <dgm:presLayoutVars>
          <dgm:bulletEnabled val="1"/>
        </dgm:presLayoutVars>
      </dgm:prSet>
      <dgm:spPr/>
    </dgm:pt>
    <dgm:pt modelId="{CF3020C9-6104-444F-9F5A-CABCE48EBB23}" type="pres">
      <dgm:prSet presAssocID="{DA2E6B9F-59A9-4F36-8481-9DD8C2A60ED8}" presName="sibTrans" presStyleLbl="sibTrans1D1" presStyleIdx="0" presStyleCnt="3"/>
      <dgm:spPr/>
    </dgm:pt>
    <dgm:pt modelId="{E7234E2C-EE97-4805-A520-3712E6FE3EF2}" type="pres">
      <dgm:prSet presAssocID="{DA2E6B9F-59A9-4F36-8481-9DD8C2A60ED8}" presName="connectorText" presStyleLbl="sibTrans1D1" presStyleIdx="0" presStyleCnt="3"/>
      <dgm:spPr/>
    </dgm:pt>
    <dgm:pt modelId="{E65A3F29-BEA9-4B9F-9173-51289E6592E1}" type="pres">
      <dgm:prSet presAssocID="{D60CD645-7108-497F-A412-A3AA6F2A9E20}" presName="node" presStyleLbl="node1" presStyleIdx="1" presStyleCnt="4">
        <dgm:presLayoutVars>
          <dgm:bulletEnabled val="1"/>
        </dgm:presLayoutVars>
      </dgm:prSet>
      <dgm:spPr/>
    </dgm:pt>
    <dgm:pt modelId="{E557D755-86DC-4E3F-A37E-85190EE4F818}" type="pres">
      <dgm:prSet presAssocID="{483ED37E-EBBC-4001-AED2-9EAAC1F5FA94}" presName="sibTrans" presStyleLbl="sibTrans1D1" presStyleIdx="1" presStyleCnt="3"/>
      <dgm:spPr/>
    </dgm:pt>
    <dgm:pt modelId="{8BECBBC4-B919-45D8-9AF3-291575F7A920}" type="pres">
      <dgm:prSet presAssocID="{483ED37E-EBBC-4001-AED2-9EAAC1F5FA94}" presName="connectorText" presStyleLbl="sibTrans1D1" presStyleIdx="1" presStyleCnt="3"/>
      <dgm:spPr/>
    </dgm:pt>
    <dgm:pt modelId="{F743DA9E-B291-442A-973F-06D61AB70049}" type="pres">
      <dgm:prSet presAssocID="{FA7CF4FC-CC82-4688-8465-53D54299C469}" presName="node" presStyleLbl="node1" presStyleIdx="2" presStyleCnt="4">
        <dgm:presLayoutVars>
          <dgm:bulletEnabled val="1"/>
        </dgm:presLayoutVars>
      </dgm:prSet>
      <dgm:spPr/>
    </dgm:pt>
    <dgm:pt modelId="{EC71AB35-73F6-446E-8D76-31A23EF91268}" type="pres">
      <dgm:prSet presAssocID="{618393F7-934F-4E98-9DB7-1E222ADDAC77}" presName="sibTrans" presStyleLbl="sibTrans1D1" presStyleIdx="2" presStyleCnt="3"/>
      <dgm:spPr/>
    </dgm:pt>
    <dgm:pt modelId="{6F48FADF-5874-4538-A3E9-0086E0D77564}" type="pres">
      <dgm:prSet presAssocID="{618393F7-934F-4E98-9DB7-1E222ADDAC77}" presName="connectorText" presStyleLbl="sibTrans1D1" presStyleIdx="2" presStyleCnt="3"/>
      <dgm:spPr/>
    </dgm:pt>
    <dgm:pt modelId="{8BF39A9B-E656-4086-A609-F531A1728E38}" type="pres">
      <dgm:prSet presAssocID="{117BA3CD-848A-42E8-802F-E741972A0BC5}" presName="node" presStyleLbl="node1" presStyleIdx="3" presStyleCnt="4">
        <dgm:presLayoutVars>
          <dgm:bulletEnabled val="1"/>
        </dgm:presLayoutVars>
      </dgm:prSet>
      <dgm:spPr/>
    </dgm:pt>
  </dgm:ptLst>
  <dgm:cxnLst>
    <dgm:cxn modelId="{17DCAF01-A6B5-4F8C-8BA9-AF8F1C49EE41}" type="presOf" srcId="{618393F7-934F-4E98-9DB7-1E222ADDAC77}" destId="{6F48FADF-5874-4538-A3E9-0086E0D77564}" srcOrd="1" destOrd="0" presId="urn:microsoft.com/office/officeart/2016/7/layout/RepeatingBendingProcessNew"/>
    <dgm:cxn modelId="{50EEF204-6866-4F81-B8D6-E522CBFCDB8D}" type="presOf" srcId="{483ED37E-EBBC-4001-AED2-9EAAC1F5FA94}" destId="{E557D755-86DC-4E3F-A37E-85190EE4F818}" srcOrd="0" destOrd="0" presId="urn:microsoft.com/office/officeart/2016/7/layout/RepeatingBendingProcessNew"/>
    <dgm:cxn modelId="{ABDEB307-2F78-42C0-A9E7-7D3291C01235}" type="presOf" srcId="{DA2E6B9F-59A9-4F36-8481-9DD8C2A60ED8}" destId="{CF3020C9-6104-444F-9F5A-CABCE48EBB23}" srcOrd="0" destOrd="0" presId="urn:microsoft.com/office/officeart/2016/7/layout/RepeatingBendingProcessNew"/>
    <dgm:cxn modelId="{DDA3A415-3743-42B5-9D2A-0C314CCB8C6C}" srcId="{F5E1EACC-56D5-430E-8952-769C09111FCA}" destId="{619EF199-8740-4986-BA54-9E7F4EB6155D}" srcOrd="0" destOrd="0" parTransId="{5C1F4BC2-9547-4925-ABB0-D7073EC0291D}" sibTransId="{DA2E6B9F-59A9-4F36-8481-9DD8C2A60ED8}"/>
    <dgm:cxn modelId="{3EC01E17-2C66-4D53-BAB8-7310AD4FF259}" type="presOf" srcId="{DA2E6B9F-59A9-4F36-8481-9DD8C2A60ED8}" destId="{E7234E2C-EE97-4805-A520-3712E6FE3EF2}" srcOrd="1" destOrd="0" presId="urn:microsoft.com/office/officeart/2016/7/layout/RepeatingBendingProcessNew"/>
    <dgm:cxn modelId="{EB054B24-6468-4FE8-BA27-005A8A31719A}" type="presOf" srcId="{618393F7-934F-4E98-9DB7-1E222ADDAC77}" destId="{EC71AB35-73F6-446E-8D76-31A23EF91268}" srcOrd="0" destOrd="0" presId="urn:microsoft.com/office/officeart/2016/7/layout/RepeatingBendingProcessNew"/>
    <dgm:cxn modelId="{49051B32-C76D-43DA-B527-5ECC068B1434}" type="presOf" srcId="{FA7CF4FC-CC82-4688-8465-53D54299C469}" destId="{F743DA9E-B291-442A-973F-06D61AB70049}" srcOrd="0" destOrd="0" presId="urn:microsoft.com/office/officeart/2016/7/layout/RepeatingBendingProcessNew"/>
    <dgm:cxn modelId="{A7C8C94A-77E7-45EA-A6C1-C164327CF7C9}" type="presOf" srcId="{D60CD645-7108-497F-A412-A3AA6F2A9E20}" destId="{E65A3F29-BEA9-4B9F-9173-51289E6592E1}" srcOrd="0" destOrd="0" presId="urn:microsoft.com/office/officeart/2016/7/layout/RepeatingBendingProcessNew"/>
    <dgm:cxn modelId="{53A20B4E-3C6F-4E2A-AE32-7DF59847E782}" type="presOf" srcId="{F5E1EACC-56D5-430E-8952-769C09111FCA}" destId="{34E283BC-8E07-4CEC-9174-AE4605577392}" srcOrd="0" destOrd="0" presId="urn:microsoft.com/office/officeart/2016/7/layout/RepeatingBendingProcessNew"/>
    <dgm:cxn modelId="{5BD3344E-9AB4-4A60-BAA6-ECEE92509606}" srcId="{F5E1EACC-56D5-430E-8952-769C09111FCA}" destId="{D60CD645-7108-497F-A412-A3AA6F2A9E20}" srcOrd="1" destOrd="0" parTransId="{C8D02FCF-6C2E-474F-9B5F-F73FB665D145}" sibTransId="{483ED37E-EBBC-4001-AED2-9EAAC1F5FA94}"/>
    <dgm:cxn modelId="{4F6C0E93-3917-4890-864C-067B1C70ACC8}" srcId="{F5E1EACC-56D5-430E-8952-769C09111FCA}" destId="{117BA3CD-848A-42E8-802F-E741972A0BC5}" srcOrd="3" destOrd="0" parTransId="{189C648A-44B6-4766-871D-B27D66033F11}" sibTransId="{ACDE61D8-E4C1-4DB4-9E87-1989ED8ED716}"/>
    <dgm:cxn modelId="{DA0D299E-1523-4AE6-B58E-4D4D8C904540}" type="presOf" srcId="{619EF199-8740-4986-BA54-9E7F4EB6155D}" destId="{D8CEE1EB-AF3E-4FB4-ACF2-EBE062AD7BE7}" srcOrd="0" destOrd="0" presId="urn:microsoft.com/office/officeart/2016/7/layout/RepeatingBendingProcessNew"/>
    <dgm:cxn modelId="{C6DD1EAA-AC65-4C70-923B-C11DB086DB3F}" type="presOf" srcId="{483ED37E-EBBC-4001-AED2-9EAAC1F5FA94}" destId="{8BECBBC4-B919-45D8-9AF3-291575F7A920}" srcOrd="1" destOrd="0" presId="urn:microsoft.com/office/officeart/2016/7/layout/RepeatingBendingProcessNew"/>
    <dgm:cxn modelId="{21A991ED-FAF5-410C-886F-55FD9DA299A9}" type="presOf" srcId="{117BA3CD-848A-42E8-802F-E741972A0BC5}" destId="{8BF39A9B-E656-4086-A609-F531A1728E38}" srcOrd="0" destOrd="0" presId="urn:microsoft.com/office/officeart/2016/7/layout/RepeatingBendingProcessNew"/>
    <dgm:cxn modelId="{F8A3B7F8-3DB6-48A2-939D-C2B069587112}" srcId="{F5E1EACC-56D5-430E-8952-769C09111FCA}" destId="{FA7CF4FC-CC82-4688-8465-53D54299C469}" srcOrd="2" destOrd="0" parTransId="{39B6AD9F-A2C7-4163-9705-7FC547C8B7D6}" sibTransId="{618393F7-934F-4E98-9DB7-1E222ADDAC77}"/>
    <dgm:cxn modelId="{500FDC0C-D6BA-415D-9393-9F8C951E1067}" type="presParOf" srcId="{34E283BC-8E07-4CEC-9174-AE4605577392}" destId="{D8CEE1EB-AF3E-4FB4-ACF2-EBE062AD7BE7}" srcOrd="0" destOrd="0" presId="urn:microsoft.com/office/officeart/2016/7/layout/RepeatingBendingProcessNew"/>
    <dgm:cxn modelId="{584F41AB-50ED-42B2-8513-437F3EB17957}" type="presParOf" srcId="{34E283BC-8E07-4CEC-9174-AE4605577392}" destId="{CF3020C9-6104-444F-9F5A-CABCE48EBB23}" srcOrd="1" destOrd="0" presId="urn:microsoft.com/office/officeart/2016/7/layout/RepeatingBendingProcessNew"/>
    <dgm:cxn modelId="{A29A7B4F-8FF1-421C-BAE8-B27B53C6955E}" type="presParOf" srcId="{CF3020C9-6104-444F-9F5A-CABCE48EBB23}" destId="{E7234E2C-EE97-4805-A520-3712E6FE3EF2}" srcOrd="0" destOrd="0" presId="urn:microsoft.com/office/officeart/2016/7/layout/RepeatingBendingProcessNew"/>
    <dgm:cxn modelId="{DD89FA74-D09F-438F-BD8A-CAD533999EE5}" type="presParOf" srcId="{34E283BC-8E07-4CEC-9174-AE4605577392}" destId="{E65A3F29-BEA9-4B9F-9173-51289E6592E1}" srcOrd="2" destOrd="0" presId="urn:microsoft.com/office/officeart/2016/7/layout/RepeatingBendingProcessNew"/>
    <dgm:cxn modelId="{C203B701-6DBF-41DB-9195-8672081B5DD4}" type="presParOf" srcId="{34E283BC-8E07-4CEC-9174-AE4605577392}" destId="{E557D755-86DC-4E3F-A37E-85190EE4F818}" srcOrd="3" destOrd="0" presId="urn:microsoft.com/office/officeart/2016/7/layout/RepeatingBendingProcessNew"/>
    <dgm:cxn modelId="{10809F30-5302-4CD0-A651-0912178EF734}" type="presParOf" srcId="{E557D755-86DC-4E3F-A37E-85190EE4F818}" destId="{8BECBBC4-B919-45D8-9AF3-291575F7A920}" srcOrd="0" destOrd="0" presId="urn:microsoft.com/office/officeart/2016/7/layout/RepeatingBendingProcessNew"/>
    <dgm:cxn modelId="{4CA96CA7-D1F5-44FC-8D33-9C42AF38F4A7}" type="presParOf" srcId="{34E283BC-8E07-4CEC-9174-AE4605577392}" destId="{F743DA9E-B291-442A-973F-06D61AB70049}" srcOrd="4" destOrd="0" presId="urn:microsoft.com/office/officeart/2016/7/layout/RepeatingBendingProcessNew"/>
    <dgm:cxn modelId="{744179E5-F326-43F0-9D43-34395F836081}" type="presParOf" srcId="{34E283BC-8E07-4CEC-9174-AE4605577392}" destId="{EC71AB35-73F6-446E-8D76-31A23EF91268}" srcOrd="5" destOrd="0" presId="urn:microsoft.com/office/officeart/2016/7/layout/RepeatingBendingProcessNew"/>
    <dgm:cxn modelId="{48E21FF6-1311-4D99-A4E1-B620C5EFB03F}" type="presParOf" srcId="{EC71AB35-73F6-446E-8D76-31A23EF91268}" destId="{6F48FADF-5874-4538-A3E9-0086E0D77564}" srcOrd="0" destOrd="0" presId="urn:microsoft.com/office/officeart/2016/7/layout/RepeatingBendingProcessNew"/>
    <dgm:cxn modelId="{A8A63AB2-A5C3-4620-875F-902DB0F79FB1}" type="presParOf" srcId="{34E283BC-8E07-4CEC-9174-AE4605577392}" destId="{8BF39A9B-E656-4086-A609-F531A1728E38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8D81E56-EE00-4358-8D77-286FFF943163}" type="doc">
      <dgm:prSet loTypeId="urn:microsoft.com/office/officeart/2005/8/layout/vList2" loCatId="list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s-ES"/>
        </a:p>
      </dgm:t>
    </dgm:pt>
    <dgm:pt modelId="{E14C2576-9E11-4781-8B24-6B1A50F89CDF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📌 </a:t>
          </a:r>
          <a:r>
            <a:rPr lang="es-ES" b="1"/>
            <a:t>Descripción del dataset</a:t>
          </a:r>
          <a:endParaRPr lang="es-ES"/>
        </a:p>
      </dgm:t>
    </dgm:pt>
    <dgm:pt modelId="{851608EF-5CA7-4D97-ADAF-A9CDE34F1427}" type="parTrans" cxnId="{450155F8-EE17-4008-9752-E417789F1DE5}">
      <dgm:prSet/>
      <dgm:spPr/>
      <dgm:t>
        <a:bodyPr/>
        <a:lstStyle/>
        <a:p>
          <a:endParaRPr lang="es-ES"/>
        </a:p>
      </dgm:t>
    </dgm:pt>
    <dgm:pt modelId="{5BF0C316-0D52-4187-B08F-C2869EA4B848}" type="sibTrans" cxnId="{450155F8-EE17-4008-9752-E417789F1DE5}">
      <dgm:prSet/>
      <dgm:spPr/>
      <dgm:t>
        <a:bodyPr/>
        <a:lstStyle/>
        <a:p>
          <a:endParaRPr lang="es-ES"/>
        </a:p>
      </dgm:t>
    </dgm:pt>
    <dgm:pt modelId="{9C5A5DED-AB49-42D5-B78C-240377DBCD0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Fuente:</a:t>
          </a:r>
          <a:r>
            <a:rPr lang="es-ES"/>
            <a:t> Datos de Airbnb de distintas ciudades.</a:t>
          </a:r>
        </a:p>
      </dgm:t>
    </dgm:pt>
    <dgm:pt modelId="{73AD0F73-2869-4FB4-B86F-88124CB8DEB5}" type="parTrans" cxnId="{D9EDB2E5-FC13-4E55-88F3-2E3B6B1E9F41}">
      <dgm:prSet/>
      <dgm:spPr/>
      <dgm:t>
        <a:bodyPr/>
        <a:lstStyle/>
        <a:p>
          <a:endParaRPr lang="es-ES"/>
        </a:p>
      </dgm:t>
    </dgm:pt>
    <dgm:pt modelId="{342F3E79-4339-48B6-844D-833F1BC623AB}" type="sibTrans" cxnId="{D9EDB2E5-FC13-4E55-88F3-2E3B6B1E9F41}">
      <dgm:prSet/>
      <dgm:spPr/>
      <dgm:t>
        <a:bodyPr/>
        <a:lstStyle/>
        <a:p>
          <a:endParaRPr lang="es-ES"/>
        </a:p>
      </dgm:t>
    </dgm:pt>
    <dgm:pt modelId="{47D8B12B-0A7C-4225-9D6A-69C5730D6E1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Número de registros:</a:t>
          </a:r>
          <a:r>
            <a:rPr lang="es-ES"/>
            <a:t> 207,602</a:t>
          </a:r>
        </a:p>
      </dgm:t>
    </dgm:pt>
    <dgm:pt modelId="{1CECF670-CF5A-45E4-8B2F-E004197BC500}" type="parTrans" cxnId="{983D28D7-6553-47CD-8834-02FAB1B962E1}">
      <dgm:prSet/>
      <dgm:spPr/>
      <dgm:t>
        <a:bodyPr/>
        <a:lstStyle/>
        <a:p>
          <a:endParaRPr lang="es-ES"/>
        </a:p>
      </dgm:t>
    </dgm:pt>
    <dgm:pt modelId="{3BA108EF-1B75-4D74-A25D-564AAE658E54}" type="sibTrans" cxnId="{983D28D7-6553-47CD-8834-02FAB1B962E1}">
      <dgm:prSet/>
      <dgm:spPr/>
      <dgm:t>
        <a:bodyPr/>
        <a:lstStyle/>
        <a:p>
          <a:endParaRPr lang="es-ES"/>
        </a:p>
      </dgm:t>
    </dgm:pt>
    <dgm:pt modelId="{1080734F-83E7-4734-854A-7BBFFAC870B5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Variables clave:</a:t>
          </a:r>
          <a:endParaRPr lang="es-ES"/>
        </a:p>
      </dgm:t>
    </dgm:pt>
    <dgm:pt modelId="{6F8E64CA-8035-4FDC-9200-0ECBAC32333C}" type="parTrans" cxnId="{A8B6AE25-9E26-4BBF-A2D6-F00548072E72}">
      <dgm:prSet/>
      <dgm:spPr/>
      <dgm:t>
        <a:bodyPr/>
        <a:lstStyle/>
        <a:p>
          <a:endParaRPr lang="es-ES"/>
        </a:p>
      </dgm:t>
    </dgm:pt>
    <dgm:pt modelId="{3E35879A-F421-45F6-9E78-8F23B5540A27}" type="sibTrans" cxnId="{A8B6AE25-9E26-4BBF-A2D6-F00548072E72}">
      <dgm:prSet/>
      <dgm:spPr/>
      <dgm:t>
        <a:bodyPr/>
        <a:lstStyle/>
        <a:p>
          <a:endParaRPr lang="es-ES"/>
        </a:p>
      </dgm:t>
    </dgm:pt>
    <dgm:pt modelId="{76FB66AF-10CD-4998-919E-C96DB5653599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Precio</a:t>
          </a:r>
        </a:p>
      </dgm:t>
    </dgm:pt>
    <dgm:pt modelId="{0D0355B4-3C65-4B68-8BC2-67E9AD2F6941}" type="parTrans" cxnId="{5131D810-4825-48D6-BE4E-C560FDAA4CE6}">
      <dgm:prSet/>
      <dgm:spPr/>
      <dgm:t>
        <a:bodyPr/>
        <a:lstStyle/>
        <a:p>
          <a:endParaRPr lang="es-ES"/>
        </a:p>
      </dgm:t>
    </dgm:pt>
    <dgm:pt modelId="{5BF4EE86-921E-4515-9CCA-B313A19D0F1B}" type="sibTrans" cxnId="{5131D810-4825-48D6-BE4E-C560FDAA4CE6}">
      <dgm:prSet/>
      <dgm:spPr/>
      <dgm:t>
        <a:bodyPr/>
        <a:lstStyle/>
        <a:p>
          <a:endParaRPr lang="es-ES"/>
        </a:p>
      </dgm:t>
    </dgm:pt>
    <dgm:pt modelId="{49205E3C-F199-436D-895C-C7B0FF35CCA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Tipo de habitación</a:t>
          </a:r>
        </a:p>
      </dgm:t>
    </dgm:pt>
    <dgm:pt modelId="{438DE1D6-0959-48EF-9AE6-2BB93FC29453}" type="parTrans" cxnId="{B3516EE8-B144-4705-B75D-41E5EB3207A3}">
      <dgm:prSet/>
      <dgm:spPr/>
      <dgm:t>
        <a:bodyPr/>
        <a:lstStyle/>
        <a:p>
          <a:endParaRPr lang="es-ES"/>
        </a:p>
      </dgm:t>
    </dgm:pt>
    <dgm:pt modelId="{3CF0F9A4-95F8-4CFD-989E-80BE38776B54}" type="sibTrans" cxnId="{B3516EE8-B144-4705-B75D-41E5EB3207A3}">
      <dgm:prSet/>
      <dgm:spPr/>
      <dgm:t>
        <a:bodyPr/>
        <a:lstStyle/>
        <a:p>
          <a:endParaRPr lang="es-ES"/>
        </a:p>
      </dgm:t>
    </dgm:pt>
    <dgm:pt modelId="{28E7CC58-8818-423B-9CC2-8FD08130BF4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Disponibilidad (días al año)</a:t>
          </a:r>
        </a:p>
      </dgm:t>
    </dgm:pt>
    <dgm:pt modelId="{5E2D8F23-91E8-4CEB-81F7-5D2C6144A22C}" type="parTrans" cxnId="{BECE883B-4B5E-4C11-AC09-225EAFDD8D86}">
      <dgm:prSet/>
      <dgm:spPr/>
      <dgm:t>
        <a:bodyPr/>
        <a:lstStyle/>
        <a:p>
          <a:endParaRPr lang="es-ES"/>
        </a:p>
      </dgm:t>
    </dgm:pt>
    <dgm:pt modelId="{13A303DA-B377-4A61-A3A2-42E534A86DA2}" type="sibTrans" cxnId="{BECE883B-4B5E-4C11-AC09-225EAFDD8D86}">
      <dgm:prSet/>
      <dgm:spPr/>
      <dgm:t>
        <a:bodyPr/>
        <a:lstStyle/>
        <a:p>
          <a:endParaRPr lang="es-ES"/>
        </a:p>
      </dgm:t>
    </dgm:pt>
    <dgm:pt modelId="{D0811042-BA48-48D1-B0F5-01DFEAD8E8A1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Número de reseñas y calificación</a:t>
          </a:r>
        </a:p>
      </dgm:t>
    </dgm:pt>
    <dgm:pt modelId="{D30BC4A6-1216-414C-9E16-F0B7261E3C88}" type="parTrans" cxnId="{181C34E0-83BA-401D-B050-1EC859E9E17E}">
      <dgm:prSet/>
      <dgm:spPr/>
      <dgm:t>
        <a:bodyPr/>
        <a:lstStyle/>
        <a:p>
          <a:endParaRPr lang="es-ES"/>
        </a:p>
      </dgm:t>
    </dgm:pt>
    <dgm:pt modelId="{EE779A85-142F-44FD-9C73-4EA375C67943}" type="sibTrans" cxnId="{181C34E0-83BA-401D-B050-1EC859E9E17E}">
      <dgm:prSet/>
      <dgm:spPr/>
      <dgm:t>
        <a:bodyPr/>
        <a:lstStyle/>
        <a:p>
          <a:endParaRPr lang="es-ES"/>
        </a:p>
      </dgm:t>
    </dgm:pt>
    <dgm:pt modelId="{9AF9A324-B8CA-4543-8F1A-98CEE5031A2A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Ubicación (latitud/longitud, barrio, estado)</a:t>
          </a:r>
        </a:p>
      </dgm:t>
    </dgm:pt>
    <dgm:pt modelId="{9AD83B53-50EF-47E6-ADB7-7A1494982E07}" type="parTrans" cxnId="{D14F5CAA-510F-445D-B51F-9964996B54B7}">
      <dgm:prSet/>
      <dgm:spPr/>
      <dgm:t>
        <a:bodyPr/>
        <a:lstStyle/>
        <a:p>
          <a:endParaRPr lang="es-ES"/>
        </a:p>
      </dgm:t>
    </dgm:pt>
    <dgm:pt modelId="{EDFD475E-F232-4322-9FCD-775D2F13C0F4}" type="sibTrans" cxnId="{D14F5CAA-510F-445D-B51F-9964996B54B7}">
      <dgm:prSet/>
      <dgm:spPr/>
      <dgm:t>
        <a:bodyPr/>
        <a:lstStyle/>
        <a:p>
          <a:endParaRPr lang="es-ES"/>
        </a:p>
      </dgm:t>
    </dgm:pt>
    <dgm:pt modelId="{C6DF5C02-9508-4266-8CF7-9FFD352F101F}" type="pres">
      <dgm:prSet presAssocID="{C8D81E56-EE00-4358-8D77-286FFF943163}" presName="linear" presStyleCnt="0">
        <dgm:presLayoutVars>
          <dgm:animLvl val="lvl"/>
          <dgm:resizeHandles val="exact"/>
        </dgm:presLayoutVars>
      </dgm:prSet>
      <dgm:spPr/>
    </dgm:pt>
    <dgm:pt modelId="{DE72C64D-039C-4C02-BBC3-3656297EB0FB}" type="pres">
      <dgm:prSet presAssocID="{E14C2576-9E11-4781-8B24-6B1A50F89C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10027C2-829E-41AF-98FF-5DB1D058BF17}" type="pres">
      <dgm:prSet presAssocID="{5BF0C316-0D52-4187-B08F-C2869EA4B848}" presName="spacer" presStyleCnt="0"/>
      <dgm:spPr/>
    </dgm:pt>
    <dgm:pt modelId="{2EDA2DCF-6ABF-411E-9D81-11323277F657}" type="pres">
      <dgm:prSet presAssocID="{9C5A5DED-AB49-42D5-B78C-240377DBCD0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2786628-E7F9-459C-988F-7886FC635F2F}" type="pres">
      <dgm:prSet presAssocID="{342F3E79-4339-48B6-844D-833F1BC623AB}" presName="spacer" presStyleCnt="0"/>
      <dgm:spPr/>
    </dgm:pt>
    <dgm:pt modelId="{E7064433-4FD9-45F5-835F-C9136D890C31}" type="pres">
      <dgm:prSet presAssocID="{47D8B12B-0A7C-4225-9D6A-69C5730D6E1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B2E40D6-8E13-4056-AA0E-AE58C34E1791}" type="pres">
      <dgm:prSet presAssocID="{3BA108EF-1B75-4D74-A25D-564AAE658E54}" presName="spacer" presStyleCnt="0"/>
      <dgm:spPr/>
    </dgm:pt>
    <dgm:pt modelId="{C8980B66-AE9F-4B80-B3BF-61A99B76F8BA}" type="pres">
      <dgm:prSet presAssocID="{1080734F-83E7-4734-854A-7BBFFAC870B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5B3F82B-9752-4B4C-A749-3BB559A0FB2C}" type="pres">
      <dgm:prSet presAssocID="{1080734F-83E7-4734-854A-7BBFFAC870B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FF2B7A09-E971-4CCA-9CAC-CA70D8E19CD9}" type="presOf" srcId="{9C5A5DED-AB49-42D5-B78C-240377DBCD00}" destId="{2EDA2DCF-6ABF-411E-9D81-11323277F657}" srcOrd="0" destOrd="0" presId="urn:microsoft.com/office/officeart/2005/8/layout/vList2"/>
    <dgm:cxn modelId="{5131D810-4825-48D6-BE4E-C560FDAA4CE6}" srcId="{1080734F-83E7-4734-854A-7BBFFAC870B5}" destId="{76FB66AF-10CD-4998-919E-C96DB5653599}" srcOrd="0" destOrd="0" parTransId="{0D0355B4-3C65-4B68-8BC2-67E9AD2F6941}" sibTransId="{5BF4EE86-921E-4515-9CCA-B313A19D0F1B}"/>
    <dgm:cxn modelId="{A8B6AE25-9E26-4BBF-A2D6-F00548072E72}" srcId="{C8D81E56-EE00-4358-8D77-286FFF943163}" destId="{1080734F-83E7-4734-854A-7BBFFAC870B5}" srcOrd="3" destOrd="0" parTransId="{6F8E64CA-8035-4FDC-9200-0ECBAC32333C}" sibTransId="{3E35879A-F421-45F6-9E78-8F23B5540A27}"/>
    <dgm:cxn modelId="{2766FD38-4377-4EF7-9766-0EEA713BD079}" type="presOf" srcId="{D0811042-BA48-48D1-B0F5-01DFEAD8E8A1}" destId="{85B3F82B-9752-4B4C-A749-3BB559A0FB2C}" srcOrd="0" destOrd="3" presId="urn:microsoft.com/office/officeart/2005/8/layout/vList2"/>
    <dgm:cxn modelId="{BECE883B-4B5E-4C11-AC09-225EAFDD8D86}" srcId="{1080734F-83E7-4734-854A-7BBFFAC870B5}" destId="{28E7CC58-8818-423B-9CC2-8FD08130BF44}" srcOrd="2" destOrd="0" parTransId="{5E2D8F23-91E8-4CEB-81F7-5D2C6144A22C}" sibTransId="{13A303DA-B377-4A61-A3A2-42E534A86DA2}"/>
    <dgm:cxn modelId="{3F51696A-374A-4265-A82E-E76218AB2A32}" type="presOf" srcId="{47D8B12B-0A7C-4225-9D6A-69C5730D6E14}" destId="{E7064433-4FD9-45F5-835F-C9136D890C31}" srcOrd="0" destOrd="0" presId="urn:microsoft.com/office/officeart/2005/8/layout/vList2"/>
    <dgm:cxn modelId="{73BBF36A-4057-4DA6-87EB-1EB566CCE5D0}" type="presOf" srcId="{1080734F-83E7-4734-854A-7BBFFAC870B5}" destId="{C8980B66-AE9F-4B80-B3BF-61A99B76F8BA}" srcOrd="0" destOrd="0" presId="urn:microsoft.com/office/officeart/2005/8/layout/vList2"/>
    <dgm:cxn modelId="{68B8EF83-D72C-49A6-A5BF-A1F51FFF84B1}" type="presOf" srcId="{C8D81E56-EE00-4358-8D77-286FFF943163}" destId="{C6DF5C02-9508-4266-8CF7-9FFD352F101F}" srcOrd="0" destOrd="0" presId="urn:microsoft.com/office/officeart/2005/8/layout/vList2"/>
    <dgm:cxn modelId="{EA40AE8A-8DD7-4A2C-8F6A-72CC82FD99FD}" type="presOf" srcId="{E14C2576-9E11-4781-8B24-6B1A50F89CDF}" destId="{DE72C64D-039C-4C02-BBC3-3656297EB0FB}" srcOrd="0" destOrd="0" presId="urn:microsoft.com/office/officeart/2005/8/layout/vList2"/>
    <dgm:cxn modelId="{FE7B7D96-B138-4EED-AC8C-E194373F4C98}" type="presOf" srcId="{9AF9A324-B8CA-4543-8F1A-98CEE5031A2A}" destId="{85B3F82B-9752-4B4C-A749-3BB559A0FB2C}" srcOrd="0" destOrd="4" presId="urn:microsoft.com/office/officeart/2005/8/layout/vList2"/>
    <dgm:cxn modelId="{D14F5CAA-510F-445D-B51F-9964996B54B7}" srcId="{1080734F-83E7-4734-854A-7BBFFAC870B5}" destId="{9AF9A324-B8CA-4543-8F1A-98CEE5031A2A}" srcOrd="4" destOrd="0" parTransId="{9AD83B53-50EF-47E6-ADB7-7A1494982E07}" sibTransId="{EDFD475E-F232-4322-9FCD-775D2F13C0F4}"/>
    <dgm:cxn modelId="{181B29B7-9B7C-4C2B-9A6B-2B68F489A388}" type="presOf" srcId="{76FB66AF-10CD-4998-919E-C96DB5653599}" destId="{85B3F82B-9752-4B4C-A749-3BB559A0FB2C}" srcOrd="0" destOrd="0" presId="urn:microsoft.com/office/officeart/2005/8/layout/vList2"/>
    <dgm:cxn modelId="{983D28D7-6553-47CD-8834-02FAB1B962E1}" srcId="{C8D81E56-EE00-4358-8D77-286FFF943163}" destId="{47D8B12B-0A7C-4225-9D6A-69C5730D6E14}" srcOrd="2" destOrd="0" parTransId="{1CECF670-CF5A-45E4-8B2F-E004197BC500}" sibTransId="{3BA108EF-1B75-4D74-A25D-564AAE658E54}"/>
    <dgm:cxn modelId="{F99873D7-1F52-49A4-8364-4D0843A08AD1}" type="presOf" srcId="{28E7CC58-8818-423B-9CC2-8FD08130BF44}" destId="{85B3F82B-9752-4B4C-A749-3BB559A0FB2C}" srcOrd="0" destOrd="2" presId="urn:microsoft.com/office/officeart/2005/8/layout/vList2"/>
    <dgm:cxn modelId="{993EF6DE-715F-44C9-BD57-FB293B5119E6}" type="presOf" srcId="{49205E3C-F199-436D-895C-C7B0FF35CCAB}" destId="{85B3F82B-9752-4B4C-A749-3BB559A0FB2C}" srcOrd="0" destOrd="1" presId="urn:microsoft.com/office/officeart/2005/8/layout/vList2"/>
    <dgm:cxn modelId="{181C34E0-83BA-401D-B050-1EC859E9E17E}" srcId="{1080734F-83E7-4734-854A-7BBFFAC870B5}" destId="{D0811042-BA48-48D1-B0F5-01DFEAD8E8A1}" srcOrd="3" destOrd="0" parTransId="{D30BC4A6-1216-414C-9E16-F0B7261E3C88}" sibTransId="{EE779A85-142F-44FD-9C73-4EA375C67943}"/>
    <dgm:cxn modelId="{D9EDB2E5-FC13-4E55-88F3-2E3B6B1E9F41}" srcId="{C8D81E56-EE00-4358-8D77-286FFF943163}" destId="{9C5A5DED-AB49-42D5-B78C-240377DBCD00}" srcOrd="1" destOrd="0" parTransId="{73AD0F73-2869-4FB4-B86F-88124CB8DEB5}" sibTransId="{342F3E79-4339-48B6-844D-833F1BC623AB}"/>
    <dgm:cxn modelId="{B3516EE8-B144-4705-B75D-41E5EB3207A3}" srcId="{1080734F-83E7-4734-854A-7BBFFAC870B5}" destId="{49205E3C-F199-436D-895C-C7B0FF35CCAB}" srcOrd="1" destOrd="0" parTransId="{438DE1D6-0959-48EF-9AE6-2BB93FC29453}" sibTransId="{3CF0F9A4-95F8-4CFD-989E-80BE38776B54}"/>
    <dgm:cxn modelId="{450155F8-EE17-4008-9752-E417789F1DE5}" srcId="{C8D81E56-EE00-4358-8D77-286FFF943163}" destId="{E14C2576-9E11-4781-8B24-6B1A50F89CDF}" srcOrd="0" destOrd="0" parTransId="{851608EF-5CA7-4D97-ADAF-A9CDE34F1427}" sibTransId="{5BF0C316-0D52-4187-B08F-C2869EA4B848}"/>
    <dgm:cxn modelId="{D54C7460-A2AD-4DB8-A047-465DEB3247D1}" type="presParOf" srcId="{C6DF5C02-9508-4266-8CF7-9FFD352F101F}" destId="{DE72C64D-039C-4C02-BBC3-3656297EB0FB}" srcOrd="0" destOrd="0" presId="urn:microsoft.com/office/officeart/2005/8/layout/vList2"/>
    <dgm:cxn modelId="{0AC98396-DDE5-4384-BC73-BE49B3CCA64B}" type="presParOf" srcId="{C6DF5C02-9508-4266-8CF7-9FFD352F101F}" destId="{D10027C2-829E-41AF-98FF-5DB1D058BF17}" srcOrd="1" destOrd="0" presId="urn:microsoft.com/office/officeart/2005/8/layout/vList2"/>
    <dgm:cxn modelId="{979E8D34-28AF-4F6C-BC11-AE60BBBC8F89}" type="presParOf" srcId="{C6DF5C02-9508-4266-8CF7-9FFD352F101F}" destId="{2EDA2DCF-6ABF-411E-9D81-11323277F657}" srcOrd="2" destOrd="0" presId="urn:microsoft.com/office/officeart/2005/8/layout/vList2"/>
    <dgm:cxn modelId="{2DBE086B-3E64-4480-803B-56ADF5A40365}" type="presParOf" srcId="{C6DF5C02-9508-4266-8CF7-9FFD352F101F}" destId="{32786628-E7F9-459C-988F-7886FC635F2F}" srcOrd="3" destOrd="0" presId="urn:microsoft.com/office/officeart/2005/8/layout/vList2"/>
    <dgm:cxn modelId="{6C08C7CB-9A34-4DC4-B3EB-F6F044900506}" type="presParOf" srcId="{C6DF5C02-9508-4266-8CF7-9FFD352F101F}" destId="{E7064433-4FD9-45F5-835F-C9136D890C31}" srcOrd="4" destOrd="0" presId="urn:microsoft.com/office/officeart/2005/8/layout/vList2"/>
    <dgm:cxn modelId="{D6727031-3FD2-4711-B63F-886385B40343}" type="presParOf" srcId="{C6DF5C02-9508-4266-8CF7-9FFD352F101F}" destId="{0B2E40D6-8E13-4056-AA0E-AE58C34E1791}" srcOrd="5" destOrd="0" presId="urn:microsoft.com/office/officeart/2005/8/layout/vList2"/>
    <dgm:cxn modelId="{9587B479-0E8A-4B21-B84A-C161B5BE6B80}" type="presParOf" srcId="{C6DF5C02-9508-4266-8CF7-9FFD352F101F}" destId="{C8980B66-AE9F-4B80-B3BF-61A99B76F8BA}" srcOrd="6" destOrd="0" presId="urn:microsoft.com/office/officeart/2005/8/layout/vList2"/>
    <dgm:cxn modelId="{B30B714D-964A-4364-9911-A9F34F9A8AD4}" type="presParOf" srcId="{C6DF5C02-9508-4266-8CF7-9FFD352F101F}" destId="{85B3F82B-9752-4B4C-A749-3BB559A0FB2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7132BC-1532-40D8-88F7-C60FBF40C989}" type="doc">
      <dgm:prSet loTypeId="urn:microsoft.com/office/officeart/2005/8/layout/hierarchy4" loCatId="list" qsTypeId="urn:microsoft.com/office/officeart/2005/8/quickstyle/simple2" qsCatId="simple" csTypeId="urn:microsoft.com/office/officeart/2005/8/colors/accent4_5" csCatId="accent4" phldr="1"/>
      <dgm:spPr/>
      <dgm:t>
        <a:bodyPr/>
        <a:lstStyle/>
        <a:p>
          <a:endParaRPr lang="es-ES"/>
        </a:p>
      </dgm:t>
    </dgm:pt>
    <dgm:pt modelId="{B3151D82-B969-4A75-9851-59B7E60B7289}">
      <dgm:prSet/>
      <dgm:spPr/>
      <dgm:t>
        <a:bodyPr anchor="ctr" anchorCtr="1"/>
        <a:lstStyle/>
        <a:p>
          <a:pPr algn="just"/>
          <a:r>
            <a:rPr lang="es-ES" dirty="0"/>
            <a:t>En Barcelona, la mayoría de alojamientos, son pisos o casas enteras, al igual que en Madrid y Sevilla, con una proporción de estas del 60%, 65% y 70% respectivamente. </a:t>
          </a:r>
        </a:p>
      </dgm:t>
    </dgm:pt>
    <dgm:pt modelId="{7838289D-7507-4174-9CC7-F442D0E2ED33}" type="parTrans" cxnId="{EE97BE8A-A50F-49CB-8050-BF0E45D0677E}">
      <dgm:prSet/>
      <dgm:spPr/>
      <dgm:t>
        <a:bodyPr/>
        <a:lstStyle/>
        <a:p>
          <a:endParaRPr lang="es-ES"/>
        </a:p>
      </dgm:t>
    </dgm:pt>
    <dgm:pt modelId="{776EDA87-AA4A-43FF-894B-75E8B392E79E}" type="sibTrans" cxnId="{EE97BE8A-A50F-49CB-8050-BF0E45D0677E}">
      <dgm:prSet/>
      <dgm:spPr/>
      <dgm:t>
        <a:bodyPr/>
        <a:lstStyle/>
        <a:p>
          <a:endParaRPr lang="es-ES"/>
        </a:p>
      </dgm:t>
    </dgm:pt>
    <dgm:pt modelId="{6BB6DFE3-F005-4239-9A17-7DED7B901767}" type="pres">
      <dgm:prSet presAssocID="{C77132BC-1532-40D8-88F7-C60FBF40C989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7CE928-F142-41D9-B923-82F5B47470E1}" type="pres">
      <dgm:prSet presAssocID="{B3151D82-B969-4A75-9851-59B7E60B7289}" presName="vertOne" presStyleCnt="0"/>
      <dgm:spPr/>
    </dgm:pt>
    <dgm:pt modelId="{A569F56E-704E-4608-851C-B8DF9B2FD94F}" type="pres">
      <dgm:prSet presAssocID="{B3151D82-B969-4A75-9851-59B7E60B7289}" presName="txOne" presStyleLbl="node0" presStyleIdx="0" presStyleCnt="1" custLinFactNeighborY="32042">
        <dgm:presLayoutVars>
          <dgm:chPref val="3"/>
        </dgm:presLayoutVars>
      </dgm:prSet>
      <dgm:spPr/>
    </dgm:pt>
    <dgm:pt modelId="{AA707D6C-EE17-4F9C-889E-687199E14E02}" type="pres">
      <dgm:prSet presAssocID="{B3151D82-B969-4A75-9851-59B7E60B7289}" presName="horzOne" presStyleCnt="0"/>
      <dgm:spPr/>
    </dgm:pt>
  </dgm:ptLst>
  <dgm:cxnLst>
    <dgm:cxn modelId="{2646AC32-E613-437C-B2D6-E3BDCAEADC20}" type="presOf" srcId="{B3151D82-B969-4A75-9851-59B7E60B7289}" destId="{A569F56E-704E-4608-851C-B8DF9B2FD94F}" srcOrd="0" destOrd="0" presId="urn:microsoft.com/office/officeart/2005/8/layout/hierarchy4"/>
    <dgm:cxn modelId="{EE97BE8A-A50F-49CB-8050-BF0E45D0677E}" srcId="{C77132BC-1532-40D8-88F7-C60FBF40C989}" destId="{B3151D82-B969-4A75-9851-59B7E60B7289}" srcOrd="0" destOrd="0" parTransId="{7838289D-7507-4174-9CC7-F442D0E2ED33}" sibTransId="{776EDA87-AA4A-43FF-894B-75E8B392E79E}"/>
    <dgm:cxn modelId="{43188ED1-954A-4128-9CB2-D4EEF65B5B28}" type="presOf" srcId="{C77132BC-1532-40D8-88F7-C60FBF40C989}" destId="{6BB6DFE3-F005-4239-9A17-7DED7B901767}" srcOrd="0" destOrd="0" presId="urn:microsoft.com/office/officeart/2005/8/layout/hierarchy4"/>
    <dgm:cxn modelId="{CF97C2AD-E8EB-4A41-9218-968ABDAB2A2C}" type="presParOf" srcId="{6BB6DFE3-F005-4239-9A17-7DED7B901767}" destId="{197CE928-F142-41D9-B923-82F5B47470E1}" srcOrd="0" destOrd="0" presId="urn:microsoft.com/office/officeart/2005/8/layout/hierarchy4"/>
    <dgm:cxn modelId="{AE513DE0-DD7F-4B56-8718-D070BE9955BD}" type="presParOf" srcId="{197CE928-F142-41D9-B923-82F5B47470E1}" destId="{A569F56E-704E-4608-851C-B8DF9B2FD94F}" srcOrd="0" destOrd="0" presId="urn:microsoft.com/office/officeart/2005/8/layout/hierarchy4"/>
    <dgm:cxn modelId="{43B3B17C-7076-42C1-86F7-C3FE116EFF99}" type="presParOf" srcId="{197CE928-F142-41D9-B923-82F5B47470E1}" destId="{AA707D6C-EE17-4F9C-889E-687199E14E02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5462AA-D67B-4967-B891-7316FDFDC510}" type="doc">
      <dgm:prSet loTypeId="urn:microsoft.com/office/officeart/2005/8/layout/vList2" loCatId="list" qsTypeId="urn:microsoft.com/office/officeart/2005/8/quickstyle/simple1" qsCatId="simple" csTypeId="urn:microsoft.com/office/officeart/2005/8/colors/colorful3" csCatId="colorful"/>
      <dgm:spPr/>
      <dgm:t>
        <a:bodyPr/>
        <a:lstStyle/>
        <a:p>
          <a:endParaRPr lang="es-ES"/>
        </a:p>
      </dgm:t>
    </dgm:pt>
    <dgm:pt modelId="{5AD00210-053A-4EBB-8BED-5BDE80A49932}">
      <dgm:prSet/>
      <dgm:spPr/>
      <dgm:t>
        <a:bodyPr/>
        <a:lstStyle/>
        <a:p>
          <a:r>
            <a:rPr lang="es-ES" dirty="0"/>
            <a:t>✅ Es posible predecir precios con una precisión alta mediante ML/DL.</a:t>
          </a:r>
          <a:br>
            <a:rPr lang="es-ES" dirty="0"/>
          </a:br>
          <a:r>
            <a:rPr lang="es-ES" dirty="0"/>
            <a:t>✅ Variables más predictivas: ubicación, tipo de alojamiento y disponibilidad.</a:t>
          </a:r>
          <a:br>
            <a:rPr lang="es-ES" dirty="0"/>
          </a:br>
          <a:r>
            <a:rPr lang="es-ES" dirty="0"/>
            <a:t>✅ Importante considerar factores externos (eventos, temporada, turismo).</a:t>
          </a:r>
        </a:p>
      </dgm:t>
    </dgm:pt>
    <dgm:pt modelId="{AC517EEF-52F0-4657-9F3A-70210299E8FA}" type="parTrans" cxnId="{B01A60C7-9BA8-4131-902E-7EB1C773461F}">
      <dgm:prSet/>
      <dgm:spPr/>
      <dgm:t>
        <a:bodyPr/>
        <a:lstStyle/>
        <a:p>
          <a:endParaRPr lang="es-ES"/>
        </a:p>
      </dgm:t>
    </dgm:pt>
    <dgm:pt modelId="{6B049264-34F0-445D-947E-724CB17FB32D}" type="sibTrans" cxnId="{B01A60C7-9BA8-4131-902E-7EB1C773461F}">
      <dgm:prSet/>
      <dgm:spPr/>
      <dgm:t>
        <a:bodyPr/>
        <a:lstStyle/>
        <a:p>
          <a:endParaRPr lang="es-ES"/>
        </a:p>
      </dgm:t>
    </dgm:pt>
    <dgm:pt modelId="{68C6A21F-080D-4137-A6DC-8EADA9ACF3D2}" type="pres">
      <dgm:prSet presAssocID="{E05462AA-D67B-4967-B891-7316FDFDC510}" presName="linear" presStyleCnt="0">
        <dgm:presLayoutVars>
          <dgm:animLvl val="lvl"/>
          <dgm:resizeHandles val="exact"/>
        </dgm:presLayoutVars>
      </dgm:prSet>
      <dgm:spPr/>
    </dgm:pt>
    <dgm:pt modelId="{890EC603-0F47-470F-926A-8C118A80C2EA}" type="pres">
      <dgm:prSet presAssocID="{5AD00210-053A-4EBB-8BED-5BDE80A4993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43D473B-894D-4C7F-A733-7704C3A4D580}" type="presOf" srcId="{5AD00210-053A-4EBB-8BED-5BDE80A49932}" destId="{890EC603-0F47-470F-926A-8C118A80C2EA}" srcOrd="0" destOrd="0" presId="urn:microsoft.com/office/officeart/2005/8/layout/vList2"/>
    <dgm:cxn modelId="{0BA8FDC0-054E-4AAC-819B-E5788D3CF90E}" type="presOf" srcId="{E05462AA-D67B-4967-B891-7316FDFDC510}" destId="{68C6A21F-080D-4137-A6DC-8EADA9ACF3D2}" srcOrd="0" destOrd="0" presId="urn:microsoft.com/office/officeart/2005/8/layout/vList2"/>
    <dgm:cxn modelId="{B01A60C7-9BA8-4131-902E-7EB1C773461F}" srcId="{E05462AA-D67B-4967-B891-7316FDFDC510}" destId="{5AD00210-053A-4EBB-8BED-5BDE80A49932}" srcOrd="0" destOrd="0" parTransId="{AC517EEF-52F0-4657-9F3A-70210299E8FA}" sibTransId="{6B049264-34F0-445D-947E-724CB17FB32D}"/>
    <dgm:cxn modelId="{E2D310EA-4EDC-42DD-8641-A2B8627AFDE1}" type="presParOf" srcId="{68C6A21F-080D-4137-A6DC-8EADA9ACF3D2}" destId="{890EC603-0F47-470F-926A-8C118A80C2E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CE8CE5-0AFD-435B-8CC3-9BEEC51A67D2}" type="doc">
      <dgm:prSet loTypeId="urn:microsoft.com/office/officeart/2005/8/layout/vList2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s-ES"/>
        </a:p>
      </dgm:t>
    </dgm:pt>
    <dgm:pt modelId="{AA259909-DD68-40E1-8A9B-19E1BAE0CD92}">
      <dgm:prSet/>
      <dgm:spPr/>
      <dgm:t>
        <a:bodyPr/>
        <a:lstStyle/>
        <a:p>
          <a:r>
            <a:rPr lang="es-ES" dirty="0"/>
            <a:t>🔹 Incorporar datos en tiempo real para mejorar predicciones.</a:t>
          </a:r>
          <a:br>
            <a:rPr lang="es-ES" dirty="0"/>
          </a:br>
          <a:r>
            <a:rPr lang="es-ES" dirty="0"/>
            <a:t>🔹 Optimización con técnicas de </a:t>
          </a:r>
          <a:r>
            <a:rPr lang="es-ES" dirty="0" err="1"/>
            <a:t>hiperparametrización</a:t>
          </a:r>
          <a:r>
            <a:rPr lang="es-ES" dirty="0"/>
            <a:t> avanzada.</a:t>
          </a:r>
          <a:br>
            <a:rPr lang="es-ES" dirty="0"/>
          </a:br>
          <a:r>
            <a:rPr lang="es-ES" dirty="0"/>
            <a:t>🔹 Integración con datos externos (clima, eventos locales, tendencias del turismo).</a:t>
          </a:r>
        </a:p>
      </dgm:t>
    </dgm:pt>
    <dgm:pt modelId="{B4456F66-4E43-4C9A-AA10-B44DE9EF9E2F}" type="parTrans" cxnId="{CA2918D6-C449-47AA-94D0-525FF1EB6979}">
      <dgm:prSet/>
      <dgm:spPr/>
      <dgm:t>
        <a:bodyPr/>
        <a:lstStyle/>
        <a:p>
          <a:endParaRPr lang="es-ES"/>
        </a:p>
      </dgm:t>
    </dgm:pt>
    <dgm:pt modelId="{A5CBD97D-1AA7-4375-A96F-EEA1E40180DF}" type="sibTrans" cxnId="{CA2918D6-C449-47AA-94D0-525FF1EB6979}">
      <dgm:prSet/>
      <dgm:spPr/>
      <dgm:t>
        <a:bodyPr/>
        <a:lstStyle/>
        <a:p>
          <a:endParaRPr lang="es-ES"/>
        </a:p>
      </dgm:t>
    </dgm:pt>
    <dgm:pt modelId="{CB91BE6A-A8D4-4260-A29F-93FD0BBABEB1}" type="pres">
      <dgm:prSet presAssocID="{B4CE8CE5-0AFD-435B-8CC3-9BEEC51A67D2}" presName="linear" presStyleCnt="0">
        <dgm:presLayoutVars>
          <dgm:animLvl val="lvl"/>
          <dgm:resizeHandles val="exact"/>
        </dgm:presLayoutVars>
      </dgm:prSet>
      <dgm:spPr/>
    </dgm:pt>
    <dgm:pt modelId="{3FC363A1-0726-4E7C-9DC9-3084F32EF44D}" type="pres">
      <dgm:prSet presAssocID="{AA259909-DD68-40E1-8A9B-19E1BAE0CD92}" presName="parentText" presStyleLbl="node1" presStyleIdx="0" presStyleCnt="1" custScaleY="123499">
        <dgm:presLayoutVars>
          <dgm:chMax val="0"/>
          <dgm:bulletEnabled val="1"/>
        </dgm:presLayoutVars>
      </dgm:prSet>
      <dgm:spPr/>
    </dgm:pt>
  </dgm:ptLst>
  <dgm:cxnLst>
    <dgm:cxn modelId="{CA2918D6-C449-47AA-94D0-525FF1EB6979}" srcId="{B4CE8CE5-0AFD-435B-8CC3-9BEEC51A67D2}" destId="{AA259909-DD68-40E1-8A9B-19E1BAE0CD92}" srcOrd="0" destOrd="0" parTransId="{B4456F66-4E43-4C9A-AA10-B44DE9EF9E2F}" sibTransId="{A5CBD97D-1AA7-4375-A96F-EEA1E40180DF}"/>
    <dgm:cxn modelId="{D72220F4-B444-4092-9925-9C2AE6B27E16}" type="presOf" srcId="{AA259909-DD68-40E1-8A9B-19E1BAE0CD92}" destId="{3FC363A1-0726-4E7C-9DC9-3084F32EF44D}" srcOrd="0" destOrd="0" presId="urn:microsoft.com/office/officeart/2005/8/layout/vList2"/>
    <dgm:cxn modelId="{8116FCF5-5A49-486E-BCED-9F827E3BBBC7}" type="presOf" srcId="{B4CE8CE5-0AFD-435B-8CC3-9BEEC51A67D2}" destId="{CB91BE6A-A8D4-4260-A29F-93FD0BBABEB1}" srcOrd="0" destOrd="0" presId="urn:microsoft.com/office/officeart/2005/8/layout/vList2"/>
    <dgm:cxn modelId="{421647AE-40FF-4923-B47F-14121F01DC4B}" type="presParOf" srcId="{CB91BE6A-A8D4-4260-A29F-93FD0BBABEB1}" destId="{3FC363A1-0726-4E7C-9DC9-3084F32EF4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FDC7A6-12FA-4171-B236-D6D68A0F570A}">
      <dsp:nvSpPr>
        <dsp:cNvPr id="0" name=""/>
        <dsp:cNvSpPr/>
      </dsp:nvSpPr>
      <dsp:spPr>
        <a:xfrm>
          <a:off x="0" y="309519"/>
          <a:ext cx="5181600" cy="3732300"/>
        </a:xfrm>
        <a:prstGeom prst="round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900" kern="1200"/>
            <a:t>📌 </a:t>
          </a:r>
          <a:r>
            <a:rPr lang="es-ES" sz="2900" b="1" kern="1200"/>
            <a:t>Problema:</a:t>
          </a:r>
          <a:br>
            <a:rPr lang="es-ES" sz="2900" kern="1200"/>
          </a:br>
          <a:r>
            <a:rPr lang="es-ES" sz="2900" kern="1200"/>
            <a:t>El mercado de alquileres a corto plazo (Airbnb) ha crecido exponencialmente, generando desafíos en la fijación de precios, la identificación de tendencias y la optimización de ofertas.</a:t>
          </a:r>
        </a:p>
      </dsp:txBody>
      <dsp:txXfrm>
        <a:off x="182196" y="491715"/>
        <a:ext cx="4817208" cy="33679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020C9-6104-444F-9F5A-CABCE48EBB23}">
      <dsp:nvSpPr>
        <dsp:cNvPr id="0" name=""/>
        <dsp:cNvSpPr/>
      </dsp:nvSpPr>
      <dsp:spPr>
        <a:xfrm>
          <a:off x="2321899" y="1166065"/>
          <a:ext cx="5036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600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0344" y="1209114"/>
        <a:ext cx="26710" cy="5342"/>
      </dsp:txXfrm>
    </dsp:sp>
    <dsp:sp modelId="{D8CEE1EB-AF3E-4FB4-ACF2-EBE062AD7BE7}">
      <dsp:nvSpPr>
        <dsp:cNvPr id="0" name=""/>
        <dsp:cNvSpPr/>
      </dsp:nvSpPr>
      <dsp:spPr>
        <a:xfrm>
          <a:off x="1087" y="515001"/>
          <a:ext cx="2322611" cy="13935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464" rIns="113810" bIns="11946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📌 </a:t>
          </a:r>
          <a:r>
            <a:rPr lang="es-ES" sz="1400" b="1" kern="1200" dirty="0"/>
            <a:t>Impacto en el negocio:</a:t>
          </a:r>
          <a:endParaRPr lang="en-US" sz="1400" kern="1200" dirty="0"/>
        </a:p>
      </dsp:txBody>
      <dsp:txXfrm>
        <a:off x="1087" y="515001"/>
        <a:ext cx="2322611" cy="1393567"/>
      </dsp:txXfrm>
    </dsp:sp>
    <dsp:sp modelId="{E557D755-86DC-4E3F-A37E-85190EE4F818}">
      <dsp:nvSpPr>
        <dsp:cNvPr id="0" name=""/>
        <dsp:cNvSpPr/>
      </dsp:nvSpPr>
      <dsp:spPr>
        <a:xfrm>
          <a:off x="1162393" y="1906768"/>
          <a:ext cx="2856812" cy="503600"/>
        </a:xfrm>
        <a:custGeom>
          <a:avLst/>
          <a:gdLst/>
          <a:ahLst/>
          <a:cxnLst/>
          <a:rect l="0" t="0" r="0" b="0"/>
          <a:pathLst>
            <a:path>
              <a:moveTo>
                <a:pt x="2856812" y="0"/>
              </a:moveTo>
              <a:lnTo>
                <a:pt x="2856812" y="268900"/>
              </a:lnTo>
              <a:lnTo>
                <a:pt x="0" y="268900"/>
              </a:lnTo>
              <a:lnTo>
                <a:pt x="0" y="50360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18141" y="2155897"/>
        <a:ext cx="145316" cy="5342"/>
      </dsp:txXfrm>
    </dsp:sp>
    <dsp:sp modelId="{E65A3F29-BEA9-4B9F-9173-51289E6592E1}">
      <dsp:nvSpPr>
        <dsp:cNvPr id="0" name=""/>
        <dsp:cNvSpPr/>
      </dsp:nvSpPr>
      <dsp:spPr>
        <a:xfrm>
          <a:off x="2857900" y="515001"/>
          <a:ext cx="2322611" cy="13935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464" rIns="113810" bIns="11946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Los anfitriones necesitan establecer precios competitivos para maximizar su ocupación y rentabilidad.</a:t>
          </a:r>
          <a:endParaRPr lang="en-US" sz="1400" kern="1200"/>
        </a:p>
      </dsp:txBody>
      <dsp:txXfrm>
        <a:off x="2857900" y="515001"/>
        <a:ext cx="2322611" cy="1393567"/>
      </dsp:txXfrm>
    </dsp:sp>
    <dsp:sp modelId="{EC71AB35-73F6-446E-8D76-31A23EF91268}">
      <dsp:nvSpPr>
        <dsp:cNvPr id="0" name=""/>
        <dsp:cNvSpPr/>
      </dsp:nvSpPr>
      <dsp:spPr>
        <a:xfrm>
          <a:off x="2321899" y="3093832"/>
          <a:ext cx="5036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03600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60344" y="3136881"/>
        <a:ext cx="26710" cy="5342"/>
      </dsp:txXfrm>
    </dsp:sp>
    <dsp:sp modelId="{F743DA9E-B291-442A-973F-06D61AB70049}">
      <dsp:nvSpPr>
        <dsp:cNvPr id="0" name=""/>
        <dsp:cNvSpPr/>
      </dsp:nvSpPr>
      <dsp:spPr>
        <a:xfrm>
          <a:off x="1087" y="2442769"/>
          <a:ext cx="2322611" cy="13935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464" rIns="113810" bIns="11946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Los huéspedes buscan encontrar la mejor relación calidad-precio en sus alojamientos.</a:t>
          </a:r>
          <a:endParaRPr lang="en-US" sz="1400" kern="1200"/>
        </a:p>
      </dsp:txBody>
      <dsp:txXfrm>
        <a:off x="1087" y="2442769"/>
        <a:ext cx="2322611" cy="1393567"/>
      </dsp:txXfrm>
    </dsp:sp>
    <dsp:sp modelId="{8BF39A9B-E656-4086-A609-F531A1728E38}">
      <dsp:nvSpPr>
        <dsp:cNvPr id="0" name=""/>
        <dsp:cNvSpPr/>
      </dsp:nvSpPr>
      <dsp:spPr>
        <a:xfrm>
          <a:off x="2857900" y="2442769"/>
          <a:ext cx="2322611" cy="139356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810" tIns="119464" rIns="113810" bIns="11946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/>
            <a:t>Las autoridades locales deben monitorear tendencias y regular el impacto en la economía y comunidad.</a:t>
          </a:r>
          <a:endParaRPr lang="en-US" sz="1400" kern="1200"/>
        </a:p>
      </dsp:txBody>
      <dsp:txXfrm>
        <a:off x="2857900" y="2442769"/>
        <a:ext cx="2322611" cy="13935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2C64D-039C-4C02-BBC3-3656297EB0FB}">
      <dsp:nvSpPr>
        <dsp:cNvPr id="0" name=""/>
        <dsp:cNvSpPr/>
      </dsp:nvSpPr>
      <dsp:spPr>
        <a:xfrm>
          <a:off x="0" y="2169"/>
          <a:ext cx="10515600" cy="6323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/>
            <a:t>📌 </a:t>
          </a:r>
          <a:r>
            <a:rPr lang="es-ES" sz="2300" b="1" kern="1200"/>
            <a:t>Descripción del dataset</a:t>
          </a:r>
          <a:endParaRPr lang="es-ES" sz="2300" kern="1200"/>
        </a:p>
      </dsp:txBody>
      <dsp:txXfrm>
        <a:off x="30870" y="33039"/>
        <a:ext cx="10453860" cy="570645"/>
      </dsp:txXfrm>
    </dsp:sp>
    <dsp:sp modelId="{2EDA2DCF-6ABF-411E-9D81-11323277F657}">
      <dsp:nvSpPr>
        <dsp:cNvPr id="0" name=""/>
        <dsp:cNvSpPr/>
      </dsp:nvSpPr>
      <dsp:spPr>
        <a:xfrm>
          <a:off x="0" y="700794"/>
          <a:ext cx="10515600" cy="6323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Fuente:</a:t>
          </a:r>
          <a:r>
            <a:rPr lang="es-ES" sz="2300" kern="1200"/>
            <a:t> Datos de Airbnb de distintas ciudades.</a:t>
          </a:r>
        </a:p>
      </dsp:txBody>
      <dsp:txXfrm>
        <a:off x="30870" y="731664"/>
        <a:ext cx="10453860" cy="570645"/>
      </dsp:txXfrm>
    </dsp:sp>
    <dsp:sp modelId="{E7064433-4FD9-45F5-835F-C9136D890C31}">
      <dsp:nvSpPr>
        <dsp:cNvPr id="0" name=""/>
        <dsp:cNvSpPr/>
      </dsp:nvSpPr>
      <dsp:spPr>
        <a:xfrm>
          <a:off x="0" y="1399419"/>
          <a:ext cx="10515600" cy="6323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Número de registros:</a:t>
          </a:r>
          <a:r>
            <a:rPr lang="es-ES" sz="2300" kern="1200"/>
            <a:t> 207,602</a:t>
          </a:r>
        </a:p>
      </dsp:txBody>
      <dsp:txXfrm>
        <a:off x="30870" y="1430289"/>
        <a:ext cx="10453860" cy="570645"/>
      </dsp:txXfrm>
    </dsp:sp>
    <dsp:sp modelId="{C8980B66-AE9F-4B80-B3BF-61A99B76F8BA}">
      <dsp:nvSpPr>
        <dsp:cNvPr id="0" name=""/>
        <dsp:cNvSpPr/>
      </dsp:nvSpPr>
      <dsp:spPr>
        <a:xfrm>
          <a:off x="0" y="2098044"/>
          <a:ext cx="10515600" cy="63238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/>
            <a:t>Variables clave:</a:t>
          </a:r>
          <a:endParaRPr lang="es-ES" sz="2300" kern="1200"/>
        </a:p>
      </dsp:txBody>
      <dsp:txXfrm>
        <a:off x="30870" y="2128914"/>
        <a:ext cx="10453860" cy="570645"/>
      </dsp:txXfrm>
    </dsp:sp>
    <dsp:sp modelId="{85B3F82B-9752-4B4C-A749-3BB559A0FB2C}">
      <dsp:nvSpPr>
        <dsp:cNvPr id="0" name=""/>
        <dsp:cNvSpPr/>
      </dsp:nvSpPr>
      <dsp:spPr>
        <a:xfrm>
          <a:off x="0" y="2730428"/>
          <a:ext cx="10515600" cy="1618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kern="1200"/>
            <a:t>Precio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kern="1200"/>
            <a:t>Tipo de habitación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kern="1200" dirty="0"/>
            <a:t>Disponibilidad (días al año)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kern="1200" dirty="0"/>
            <a:t>Número de reseñas y calificación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s-ES" sz="1800" kern="1200"/>
            <a:t>Ubicación (latitud/longitud, barrio, estado)</a:t>
          </a:r>
        </a:p>
      </dsp:txBody>
      <dsp:txXfrm>
        <a:off x="0" y="2730428"/>
        <a:ext cx="10515600" cy="1618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69F56E-704E-4608-851C-B8DF9B2FD94F}">
      <dsp:nvSpPr>
        <dsp:cNvPr id="0" name=""/>
        <dsp:cNvSpPr/>
      </dsp:nvSpPr>
      <dsp:spPr>
        <a:xfrm>
          <a:off x="0" y="0"/>
          <a:ext cx="3932237" cy="2970213"/>
        </a:xfrm>
        <a:prstGeom prst="roundRect">
          <a:avLst>
            <a:gd name="adj" fmla="val 10000"/>
          </a:avLst>
        </a:prstGeom>
        <a:solidFill>
          <a:schemeClr val="accent4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1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En Barcelona, la mayoría de alojamientos, son pisos o casas enteras, al igual que en Madrid y Sevilla, con una proporción de estas del 60%, 65% y 70% respectivamente. </a:t>
          </a:r>
        </a:p>
      </dsp:txBody>
      <dsp:txXfrm>
        <a:off x="86995" y="86995"/>
        <a:ext cx="3758247" cy="2796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0EC603-0F47-470F-926A-8C118A80C2EA}">
      <dsp:nvSpPr>
        <dsp:cNvPr id="0" name=""/>
        <dsp:cNvSpPr/>
      </dsp:nvSpPr>
      <dsp:spPr>
        <a:xfrm>
          <a:off x="0" y="73253"/>
          <a:ext cx="5157787" cy="35380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✅ Es posible predecir precios con una precisión alta mediante ML/DL.</a:t>
          </a:r>
          <a:br>
            <a:rPr lang="es-ES" sz="2400" kern="1200" dirty="0"/>
          </a:br>
          <a:r>
            <a:rPr lang="es-ES" sz="2400" kern="1200" dirty="0"/>
            <a:t>✅ Variables más predictivas: ubicación, tipo de alojamiento y disponibilidad.</a:t>
          </a:r>
          <a:br>
            <a:rPr lang="es-ES" sz="2400" kern="1200" dirty="0"/>
          </a:br>
          <a:r>
            <a:rPr lang="es-ES" sz="2400" kern="1200" dirty="0"/>
            <a:t>✅ Importante considerar factores externos (eventos, temporada, turismo).</a:t>
          </a:r>
        </a:p>
      </dsp:txBody>
      <dsp:txXfrm>
        <a:off x="172715" y="245968"/>
        <a:ext cx="4812357" cy="31926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C363A1-0726-4E7C-9DC9-3084F32EF44D}">
      <dsp:nvSpPr>
        <dsp:cNvPr id="0" name=""/>
        <dsp:cNvSpPr/>
      </dsp:nvSpPr>
      <dsp:spPr>
        <a:xfrm>
          <a:off x="0" y="73689"/>
          <a:ext cx="5183188" cy="3537208"/>
        </a:xfrm>
        <a:prstGeom prst="roundRect">
          <a:avLst/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🔹 Incorporar datos en tiempo real para mejorar predicciones.</a:t>
          </a:r>
          <a:br>
            <a:rPr lang="es-ES" sz="2400" kern="1200" dirty="0"/>
          </a:br>
          <a:r>
            <a:rPr lang="es-ES" sz="2400" kern="1200" dirty="0"/>
            <a:t>🔹 Optimización con técnicas de </a:t>
          </a:r>
          <a:r>
            <a:rPr lang="es-ES" sz="2400" kern="1200" dirty="0" err="1"/>
            <a:t>hiperparametrización</a:t>
          </a:r>
          <a:r>
            <a:rPr lang="es-ES" sz="2400" kern="1200" dirty="0"/>
            <a:t> avanzada.</a:t>
          </a:r>
          <a:br>
            <a:rPr lang="es-ES" sz="2400" kern="1200" dirty="0"/>
          </a:br>
          <a:r>
            <a:rPr lang="es-ES" sz="2400" kern="1200" dirty="0"/>
            <a:t>🔹 Integración con datos externos (clima, eventos locales, tendencias del turismo).</a:t>
          </a:r>
        </a:p>
      </dsp:txBody>
      <dsp:txXfrm>
        <a:off x="172672" y="246361"/>
        <a:ext cx="4837844" cy="31918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8EB8BBB-53FA-476C-A309-D2686EA80C4C}" type="datetime1">
              <a:rPr lang="es-ES" smtClean="0"/>
              <a:t>20/05/2025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C822411-A9A9-4A09-A341-69C657AB42A1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8D056B-5EC6-42CD-AF94-4751959146DD}" type="datetime1">
              <a:rPr lang="es-ES" smtClean="0"/>
              <a:pPr/>
              <a:t>20/05/2025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  <a:endParaRPr lang="es-ES" dirty="0"/>
          </a:p>
          <a:p>
            <a:pPr lvl="1" rtl="0"/>
            <a:r>
              <a:rPr lang="es-ES" dirty="0"/>
              <a:t>Segundo nivel</a:t>
            </a:r>
          </a:p>
          <a:p>
            <a:pPr lvl="2" rtl="0"/>
            <a:r>
              <a:rPr lang="es-ES" dirty="0"/>
              <a:t>Tercer nivel</a:t>
            </a:r>
          </a:p>
          <a:p>
            <a:pPr lvl="3" rtl="0"/>
            <a:r>
              <a:rPr lang="es-ES" dirty="0"/>
              <a:t>Cuarto nivel</a:t>
            </a:r>
          </a:p>
          <a:p>
            <a:pPr lvl="4" rtl="0"/>
            <a:r>
              <a:rPr lang="es-ES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A004F4-F240-48F9-8AE1-486585C7F00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Introducción (Diapositiva 1)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Narrativa:</a:t>
            </a:r>
            <a:b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Buenas tardes. Hoy les voy a presentar un análisis del impacto de Airbnb en tres ciudades clave de España: Barcelona, Madrid y Sevilla. Este proyecto tiene dos enfoques principales: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Analizar los patrones de precios y la demanda en estas ciudades, diferenciando por temporadas y tipos de alojamiento.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Entender cómo Airbnb afecta el mercado de alquileres tradicionales y el acceso a la vivienda.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Este análisis no solo busca comprender cómo opera Airbnb, sino también ofrecer soluciones prácticas para anfitriones, turistas y reguladores locales. Además, buscamos ofrecer recomendaciones prácticas para equilibrar el turismo con la sostenibilidad urbana.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Transición: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Empezaremos observando cómo se distribuyen los precios según el tipo de alojamiento.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rtl="0"/>
            <a:endParaRPr lang="es-ES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9CA004F4-F240-48F9-8AE1-486585C7F00D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Impacto en el negocio: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Los anfitriones necesitan establecer precios competitivos para maximizar su ocupación y rentabilidad.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Los huéspedes buscan encontrar la mejor relación calidad-precio en sus alojamientos.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Las autoridades locales deben monitorear tendencias y regular el impacto en la economía y comunidad.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918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9731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/>
              <a:t>Precio:</a:t>
            </a:r>
            <a:r>
              <a:rPr lang="es-ES" dirty="0"/>
              <a:t> Distribución con sesgo a la derecha (muchos precios bajos, pocos muy altos).</a:t>
            </a:r>
          </a:p>
          <a:p>
            <a:pPr>
              <a:buNone/>
            </a:pPr>
            <a:r>
              <a:rPr lang="es-ES" b="1" dirty="0" err="1"/>
              <a:t>Room</a:t>
            </a:r>
            <a:r>
              <a:rPr lang="es-ES" b="1" dirty="0"/>
              <a:t> </a:t>
            </a:r>
            <a:r>
              <a:rPr lang="es-ES" b="1" dirty="0" err="1"/>
              <a:t>Type</a:t>
            </a:r>
            <a:r>
              <a:rPr lang="es-ES" b="1" dirty="0"/>
              <a:t>:</a:t>
            </a:r>
            <a:r>
              <a:rPr lang="es-ES" dirty="0"/>
              <a:t> Mayoría de los alojamientos son "</a:t>
            </a:r>
            <a:r>
              <a:rPr lang="es-ES" dirty="0" err="1"/>
              <a:t>Entire</a:t>
            </a:r>
            <a:r>
              <a:rPr lang="es-ES" dirty="0"/>
              <a:t> home/</a:t>
            </a:r>
            <a:r>
              <a:rPr lang="es-ES" dirty="0" err="1"/>
              <a:t>apt</a:t>
            </a:r>
            <a:r>
              <a:rPr lang="es-ES" dirty="0"/>
              <a:t>", pero hay una proporción significativa de "</a:t>
            </a:r>
            <a:r>
              <a:rPr lang="es-ES" dirty="0" err="1"/>
              <a:t>Private</a:t>
            </a:r>
            <a:r>
              <a:rPr lang="es-ES" dirty="0"/>
              <a:t> </a:t>
            </a:r>
            <a:r>
              <a:rPr lang="es-ES" dirty="0" err="1"/>
              <a:t>room</a:t>
            </a:r>
            <a:r>
              <a:rPr lang="es-ES" dirty="0"/>
              <a:t>".</a:t>
            </a:r>
          </a:p>
          <a:p>
            <a:pPr>
              <a:buNone/>
            </a:pPr>
            <a:r>
              <a:rPr lang="es-ES" b="1" dirty="0"/>
              <a:t>Disponibilidad:</a:t>
            </a:r>
            <a:r>
              <a:rPr lang="es-ES" dirty="0"/>
              <a:t> Algunos alojamientos están disponibles todo el año, otros solo en temporadas específicas.</a:t>
            </a:r>
          </a:p>
          <a:p>
            <a:r>
              <a:rPr lang="es-ES" b="1" dirty="0"/>
              <a:t>Agrupaciones (</a:t>
            </a:r>
            <a:r>
              <a:rPr lang="es-ES" b="1" dirty="0" err="1"/>
              <a:t>Clustering</a:t>
            </a:r>
            <a:r>
              <a:rPr lang="es-ES" b="1" dirty="0"/>
              <a:t>):</a:t>
            </a:r>
            <a:r>
              <a:rPr lang="es-ES" dirty="0"/>
              <a:t> Identificación de patrones por ubicación y rango de precios.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7200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Precio:</a:t>
            </a:r>
            <a:r>
              <a:rPr lang="es-ES" dirty="0"/>
              <a:t> Distribución con sesgo a la derecha (muchos precios bajos, pocos muy altos).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294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Precio promedio por mes y ciudad (Diapositiva 3)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"Al comparar los precios promedio por mes y ciudad, vemos patrones muy claros.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Barcelona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muestra picos evidentes en los meses de verano debido a su alta demanda turística.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Madrid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es más estable durante el año, reflejando su combinación de turismo cultural y corporativo.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Sevilla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destaca por su estacionalidad, con un aumento significativo de precios en abril.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Este gráfico subraya cómo la estacionalidad afecta a las decisiones tanto de los anfitriones como de los turistas, incentivando a reservar con antelación en temporadas altas."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s-ES" sz="18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Transición:</a:t>
            </a:r>
            <a:r>
              <a:rPr lang="es-E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Estos patrones también se refleja al comparar las temporadas de alta y baja demanda.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9649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Precio promedio por temporada y ciudad (Diapositiva 4)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"En este análisis de precios por temporada, observamos que Barcelona lidera en precios en todas las épocas del año. Sin embargo, la variación entre alta y baja temporada es menor, lo que refleja una demanda constante.</a:t>
            </a:r>
            <a:b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Por el contrario, Sevilla muestra una diferencia mucho más pronunciada entre temporadas, con picos específicos en eventos clave como la Semana Santa o la Feria de Abril.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Esto tiene implicaciones importantes: los anfitriones en Sevilla pueden aprovechar eventos para maximizar ingresos, mientras que en Barcelona deben enfocarse en mantener precios competitivos durante todo el año."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Transición: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Además de estas tendencias generales, es importante observar cómo se comportan los precios en detalle, incluyendo valores extremos."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s-ES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9790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err="1"/>
              <a:t>Outlier</a:t>
            </a:r>
            <a:r>
              <a:rPr lang="es-ES" dirty="0"/>
              <a:t> = valor atípico que se aleja de la mayoría.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Distribución de precios y valores extremos (Diapositivas 5-6)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La distribución de precios en las tres ciudades analizadas muestra patrones comunes y particularidades. La mayoría de los precios se concentra alrededor de la media, pero destacan valores extremos. Estos pueden deberse a propiedades exclusivas o eventos específicos que impulsan la demanda como los comentados previamente.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1650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Matrices de correlación (Diapositivas 9)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 precio está positivamente correlacionado con el número de reseñas y la actividad del anfitrión, esto nos sugiere que la popularidad y la actividad de los anfitriones pueden tener un impacto positivo en los precios. Hoy en día, la gente le da mucha importancia a la opinión de otros usuarios mediante las reseñas. Además, anfitriones con múltiples propiedades suelen tener más actividad, lo que podría indicar estrategias empresariales. Sin embargo, la disponibilidad y el precio tienen una relación débil, ya que las propiedades más exclusivas tienden a estar menos disponibles.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Transición: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Esto también se refleja en la distribución de precios por barrio, que exploraremos a continuación."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4771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 Barcelona, los precios más altos están en zonas céntricas como Eixample y Gràcia. Madrid refleja un patrón similar en Salamanca y Chamartín. Sevilla nos muestra una distribución más homogénea, pero el Casco Antiguo lidera en precios altos debido a su atractivo turístico.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191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Transición:</a:t>
            </a: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El tipo de alojamiento también juega un papel importante en los precios.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2129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Relación entre precio, reseñas y disponibilidad (Diapositivas 17)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Aquí analizamos cómo interactúan estas tres variables clave.</a:t>
            </a:r>
            <a:b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Los alojamientos más accesibles suelen acumular más reseñas debido a su alta ocupación. Por otro lado, las propiedades exclusivas, con precios elevados, tienden a tener menor disponibilidad y menos reseñas, pero estas suelen ser altamente positivas.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Esto refuerza la idea de que los alojamientos premium compiten más por calidad que por cantidad. Este segmento debe centrarse en ofrecer experiencias excepcionales para atraer a un público selecto.</a:t>
            </a:r>
            <a:endParaRPr lang="es-E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s-ES" sz="1800" b="1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Transición:</a:t>
            </a:r>
            <a:r>
              <a:rPr lang="es-ES" sz="1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 Para continuar, analizaremos cómo se agrupan los barrios según la estacionalidad.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6445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dirty="0"/>
              <a:t>Probamos diferentes modelos de Machine </a:t>
            </a:r>
            <a:r>
              <a:rPr lang="es-ES" dirty="0" err="1"/>
              <a:t>Learning</a:t>
            </a:r>
            <a:r>
              <a:rPr lang="es-ES" dirty="0"/>
              <a:t> para predecir precios y tendencias en los alojamientos de Airbnb. Algunos modelos tuvieron un desempeño pobre, mientras que otros lograron predicciones más precisas.</a:t>
            </a:r>
          </a:p>
          <a:p>
            <a:pPr>
              <a:buNone/>
            </a:pPr>
            <a:r>
              <a:rPr lang="es-ES" b="1" dirty="0"/>
              <a:t>📉 Modelos con bajo desempeño</a:t>
            </a:r>
          </a:p>
          <a:p>
            <a:pPr>
              <a:buNone/>
            </a:pPr>
            <a:r>
              <a:rPr lang="es-ES" dirty="0"/>
              <a:t>1️⃣ </a:t>
            </a:r>
            <a:r>
              <a:rPr lang="es-ES" b="1" dirty="0"/>
              <a:t>Regresión Lineal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Fue nuestra primera aproximación como </a:t>
            </a:r>
            <a:r>
              <a:rPr lang="es-ES" dirty="0" err="1"/>
              <a:t>baseline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No capturó bien la relación entre variables, especialmente para precios extremos.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Error:</a:t>
            </a:r>
            <a:r>
              <a:rPr lang="es-ES" dirty="0"/>
              <a:t> Alto RMSE, indicando mala precisión en predicciones.</a:t>
            </a:r>
          </a:p>
          <a:p>
            <a:pPr>
              <a:buNone/>
            </a:pPr>
            <a:r>
              <a:rPr lang="es-ES" dirty="0"/>
              <a:t>2️⃣ </a:t>
            </a:r>
            <a:r>
              <a:rPr lang="es-ES" b="1" dirty="0"/>
              <a:t>K-</a:t>
            </a:r>
            <a:r>
              <a:rPr lang="es-ES" b="1" dirty="0" err="1"/>
              <a:t>Nearest</a:t>
            </a:r>
            <a:r>
              <a:rPr lang="es-ES" b="1" dirty="0"/>
              <a:t> </a:t>
            </a:r>
            <a:r>
              <a:rPr lang="es-ES" b="1" dirty="0" err="1"/>
              <a:t>Neighbors</a:t>
            </a:r>
            <a:r>
              <a:rPr lang="es-ES" b="1" dirty="0"/>
              <a:t> (KNN)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probó con distintos valores de </a:t>
            </a:r>
            <a:r>
              <a:rPr lang="es-ES" b="1" dirty="0"/>
              <a:t>k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No se ajusta bien a datos con alta dimensionalidad.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Resultado:</a:t>
            </a:r>
            <a:r>
              <a:rPr lang="es-ES" dirty="0"/>
              <a:t> Predicciones poco precisas, especialmente con valores atípicos.</a:t>
            </a:r>
          </a:p>
          <a:p>
            <a:pPr>
              <a:buNone/>
            </a:pPr>
            <a:r>
              <a:rPr lang="es-ES" b="1" dirty="0"/>
              <a:t>📈 Modelos con mejor desempeño</a:t>
            </a:r>
          </a:p>
          <a:p>
            <a:pPr>
              <a:buNone/>
            </a:pPr>
            <a:r>
              <a:rPr lang="es-ES" dirty="0"/>
              <a:t>3️⃣ </a:t>
            </a:r>
            <a:r>
              <a:rPr lang="es-ES" b="1" dirty="0" err="1"/>
              <a:t>XGBoost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Modelo de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Boosting</a:t>
            </a:r>
            <a:r>
              <a:rPr lang="es-ES" dirty="0"/>
              <a:t>, robusto y eficiente.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Ventaja:</a:t>
            </a:r>
            <a:r>
              <a:rPr lang="es-ES" dirty="0"/>
              <a:t> Captura relaciones complejas entre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Mayor tiempo de entrenamiento y menos interpretabilidad.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RMSE:</a:t>
            </a:r>
            <a:r>
              <a:rPr lang="es-ES" dirty="0"/>
              <a:t> Redujo significativamente el error respecto a los modelos anteriores.</a:t>
            </a:r>
          </a:p>
          <a:p>
            <a:pPr>
              <a:buNone/>
            </a:pPr>
            <a:r>
              <a:rPr lang="es-ES" dirty="0"/>
              <a:t>4️⃣ </a:t>
            </a:r>
            <a:r>
              <a:rPr lang="es-ES" b="1" dirty="0"/>
              <a:t>Red Neuronal (Deep </a:t>
            </a:r>
            <a:r>
              <a:rPr lang="es-ES" b="1" dirty="0" err="1"/>
              <a:t>Learning</a:t>
            </a:r>
            <a:r>
              <a:rPr lang="es-ES" b="1" dirty="0"/>
              <a:t>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probó una red neuronal con varias capas densas.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Ventaja:</a:t>
            </a:r>
            <a:r>
              <a:rPr lang="es-ES" dirty="0"/>
              <a:t> Buena generalización, sobre todo en grandes volúmenes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Requiere mucho tiempo de ajuste y cómputo, sin una mejora tan grande sobre otros modelos más simples.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3162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s-ES" dirty="0"/>
              <a:t>Después de analizar los resultados, el </a:t>
            </a:r>
            <a:r>
              <a:rPr lang="es-ES" b="1" dirty="0" err="1"/>
              <a:t>Random</a:t>
            </a:r>
            <a:r>
              <a:rPr lang="es-ES" b="1" dirty="0"/>
              <a:t> Forest </a:t>
            </a:r>
            <a:r>
              <a:rPr lang="es-ES" b="1" dirty="0" err="1"/>
              <a:t>Classifier</a:t>
            </a:r>
            <a:r>
              <a:rPr lang="es-ES" dirty="0"/>
              <a:t> fue el modelo elegido por varias razones: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Precisión alta</a:t>
            </a:r>
            <a:r>
              <a:rPr lang="es-ES" dirty="0"/>
              <a:t> sin necesidad de gran ajuste de </a:t>
            </a:r>
            <a:r>
              <a:rPr lang="es-ES" dirty="0" err="1"/>
              <a:t>hiperparámetros</a:t>
            </a:r>
            <a:r>
              <a:rPr lang="es-ES" dirty="0"/>
              <a:t>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Robustez ante datos faltantes y valores atípicos.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Buena interpretabilidad</a:t>
            </a:r>
            <a:r>
              <a:rPr lang="es-ES" dirty="0"/>
              <a:t>, permitiendo entender qué variables influyen más en las predicciones.</a:t>
            </a:r>
            <a:br>
              <a:rPr lang="es-ES" dirty="0"/>
            </a:br>
            <a:r>
              <a:rPr lang="es-ES" dirty="0"/>
              <a:t>✅ </a:t>
            </a:r>
            <a:r>
              <a:rPr lang="es-ES" b="1" dirty="0"/>
              <a:t>Eficiencia computacional</a:t>
            </a:r>
            <a:r>
              <a:rPr lang="es-ES" dirty="0"/>
              <a:t>, más rápido que una red neuronal sin perder precisión.</a:t>
            </a:r>
          </a:p>
          <a:p>
            <a:pPr>
              <a:buNone/>
            </a:pPr>
            <a:r>
              <a:rPr lang="es-ES" dirty="0"/>
              <a:t>📌 </a:t>
            </a:r>
            <a:r>
              <a:rPr lang="es-ES" b="1" dirty="0"/>
              <a:t>Resultados clave: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RMSE</a:t>
            </a:r>
            <a:r>
              <a:rPr lang="es-ES" dirty="0"/>
              <a:t> más bajo comparado con modelos más simples.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Feature</a:t>
            </a:r>
            <a:r>
              <a:rPr lang="es-ES" b="1" dirty="0"/>
              <a:t> </a:t>
            </a:r>
            <a:r>
              <a:rPr lang="es-ES" b="1" dirty="0" err="1"/>
              <a:t>Importance</a:t>
            </a:r>
            <a:r>
              <a:rPr lang="es-ES" b="1" dirty="0"/>
              <a:t>:</a:t>
            </a:r>
            <a:r>
              <a:rPr lang="es-ES" dirty="0"/>
              <a:t> Variables como </a:t>
            </a:r>
            <a:r>
              <a:rPr lang="es-ES" b="1" dirty="0"/>
              <a:t>ubicación, tipo de alojamiento y número de noches mínimas</a:t>
            </a:r>
            <a:r>
              <a:rPr lang="es-ES" dirty="0"/>
              <a:t> fueron clave para predecir precios.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pPr>
              <a:buNone/>
            </a:pPr>
            <a:r>
              <a:rPr lang="es-ES" b="1" dirty="0" err="1"/>
              <a:t>étricas</a:t>
            </a:r>
            <a:r>
              <a:rPr lang="es-ES" b="1" dirty="0"/>
              <a:t> Generales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Accuracy</a:t>
            </a:r>
            <a:r>
              <a:rPr lang="es-ES" b="1" dirty="0"/>
              <a:t> (Precisión global):</a:t>
            </a:r>
            <a:r>
              <a:rPr lang="es-ES" dirty="0"/>
              <a:t> </a:t>
            </a:r>
            <a:r>
              <a:rPr lang="es-ES" b="1" dirty="0"/>
              <a:t>86.87%</a:t>
            </a:r>
            <a:endParaRPr lang="es-E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/>
              <a:t>Significa que el modelo clasifica correctamente aproximadamente </a:t>
            </a:r>
            <a:r>
              <a:rPr lang="es-ES" b="1" dirty="0"/>
              <a:t>87 de cada 100</a:t>
            </a:r>
            <a:r>
              <a:rPr lang="es-ES" dirty="0"/>
              <a:t> casos.</a:t>
            </a:r>
          </a:p>
          <a:p>
            <a:pPr>
              <a:buFont typeface="Arial" panose="020B0604020202020204" pitchFamily="34" charset="0"/>
              <a:buChar char="•"/>
            </a:pPr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A004F4-F240-48F9-8AE1-486585C7F00D}" type="slidenum">
              <a:rPr lang="es-ES" smtClean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54439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rtlCol="0"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770DA5-3DC3-4237-90EB-C415EB41C75A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949101-CB98-4C8F-81DB-71E43D7BC626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D302F5C-0234-440C-8773-490E51DE01B9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961380-8195-41EE-9574-2B3429217481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5" name="Marcador de posición de texto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2FC62E-52FA-4487-916D-9648D6F062C2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F9C069-0D28-49A2-89E8-C18F9A41EF29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CA4CD59-E103-4131-8DF1-52DAB13F24DA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5B45D9-35B1-4184-8C71-E0506363883B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BD2F12-55B2-4258-9B7A-329D8EBE60F6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posición de número de diapositiva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2EE24B5-652C-4DB5-B7C3-B5BBEC1280B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8414F15-D7D0-4AAB-BCEA-8D737141E1BB}" type="datetime1">
              <a:rPr lang="es-ES" noProof="0" smtClean="0"/>
              <a:t>20/05/2025</a:t>
            </a:fld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3346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pPr rtl="0"/>
            <a:fld id="{82EE24B5-652C-4DB5-B7C3-B5BBEC1280B1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to 2" descr="Rectángulo azul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pPr rtl="0"/>
            <a:endParaRPr lang="es-ES" dirty="0"/>
          </a:p>
        </p:txBody>
      </p:sp>
      <p:sp>
        <p:nvSpPr>
          <p:cNvPr id="4" name="objeto 3" descr="Personas con documento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2540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pPr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804" y="602565"/>
            <a:ext cx="10635343" cy="2852053"/>
          </a:xfrm>
        </p:spPr>
        <p:txBody>
          <a:bodyPr rtlCol="0">
            <a:noAutofit/>
          </a:bodyPr>
          <a:lstStyle/>
          <a:p>
            <a:r>
              <a:rPr lang="es-ES" sz="4400" b="1" i="0" dirty="0">
                <a:effectLst/>
                <a:latin typeface="Slack-Lato"/>
              </a:rPr>
              <a:t>"Análisis de Alojamiento Urbano: </a:t>
            </a:r>
            <a:br>
              <a:rPr lang="es-ES" sz="4400" b="1" i="0" dirty="0">
                <a:effectLst/>
                <a:latin typeface="Slack-Lato"/>
              </a:rPr>
            </a:br>
            <a:r>
              <a:rPr lang="es-ES" sz="4400" b="1" i="0" dirty="0" err="1">
                <a:effectLst/>
                <a:latin typeface="Slack-Lato"/>
              </a:rPr>
              <a:t>Insights</a:t>
            </a:r>
            <a:r>
              <a:rPr lang="es-ES" sz="4400" b="1" i="0" dirty="0">
                <a:effectLst/>
                <a:latin typeface="Slack-Lato"/>
              </a:rPr>
              <a:t> de Airbnb en </a:t>
            </a:r>
            <a:br>
              <a:rPr lang="es-ES" sz="4400" b="1" i="0" dirty="0">
                <a:effectLst/>
                <a:latin typeface="Slack-Lato"/>
              </a:rPr>
            </a:br>
            <a:r>
              <a:rPr lang="es-ES" sz="4400" b="1" i="0" dirty="0">
                <a:effectLst/>
                <a:latin typeface="Slack-Lato"/>
              </a:rPr>
              <a:t>Barcelona, Madrid y Sevilla"</a:t>
            </a:r>
            <a:endParaRPr lang="es-ES" sz="4400" dirty="0">
              <a:latin typeface="Slack-Lato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24" y="4221162"/>
            <a:ext cx="4185176" cy="882001"/>
          </a:xfrm>
          <a:solidFill>
            <a:schemeClr val="accent2">
              <a:alpha val="90000"/>
            </a:schemeClr>
          </a:solidFill>
        </p:spPr>
        <p:txBody>
          <a:bodyPr rtlCol="0" anchor="ctr" anchorCtr="0">
            <a:normAutofit/>
          </a:bodyPr>
          <a:lstStyle/>
          <a:p>
            <a:pPr rtl="0"/>
            <a:r>
              <a:rPr lang="es-ES" dirty="0"/>
              <a:t>Alberto Torres</a:t>
            </a:r>
            <a:endParaRPr lang="es-ES" sz="2500" b="1" i="1" spc="65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6" name="objeto 7" descr="Rectángulo beig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 flipV="1">
            <a:off x="2590649" y="3454618"/>
            <a:ext cx="6713526" cy="45719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808038-5445-16E3-C0D3-39241183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3346" y="6174902"/>
            <a:ext cx="35711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2EE24B5-652C-4DB5-B7C3-B5BBEC1280B1}" type="slidenum">
              <a:rPr lang="es-ES" noProof="0" smtClean="0"/>
              <a:pPr rtl="0">
                <a:spcAft>
                  <a:spcPts val="600"/>
                </a:spcAft>
              </a:pPr>
              <a:t>2</a:t>
            </a:fld>
            <a:endParaRPr lang="es-ES" noProof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713CB90B-E1AB-CCC7-9AD4-17C1D97E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ES" b="1"/>
              <a:t>Presentación del Proyecto</a:t>
            </a:r>
            <a:endParaRPr lang="en-US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A01AC789-DC2D-D1A1-07D1-AAE2703DB6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9273593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89BC513A-0099-8BC4-D964-64DD89FE01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508011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66525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A398CFA-5748-E179-17ED-A277BC465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3346" y="6174902"/>
            <a:ext cx="35711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2EE24B5-652C-4DB5-B7C3-B5BBEC1280B1}" type="slidenum">
              <a:rPr lang="es-ES" noProof="0" smtClean="0"/>
              <a:pPr rtl="0">
                <a:spcAft>
                  <a:spcPts val="600"/>
                </a:spcAft>
              </a:pPr>
              <a:t>3</a:t>
            </a:fld>
            <a:endParaRPr lang="es-ES" noProof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F5A5002-779D-2CB5-2BFB-DF1557DD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ES" b="1"/>
              <a:t>Planteamiento del problema técnico</a:t>
            </a:r>
            <a:endParaRPr lang="es-E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73C3DA-1F0E-E394-6150-1E16BEB3FF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📌 </a:t>
            </a:r>
            <a:r>
              <a:rPr lang="es-ES" sz="2000" b="1" dirty="0"/>
              <a:t>Solución con IA y análisis de datos:</a:t>
            </a:r>
            <a:br>
              <a:rPr lang="es-ES" sz="2000" dirty="0"/>
            </a:br>
            <a:r>
              <a:rPr lang="es-ES" sz="2000" dirty="0"/>
              <a:t>Se aplicaron técnicas de Machine </a:t>
            </a:r>
            <a:r>
              <a:rPr lang="es-ES" sz="2000" dirty="0" err="1"/>
              <a:t>Learning</a:t>
            </a:r>
            <a:r>
              <a:rPr lang="es-ES" sz="2000" dirty="0"/>
              <a:t> (ML) y Deep </a:t>
            </a:r>
            <a:r>
              <a:rPr lang="es-ES" sz="2000" dirty="0" err="1"/>
              <a:t>Learning</a:t>
            </a:r>
            <a:r>
              <a:rPr lang="es-ES" sz="2000" dirty="0"/>
              <a:t> (DL) para:</a:t>
            </a:r>
            <a:br>
              <a:rPr lang="es-ES" sz="2000" dirty="0"/>
            </a:br>
            <a:r>
              <a:rPr lang="es-ES" sz="2000" dirty="0"/>
              <a:t>✅ Predecir precios óptimos de alojamiento.</a:t>
            </a:r>
            <a:br>
              <a:rPr lang="es-ES" sz="2000" dirty="0"/>
            </a:br>
            <a:r>
              <a:rPr lang="es-ES" sz="2000" dirty="0"/>
              <a:t>✅ Identificar patrones de demanda según ubicación, tipo de alojamiento y temporada.</a:t>
            </a:r>
            <a:br>
              <a:rPr lang="es-ES" sz="2000" dirty="0"/>
            </a:br>
            <a:r>
              <a:rPr lang="es-ES" sz="2000" dirty="0"/>
              <a:t>✅ Realizar análisis de segmentación para diferenciar perfiles de anfitriones y huéspedes.</a:t>
            </a:r>
          </a:p>
          <a:p>
            <a:endParaRPr lang="es-ES" dirty="0"/>
          </a:p>
        </p:txBody>
      </p:sp>
      <p:pic>
        <p:nvPicPr>
          <p:cNvPr id="1026" name="Picture 2" descr="Deep Learning e Machine Learning">
            <a:extLst>
              <a:ext uri="{FF2B5EF4-FFF2-40B4-BE49-F238E27FC236}">
                <a16:creationId xmlns:a16="http://schemas.microsoft.com/office/drawing/2014/main" id="{C78F7AD1-8EE7-18E5-380E-2BCD81A6B0F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/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61115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DAD5C-E953-A28B-6F48-521FEEE4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s-ES" b="1" dirty="0"/>
              <a:t>Exploración de Datos (EDA)</a:t>
            </a:r>
            <a:br>
              <a:rPr lang="es-ES" b="1" dirty="0"/>
            </a:b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58735D-8F7B-F034-04E9-A2F39A6E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3346" y="6174902"/>
            <a:ext cx="35711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2EE24B5-652C-4DB5-B7C3-B5BBEC1280B1}" type="slidenum">
              <a:rPr lang="es-ES" noProof="0" smtClean="0"/>
              <a:pPr rtl="0">
                <a:spcAft>
                  <a:spcPts val="600"/>
                </a:spcAft>
              </a:pPr>
              <a:t>4</a:t>
            </a:fld>
            <a:endParaRPr lang="es-ES" noProof="0"/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76E9A23C-849A-277C-8824-12E151110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2350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522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1">
            <a:extLst>
              <a:ext uri="{FF2B5EF4-FFF2-40B4-BE49-F238E27FC236}">
                <a16:creationId xmlns:a16="http://schemas.microsoft.com/office/drawing/2014/main" id="{4EFA0675-B481-DD58-70A3-167C75588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63280"/>
          </a:xfrm>
        </p:spPr>
        <p:txBody>
          <a:bodyPr/>
          <a:lstStyle/>
          <a:p>
            <a:pPr algn="just"/>
            <a:r>
              <a:rPr lang="es-ES" dirty="0"/>
              <a:t>Distribución por tipo de alojamiento</a:t>
            </a:r>
          </a:p>
        </p:txBody>
      </p:sp>
      <p:pic>
        <p:nvPicPr>
          <p:cNvPr id="6" name="Marcador de contenido 5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37923184-3726-F779-F4A9-1B1CAE096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779731" y="1398836"/>
            <a:ext cx="6059026" cy="4776065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484A95-A2ED-A0BB-C0B9-77D2BCD3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5</a:t>
            </a:fld>
            <a:endParaRPr lang="es-ES" noProof="0" dirty="0"/>
          </a:p>
        </p:txBody>
      </p:sp>
      <p:sp>
        <p:nvSpPr>
          <p:cNvPr id="9" name="Flecha: curvada hacia la derecha 8">
            <a:extLst>
              <a:ext uri="{FF2B5EF4-FFF2-40B4-BE49-F238E27FC236}">
                <a16:creationId xmlns:a16="http://schemas.microsoft.com/office/drawing/2014/main" id="{C643E0C6-BE4A-6BBC-69E1-66583A56A89C}"/>
              </a:ext>
            </a:extLst>
          </p:cNvPr>
          <p:cNvSpPr/>
          <p:nvPr/>
        </p:nvSpPr>
        <p:spPr>
          <a:xfrm rot="19919517">
            <a:off x="2330045" y="4276519"/>
            <a:ext cx="2634046" cy="2311098"/>
          </a:xfrm>
          <a:prstGeom prst="curvedRightArrow">
            <a:avLst>
              <a:gd name="adj1" fmla="val 19121"/>
              <a:gd name="adj2" fmla="val 31894"/>
              <a:gd name="adj3" fmla="val 30156"/>
            </a:avLst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821C4563-BC55-721B-4A40-6C06012D1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695032"/>
              </p:ext>
            </p:extLst>
          </p:nvPr>
        </p:nvGraphicFramePr>
        <p:xfrm>
          <a:off x="663326" y="2461855"/>
          <a:ext cx="3932237" cy="2970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2970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5686546-3D24-438C-669D-6BDF5E4E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 err="1"/>
              <a:t>Precio</a:t>
            </a:r>
            <a:r>
              <a:rPr lang="en-US" dirty="0"/>
              <a:t> </a:t>
            </a:r>
            <a:r>
              <a:rPr lang="en-US" dirty="0" err="1"/>
              <a:t>promedio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y ciudad</a:t>
            </a:r>
          </a:p>
        </p:txBody>
      </p:sp>
      <p:pic>
        <p:nvPicPr>
          <p:cNvPr id="7" name="Marcador de contenido 6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97DAE1DA-6CB7-19A7-A6E4-03A56201E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441418"/>
            <a:ext cx="6172200" cy="3965639"/>
          </a:xfr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F8F9042-0541-3895-4B6E-66670AA7E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Barcelona </a:t>
            </a:r>
            <a:r>
              <a:rPr lang="en-US" dirty="0" err="1"/>
              <a:t>tiene</a:t>
            </a:r>
            <a:r>
              <a:rPr lang="en-US" dirty="0"/>
              <a:t> un </a:t>
            </a:r>
            <a:r>
              <a:rPr lang="en-US" dirty="0" err="1"/>
              <a:t>un</a:t>
            </a:r>
            <a:r>
              <a:rPr lang="en-US" dirty="0"/>
              <a:t> </a:t>
            </a:r>
            <a:r>
              <a:rPr lang="en-US" dirty="0" err="1"/>
              <a:t>pico</a:t>
            </a:r>
            <a:r>
              <a:rPr lang="en-US" dirty="0"/>
              <a:t> </a:t>
            </a:r>
            <a:r>
              <a:rPr lang="en-US" dirty="0" err="1"/>
              <a:t>significativo</a:t>
            </a:r>
            <a:r>
              <a:rPr lang="en-US" dirty="0"/>
              <a:t> de </a:t>
            </a:r>
            <a:r>
              <a:rPr lang="en-US" dirty="0" err="1"/>
              <a:t>precios</a:t>
            </a:r>
            <a:r>
              <a:rPr lang="en-US" dirty="0"/>
              <a:t> al </a:t>
            </a:r>
            <a:r>
              <a:rPr lang="en-US" dirty="0" err="1"/>
              <a:t>inicio</a:t>
            </a:r>
            <a:r>
              <a:rPr lang="en-US" dirty="0"/>
              <a:t> de  Verano.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 Madrid,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precios</a:t>
            </a:r>
            <a:r>
              <a:rPr lang="en-US" dirty="0"/>
              <a:t> son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estables</a:t>
            </a:r>
            <a:r>
              <a:rPr lang="en-US" dirty="0"/>
              <a:t> a lo largo del </a:t>
            </a:r>
            <a:r>
              <a:rPr lang="en-US" dirty="0" err="1"/>
              <a:t>año</a:t>
            </a:r>
            <a:r>
              <a:rPr lang="en-US" dirty="0"/>
              <a:t>, con </a:t>
            </a:r>
            <a:r>
              <a:rPr lang="en-US" dirty="0" err="1"/>
              <a:t>pequeñas</a:t>
            </a:r>
            <a:r>
              <a:rPr lang="en-US" dirty="0"/>
              <a:t> </a:t>
            </a:r>
            <a:r>
              <a:rPr lang="en-US" dirty="0" err="1"/>
              <a:t>oscilaciones</a:t>
            </a:r>
            <a:r>
              <a:rPr lang="en-US" dirty="0"/>
              <a:t>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Sevilla </a:t>
            </a:r>
            <a:r>
              <a:rPr lang="en-US" dirty="0" err="1"/>
              <a:t>presenta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fuerte</a:t>
            </a:r>
            <a:r>
              <a:rPr lang="en-US" dirty="0"/>
              <a:t> </a:t>
            </a:r>
            <a:r>
              <a:rPr lang="en-US" dirty="0" err="1"/>
              <a:t>estacionalidad</a:t>
            </a:r>
            <a:r>
              <a:rPr lang="en-US" dirty="0"/>
              <a:t>.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9260F0-B912-5181-F5A5-3F0A0DBA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3346" y="6174902"/>
            <a:ext cx="357116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2EE24B5-652C-4DB5-B7C3-B5BBEC1280B1}" type="slidenum">
              <a:rPr lang="es-ES" noProof="0" smtClean="0"/>
              <a:pPr rtl="0">
                <a:spcAft>
                  <a:spcPts val="600"/>
                </a:spcAft>
              </a:pPr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0125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717FF-C24B-1904-48E4-14449EC1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Precio promedio por temporada y ciudad</a:t>
            </a:r>
          </a:p>
        </p:txBody>
      </p:sp>
      <p:pic>
        <p:nvPicPr>
          <p:cNvPr id="9" name="Marcador de contenido 8" descr="Gráfico, Gráfico de barras&#10;&#10;Descripción generada automáticamente">
            <a:extLst>
              <a:ext uri="{FF2B5EF4-FFF2-40B4-BE49-F238E27FC236}">
                <a16:creationId xmlns:a16="http://schemas.microsoft.com/office/drawing/2014/main" id="{6189EB85-FB9B-5CB4-5740-9322C13DBD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67" y="2007770"/>
            <a:ext cx="4623955" cy="3684588"/>
          </a:xfrm>
        </p:spPr>
      </p:pic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8C6310-A7BE-9A94-7390-D52E6C96E6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54200"/>
            <a:ext cx="5183188" cy="3684588"/>
          </a:xfrm>
        </p:spPr>
        <p:txBody>
          <a:bodyPr/>
          <a:lstStyle/>
          <a:p>
            <a:pPr algn="just"/>
            <a:r>
              <a:rPr lang="es-ES" dirty="0"/>
              <a:t>Barcelona presenta los precios promedio más altos en comparación a Madrid y Sevilla.</a:t>
            </a:r>
          </a:p>
          <a:p>
            <a:pPr algn="just"/>
            <a:r>
              <a:rPr lang="es-ES" dirty="0"/>
              <a:t>La diferencia entre la temporada alta y baja es mínima.</a:t>
            </a:r>
          </a:p>
          <a:p>
            <a:pPr algn="just"/>
            <a:r>
              <a:rPr lang="es-ES" dirty="0"/>
              <a:t>Madrid tiene precios mas bajos, pero hay una mayor diferencia entre la temporada alta y baja.</a:t>
            </a:r>
          </a:p>
          <a:p>
            <a:pPr algn="just"/>
            <a:r>
              <a:rPr lang="es-ES" dirty="0"/>
              <a:t>Sevilla presenta los precios promedio más bajos de las tres ciudades. Además, muestra poca variación estacional, exceptuando abril.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10E9E1-2565-91BB-74FF-B51A101D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44434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1BE70-41D7-F088-908A-FE43EEA28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Distribución de precios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473DBC-364F-03BF-DF27-E82AC291C33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just"/>
            <a:r>
              <a:rPr lang="es-ES" dirty="0"/>
              <a:t>Barcelona parece tener los precios más altos en términos de </a:t>
            </a:r>
            <a:r>
              <a:rPr lang="es-ES" dirty="0" err="1"/>
              <a:t>outliers</a:t>
            </a:r>
            <a:r>
              <a:rPr lang="es-ES" dirty="0"/>
              <a:t> extremos</a:t>
            </a:r>
          </a:p>
          <a:p>
            <a:pPr algn="just"/>
            <a:r>
              <a:rPr lang="es-ES" dirty="0"/>
              <a:t>Madrid tiene menos extremos que Barcelona y Sevilla</a:t>
            </a:r>
          </a:p>
          <a:p>
            <a:pPr algn="just"/>
            <a:r>
              <a:rPr lang="es-ES" dirty="0"/>
              <a:t>Sevilla también presenta valores extremos, pero la distribución general es similar a las otras ciudades.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7CB545-C5EF-054D-3AC5-097A3B3E3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8</a:t>
            </a:fld>
            <a:endParaRPr lang="es-ES" noProof="0" dirty="0"/>
          </a:p>
        </p:txBody>
      </p:sp>
      <p:pic>
        <p:nvPicPr>
          <p:cNvPr id="8" name="Marcador de contenido 8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036B5768-BBEA-880F-B40B-464204A48B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87" y="1586706"/>
            <a:ext cx="4793998" cy="3684588"/>
          </a:xfrm>
        </p:spPr>
      </p:pic>
    </p:spTree>
    <p:extLst>
      <p:ext uri="{BB962C8B-B14F-4D97-AF65-F5344CB8AC3E}">
        <p14:creationId xmlns:p14="http://schemas.microsoft.com/office/powerpoint/2010/main" val="3434605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9EFB6-74F6-F285-3217-7D3B729C5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9705"/>
            <a:ext cx="3932237" cy="1600200"/>
          </a:xfrm>
        </p:spPr>
        <p:txBody>
          <a:bodyPr>
            <a:normAutofit fontScale="90000"/>
          </a:bodyPr>
          <a:lstStyle/>
          <a:p>
            <a:r>
              <a:rPr lang="es-ES" dirty="0"/>
              <a:t>Matrices de correlación de Barcelona, Madrid y Sevilla</a:t>
            </a:r>
          </a:p>
        </p:txBody>
      </p:sp>
      <p:pic>
        <p:nvPicPr>
          <p:cNvPr id="6" name="Marcador de contenido 5" descr="Gráfico, Gráfico de rectángulos&#10;&#10;Descripción generada automáticamente">
            <a:extLst>
              <a:ext uri="{FF2B5EF4-FFF2-40B4-BE49-F238E27FC236}">
                <a16:creationId xmlns:a16="http://schemas.microsoft.com/office/drawing/2014/main" id="{E5CC2F9F-90E0-17AE-2ED9-271B7CA81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12" y="1257300"/>
            <a:ext cx="6172200" cy="4630748"/>
          </a:xfr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B3749D-340F-AC06-C084-A795DCA21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93223"/>
            <a:ext cx="3932237" cy="3811588"/>
          </a:xfrm>
        </p:spPr>
        <p:txBody>
          <a:bodyPr/>
          <a:lstStyle/>
          <a:p>
            <a:pPr algn="just"/>
            <a:r>
              <a:rPr lang="es-ES" dirty="0"/>
              <a:t>La mayor correlación positiva del precio es con el número de reseñas y con reseñas por mes, sugiriendo una ligera relación entre popularidad y precios más altos.</a:t>
            </a:r>
          </a:p>
          <a:p>
            <a:pPr algn="just"/>
            <a:r>
              <a:rPr lang="es-ES" dirty="0"/>
              <a:t>En cuanto, a los recuentos calculados de anuncios por anfitrión tiene una correlación positiva con reseñas por mes, lo cual puede sugerir que hosts con más de una propiedad tienen una mayor actividad.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AF5ECB-5BC0-0BCE-EFDA-684C1976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8650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43730B1-105A-BCA5-BCEB-ED86466B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10</a:t>
            </a:fld>
            <a:endParaRPr lang="es-E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0D944FD-4A42-19E8-5999-EBFF67A79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15146" cy="849441"/>
          </a:xfrm>
        </p:spPr>
        <p:txBody>
          <a:bodyPr/>
          <a:lstStyle/>
          <a:p>
            <a:r>
              <a:rPr lang="es-ES" dirty="0"/>
              <a:t>Precios por barrio y ubicación</a:t>
            </a:r>
          </a:p>
        </p:txBody>
      </p:sp>
      <p:pic>
        <p:nvPicPr>
          <p:cNvPr id="7" name="Marcador de contenido 6" descr="Gráfico, Gráfico de cajas y bigotes&#10;&#10;Descripción generada automáticamente">
            <a:extLst>
              <a:ext uri="{FF2B5EF4-FFF2-40B4-BE49-F238E27FC236}">
                <a16:creationId xmlns:a16="http://schemas.microsoft.com/office/drawing/2014/main" id="{A0FD1011-BCED-528B-C6C6-1C0147E3D8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38" y="1310528"/>
            <a:ext cx="5181600" cy="2571189"/>
          </a:xfrm>
        </p:spPr>
      </p:pic>
      <p:pic>
        <p:nvPicPr>
          <p:cNvPr id="9" name="Marcador de contenido 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647C7912-F195-4082-8AF4-36D65CD4AE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239576"/>
            <a:ext cx="5181600" cy="3284281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4DF3635-727C-F371-6D11-202F4D6795A4}"/>
              </a:ext>
            </a:extLst>
          </p:cNvPr>
          <p:cNvSpPr txBox="1"/>
          <p:nvPr/>
        </p:nvSpPr>
        <p:spPr>
          <a:xfrm>
            <a:off x="381538" y="3977679"/>
            <a:ext cx="56382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Algunos de los precios son extremadamente altos en comparación a la media.</a:t>
            </a:r>
          </a:p>
          <a:p>
            <a:pPr algn="just"/>
            <a:r>
              <a:rPr lang="es-ES" dirty="0"/>
              <a:t>Sarrià-Sant </a:t>
            </a:r>
            <a:r>
              <a:rPr lang="es-ES" dirty="0" err="1"/>
              <a:t>Gervarsi</a:t>
            </a:r>
            <a:r>
              <a:rPr lang="es-ES" dirty="0"/>
              <a:t> parece tener precios más dispersos con varios valores atípicos.</a:t>
            </a:r>
          </a:p>
          <a:p>
            <a:pPr algn="just"/>
            <a:r>
              <a:rPr lang="es-ES" dirty="0"/>
              <a:t>Eixample y Gràcia muestran tendencias similares.</a:t>
            </a:r>
          </a:p>
          <a:p>
            <a:pPr algn="just"/>
            <a:r>
              <a:rPr lang="es-ES" dirty="0"/>
              <a:t>Los precios más altos se concentran especialmente en zonas centrales o estratégicas.</a:t>
            </a:r>
          </a:p>
        </p:txBody>
      </p:sp>
    </p:spTree>
    <p:extLst>
      <p:ext uri="{BB962C8B-B14F-4D97-AF65-F5344CB8AC3E}">
        <p14:creationId xmlns:p14="http://schemas.microsoft.com/office/powerpoint/2010/main" val="104188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7CDD05-A9A0-B57C-CB46-51DEA22C7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11</a:t>
            </a:fld>
            <a:endParaRPr lang="es-ES" noProof="0" dirty="0"/>
          </a:p>
        </p:txBody>
      </p:sp>
      <p:pic>
        <p:nvPicPr>
          <p:cNvPr id="7" name="Marcador de contenido 6" descr="Gráfico&#10;&#10;Descripción generada automáticamente">
            <a:extLst>
              <a:ext uri="{FF2B5EF4-FFF2-40B4-BE49-F238E27FC236}">
                <a16:creationId xmlns:a16="http://schemas.microsoft.com/office/drawing/2014/main" id="{496D0442-A276-5B35-1E1C-AF23129355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75" y="3384113"/>
            <a:ext cx="5181600" cy="2571189"/>
          </a:xfrm>
        </p:spPr>
      </p:pic>
      <p:pic>
        <p:nvPicPr>
          <p:cNvPr id="9" name="Marcador de contenido 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B177EF82-FAA5-245F-2FD6-E9D6A579A8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746" y="606731"/>
            <a:ext cx="5181600" cy="3250384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06413E8-CFF6-6D34-0374-BE1BC5347A14}"/>
              </a:ext>
            </a:extLst>
          </p:cNvPr>
          <p:cNvSpPr txBox="1"/>
          <p:nvPr/>
        </p:nvSpPr>
        <p:spPr>
          <a:xfrm>
            <a:off x="6448927" y="4409964"/>
            <a:ext cx="5004420" cy="92333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La periferia muestra precios más bajos en general.</a:t>
            </a:r>
          </a:p>
          <a:p>
            <a:r>
              <a:rPr lang="es-ES" dirty="0">
                <a:solidFill>
                  <a:schemeClr val="bg1"/>
                </a:solidFill>
              </a:rPr>
              <a:t>Mayor concentración en el centro de Madrid.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CBE0C9A-0CA6-F747-E021-8FAF824AF68F}"/>
              </a:ext>
            </a:extLst>
          </p:cNvPr>
          <p:cNvSpPr txBox="1"/>
          <p:nvPr/>
        </p:nvSpPr>
        <p:spPr>
          <a:xfrm>
            <a:off x="633305" y="902698"/>
            <a:ext cx="5037939" cy="2031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txBody>
          <a:bodyPr wrap="square" rtlCol="0" anchor="ctr" anchorCtr="1">
            <a:spAutoFit/>
          </a:bodyPr>
          <a:lstStyle/>
          <a:p>
            <a:pPr algn="just"/>
            <a:r>
              <a:rPr lang="es-ES" dirty="0">
                <a:solidFill>
                  <a:schemeClr val="bg1"/>
                </a:solidFill>
              </a:rPr>
              <a:t>El barrio de Salamanca y Chamartín, muestran distribuciones con valores más elevados en comparación con el resto. </a:t>
            </a:r>
          </a:p>
          <a:p>
            <a:pPr algn="just"/>
            <a:r>
              <a:rPr lang="es-ES" dirty="0">
                <a:solidFill>
                  <a:schemeClr val="bg1"/>
                </a:solidFill>
              </a:rPr>
              <a:t>La mayoría de los barrios, mantienen medianas similares, pero en el Retiro y el Centro la dispersión es mayor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7531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41DFAC3-0B9C-5C93-8D5C-52BDBFF8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12</a:t>
            </a:fld>
            <a:endParaRPr lang="es-ES" noProof="0" dirty="0"/>
          </a:p>
        </p:txBody>
      </p:sp>
      <p:pic>
        <p:nvPicPr>
          <p:cNvPr id="7" name="Marcador de contenido 6" descr="Gráfico&#10;&#10;Descripción generada automáticamente">
            <a:extLst>
              <a:ext uri="{FF2B5EF4-FFF2-40B4-BE49-F238E27FC236}">
                <a16:creationId xmlns:a16="http://schemas.microsoft.com/office/drawing/2014/main" id="{52ADA5A0-B27F-4245-C73F-D1910E5026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62" y="3142026"/>
            <a:ext cx="5181600" cy="2571189"/>
          </a:xfrm>
        </p:spPr>
      </p:pic>
      <p:pic>
        <p:nvPicPr>
          <p:cNvPr id="9" name="Marcador de contenido 8" descr="Gráfico&#10;&#10;Descripción generada automáticamente">
            <a:extLst>
              <a:ext uri="{FF2B5EF4-FFF2-40B4-BE49-F238E27FC236}">
                <a16:creationId xmlns:a16="http://schemas.microsoft.com/office/drawing/2014/main" id="{CBF973D0-A30B-63BA-217C-F2E2A4BD70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46876"/>
            <a:ext cx="5181600" cy="3370196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40161B0-CF4F-D2D7-06D9-23828F768F93}"/>
              </a:ext>
            </a:extLst>
          </p:cNvPr>
          <p:cNvSpPr txBox="1"/>
          <p:nvPr/>
        </p:nvSpPr>
        <p:spPr>
          <a:xfrm>
            <a:off x="1056772" y="1144785"/>
            <a:ext cx="47163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El casco antiguo muestra mayor dispersión y precios más altos en comparación con otros barrios.</a:t>
            </a:r>
          </a:p>
          <a:p>
            <a:pPr algn="just"/>
            <a:r>
              <a:rPr lang="es-ES" dirty="0"/>
              <a:t>La mayoría de los barrios tienen precios moderados y relativamente similares.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E75AD0A-ABD2-BBD6-CC82-738BFD3CD4C2}"/>
              </a:ext>
            </a:extLst>
          </p:cNvPr>
          <p:cNvSpPr txBox="1"/>
          <p:nvPr/>
        </p:nvSpPr>
        <p:spPr>
          <a:xfrm>
            <a:off x="6545179" y="4154905"/>
            <a:ext cx="48086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Vemos mucha menos concentración de puntos que en los gráficos anteriores. </a:t>
            </a:r>
          </a:p>
          <a:p>
            <a:pPr algn="just"/>
            <a:r>
              <a:rPr lang="es-ES" dirty="0"/>
              <a:t>La dispersión es mínima.</a:t>
            </a:r>
          </a:p>
          <a:p>
            <a:pPr algn="just"/>
            <a:r>
              <a:rPr lang="es-ES" dirty="0"/>
              <a:t>Las propiedades con precios más altos son muy puntuales, esto nos sugiere un mercado inmobiliario más homogéneo. </a:t>
            </a:r>
          </a:p>
        </p:txBody>
      </p:sp>
    </p:spTree>
    <p:extLst>
      <p:ext uri="{BB962C8B-B14F-4D97-AF65-F5344CB8AC3E}">
        <p14:creationId xmlns:p14="http://schemas.microsoft.com/office/powerpoint/2010/main" val="343104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ACE8E-F7BB-17AB-64D0-D8F24DE75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75" y="194030"/>
            <a:ext cx="10515600" cy="1049980"/>
          </a:xfrm>
        </p:spPr>
        <p:txBody>
          <a:bodyPr/>
          <a:lstStyle/>
          <a:p>
            <a:r>
              <a:rPr lang="es-ES" dirty="0"/>
              <a:t>Relación entre precio, número de reseñas y disponibilidad.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F0128A-856F-9DB8-AAB1-0E29E6ADC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62586"/>
            <a:ext cx="5157787" cy="1174276"/>
          </a:xfrm>
        </p:spPr>
        <p:txBody>
          <a:bodyPr>
            <a:noAutofit/>
          </a:bodyPr>
          <a:lstStyle/>
          <a:p>
            <a:pPr algn="just"/>
            <a:r>
              <a:rPr lang="es-ES" sz="1400" dirty="0"/>
              <a:t>El gráfico sugiere que los alojamientos con </a:t>
            </a:r>
            <a:r>
              <a:rPr lang="es-ES" sz="1400" b="1" dirty="0"/>
              <a:t>más reseñas</a:t>
            </a:r>
            <a:r>
              <a:rPr lang="es-ES" sz="1400" dirty="0"/>
              <a:t> tienden a tener precios más asequibles. Alojamientos de </a:t>
            </a:r>
            <a:r>
              <a:rPr lang="es-ES" sz="1400" b="1" dirty="0"/>
              <a:t>alto precio</a:t>
            </a:r>
            <a:r>
              <a:rPr lang="es-ES" sz="1400" dirty="0"/>
              <a:t> suelen tener un número de reseñas bajo, posiblemente debido a su menor accesibilidad o a un nicho de clientes más reducido.</a:t>
            </a:r>
          </a:p>
        </p:txBody>
      </p:sp>
      <p:pic>
        <p:nvPicPr>
          <p:cNvPr id="9" name="Marcador de contenido 8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C6DA071F-C8D0-880A-214C-865725235C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855439"/>
            <a:ext cx="4794013" cy="3684588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0D6975-145F-90B8-333E-2972D5886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58" y="1436614"/>
            <a:ext cx="5183188" cy="1174276"/>
          </a:xfrm>
        </p:spPr>
        <p:txBody>
          <a:bodyPr>
            <a:noAutofit/>
          </a:bodyPr>
          <a:lstStyle/>
          <a:p>
            <a:pPr algn="just"/>
            <a:r>
              <a:rPr lang="es-ES" sz="1400" dirty="0"/>
              <a:t>No se aprecia una relación fuerte entre </a:t>
            </a:r>
            <a:r>
              <a:rPr lang="es-ES" sz="1400" b="1" dirty="0"/>
              <a:t>disponibilidad</a:t>
            </a:r>
            <a:r>
              <a:rPr lang="es-ES" sz="1400" dirty="0"/>
              <a:t> y </a:t>
            </a:r>
            <a:r>
              <a:rPr lang="es-ES" sz="1400" b="1" dirty="0"/>
              <a:t>precio</a:t>
            </a:r>
            <a:r>
              <a:rPr lang="es-ES" sz="1400" dirty="0"/>
              <a:t>. Sin embargo, alojamientos de </a:t>
            </a:r>
            <a:r>
              <a:rPr lang="es-ES" sz="1400" b="1" dirty="0"/>
              <a:t>precios muy elevados</a:t>
            </a:r>
            <a:r>
              <a:rPr lang="es-ES" sz="1400" dirty="0"/>
              <a:t> tienden a tener una </a:t>
            </a:r>
            <a:r>
              <a:rPr lang="es-ES" sz="1400" b="1" dirty="0"/>
              <a:t>baja disponibilidad</a:t>
            </a:r>
            <a:r>
              <a:rPr lang="es-ES" sz="1400" dirty="0"/>
              <a:t>, posiblemente porque están asociados a estancias muy específicas o a la exclusividad de la oferta.</a:t>
            </a:r>
          </a:p>
        </p:txBody>
      </p:sp>
      <p:pic>
        <p:nvPicPr>
          <p:cNvPr id="11" name="Marcador de contenido 10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598E36E1-FF10-C258-5DB2-9F35097A51E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164" y="2855439"/>
            <a:ext cx="4759260" cy="3684588"/>
          </a:xfr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CB60EB-1CAE-8B04-44D4-3F0E7C0F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67701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FD990-039D-9635-F017-0210C203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Resultados de Modelos Probados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121427-5C4C-4D10-A6C2-47A65E480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480146"/>
          </a:xfrm>
        </p:spPr>
        <p:txBody>
          <a:bodyPr/>
          <a:lstStyle/>
          <a:p>
            <a:r>
              <a:rPr lang="es-ES" b="1" dirty="0"/>
              <a:t>Modelos con bajo desempeño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298921-F0A1-5CC8-1224-BDF0A5AD01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dirty="0"/>
              <a:t>1️⃣ </a:t>
            </a:r>
            <a:r>
              <a:rPr lang="es-ES" b="1" dirty="0"/>
              <a:t>Regresión Lineal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Fue nuestra primera aproximación como </a:t>
            </a:r>
            <a:r>
              <a:rPr lang="es-ES" dirty="0" err="1"/>
              <a:t>baseline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No capturó bien la relación entre variables, especialmente para precios extremos.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Error:</a:t>
            </a:r>
            <a:r>
              <a:rPr lang="es-ES" dirty="0"/>
              <a:t> Alto RMSE, indicando mala precisión en predicciones.</a:t>
            </a:r>
          </a:p>
          <a:p>
            <a:pPr>
              <a:buNone/>
            </a:pPr>
            <a:r>
              <a:rPr lang="es-ES" dirty="0"/>
              <a:t>2️⃣ </a:t>
            </a:r>
            <a:r>
              <a:rPr lang="es-ES" b="1" dirty="0"/>
              <a:t>K-</a:t>
            </a:r>
            <a:r>
              <a:rPr lang="es-ES" b="1" dirty="0" err="1"/>
              <a:t>Nearest</a:t>
            </a:r>
            <a:r>
              <a:rPr lang="es-ES" b="1" dirty="0"/>
              <a:t> </a:t>
            </a:r>
            <a:r>
              <a:rPr lang="es-ES" b="1" dirty="0" err="1"/>
              <a:t>Neighbors</a:t>
            </a:r>
            <a:r>
              <a:rPr lang="es-ES" b="1" dirty="0"/>
              <a:t> (KNN)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probó con distintos valores de </a:t>
            </a:r>
            <a:r>
              <a:rPr lang="es-ES" b="1" dirty="0"/>
              <a:t>k</a:t>
            </a:r>
            <a:r>
              <a:rPr lang="es-E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No se ajusta bien a datos con alta dimensionalidad.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Resultado:</a:t>
            </a:r>
            <a:r>
              <a:rPr lang="es-ES" dirty="0"/>
              <a:t> Predicciones poco precisas, especialmente con valores atípicos.</a:t>
            </a:r>
          </a:p>
          <a:p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A50129-52A8-E850-5A17-BBE1E74740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480146"/>
          </a:xfrm>
        </p:spPr>
        <p:txBody>
          <a:bodyPr/>
          <a:lstStyle/>
          <a:p>
            <a:r>
              <a:rPr lang="es-ES" b="1" dirty="0"/>
              <a:t>Modelos con mejor desempeño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B8C1A-C322-76CD-B559-3AD22221A3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" dirty="0"/>
              <a:t>3️⃣ </a:t>
            </a:r>
            <a:r>
              <a:rPr lang="es-ES" b="1" dirty="0" err="1"/>
              <a:t>XGBoost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Modelo de </a:t>
            </a:r>
            <a:r>
              <a:rPr lang="es-ES" dirty="0" err="1"/>
              <a:t>Gradient</a:t>
            </a:r>
            <a:r>
              <a:rPr lang="es-ES" dirty="0"/>
              <a:t> </a:t>
            </a:r>
            <a:r>
              <a:rPr lang="es-ES" dirty="0" err="1"/>
              <a:t>Boosting</a:t>
            </a:r>
            <a:r>
              <a:rPr lang="es-ES" dirty="0"/>
              <a:t>, robusto y eficiente.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Ventaja:</a:t>
            </a:r>
            <a:r>
              <a:rPr lang="es-ES" dirty="0"/>
              <a:t> Captura relaciones complejas entre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Mayor tiempo de entrenamiento y menos interpretabilidad.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RMSE:</a:t>
            </a:r>
            <a:r>
              <a:rPr lang="es-ES" dirty="0"/>
              <a:t> Redujo significativamente el error respecto a los modelos anteriores.</a:t>
            </a:r>
          </a:p>
          <a:p>
            <a:pPr>
              <a:buNone/>
            </a:pPr>
            <a:r>
              <a:rPr lang="es-ES" dirty="0"/>
              <a:t>4️⃣ </a:t>
            </a:r>
            <a:r>
              <a:rPr lang="es-ES" b="1" dirty="0"/>
              <a:t>Red Neuronal (Deep </a:t>
            </a:r>
            <a:r>
              <a:rPr lang="es-ES" b="1" dirty="0" err="1"/>
              <a:t>Learning</a:t>
            </a:r>
            <a:r>
              <a:rPr lang="es-ES" b="1" dirty="0"/>
              <a:t>)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probó una red neuronal con varias capas densas.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Ventaja:</a:t>
            </a:r>
            <a:r>
              <a:rPr lang="es-ES" dirty="0"/>
              <a:t> Buena generalización, sobre todo en grandes volúmenes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Problema:</a:t>
            </a:r>
            <a:r>
              <a:rPr lang="es-ES" dirty="0"/>
              <a:t> Requiere mucho tiempo de ajuste y cómputo, sin una mejora tan grande sobre otros modelos más simples.</a:t>
            </a:r>
          </a:p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2B8371-D149-82E8-366C-57056720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99836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4C3DF-4A30-2A92-2E58-3CE833EF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final seleccionado: </a:t>
            </a:r>
            <a:r>
              <a:rPr lang="es-ES" dirty="0" err="1"/>
              <a:t>Random</a:t>
            </a:r>
            <a:r>
              <a:rPr lang="es-ES" dirty="0"/>
              <a:t> Forest </a:t>
            </a:r>
            <a:r>
              <a:rPr lang="es-ES" dirty="0" err="1"/>
              <a:t>Classifier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2E0450-1B12-BA57-A1D5-FEFAC4E2B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7101" y="1586706"/>
            <a:ext cx="5157787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Después de analizar los resultados, el </a:t>
            </a:r>
            <a:r>
              <a:rPr lang="es-ES" sz="2000" b="1" dirty="0" err="1"/>
              <a:t>Random</a:t>
            </a:r>
            <a:r>
              <a:rPr lang="es-ES" sz="2000" b="1" dirty="0"/>
              <a:t> Forest </a:t>
            </a:r>
            <a:r>
              <a:rPr lang="es-ES" sz="2000" b="1" dirty="0" err="1"/>
              <a:t>Classifier</a:t>
            </a:r>
            <a:r>
              <a:rPr lang="es-ES" sz="2000" dirty="0"/>
              <a:t> fue el modelo elegido por varias razones:</a:t>
            </a:r>
            <a:br>
              <a:rPr lang="es-ES" sz="2000" dirty="0"/>
            </a:br>
            <a:r>
              <a:rPr lang="es-ES" sz="2000" dirty="0"/>
              <a:t>✅ </a:t>
            </a:r>
            <a:r>
              <a:rPr lang="es-ES" sz="2000" b="1" dirty="0"/>
              <a:t>Precisión alta</a:t>
            </a:r>
            <a:r>
              <a:rPr lang="es-ES" sz="2000" dirty="0"/>
              <a:t> sin necesidad de gran ajuste de </a:t>
            </a:r>
            <a:r>
              <a:rPr lang="es-ES" sz="2000" dirty="0" err="1"/>
              <a:t>hiperparámetros</a:t>
            </a:r>
            <a:r>
              <a:rPr lang="es-ES" sz="2000" dirty="0"/>
              <a:t>.</a:t>
            </a:r>
            <a:br>
              <a:rPr lang="es-ES" sz="2000" dirty="0"/>
            </a:br>
            <a:r>
              <a:rPr lang="es-ES" sz="2000" dirty="0"/>
              <a:t>✅ </a:t>
            </a:r>
            <a:r>
              <a:rPr lang="es-ES" sz="2000" b="1" dirty="0"/>
              <a:t>Robustez ante datos faltantes y valores atípicos.</a:t>
            </a:r>
            <a:br>
              <a:rPr lang="es-ES" sz="2000" dirty="0"/>
            </a:br>
            <a:r>
              <a:rPr lang="es-ES" sz="2000" dirty="0"/>
              <a:t>✅ </a:t>
            </a:r>
            <a:r>
              <a:rPr lang="es-ES" sz="2000" b="1" dirty="0"/>
              <a:t>Buena interpretabilidad</a:t>
            </a:r>
            <a:r>
              <a:rPr lang="es-ES" sz="2000" dirty="0"/>
              <a:t>, permitiendo entender qué variables influyen más en las predicciones.</a:t>
            </a:r>
            <a:br>
              <a:rPr lang="es-ES" sz="2000" dirty="0"/>
            </a:br>
            <a:r>
              <a:rPr lang="es-ES" sz="2000" dirty="0"/>
              <a:t>✅ </a:t>
            </a:r>
            <a:r>
              <a:rPr lang="es-ES" sz="2000" b="1" dirty="0"/>
              <a:t>Eficiencia computacional</a:t>
            </a:r>
            <a:r>
              <a:rPr lang="es-ES" sz="2000" dirty="0"/>
              <a:t>, más rápido que una red neuronal sin perder precisión.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29FDD3A-0CAB-2388-9FBC-E864BF15C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9931" y="4332608"/>
            <a:ext cx="5183188" cy="3684588"/>
          </a:xfrm>
        </p:spPr>
        <p:txBody>
          <a:bodyPr/>
          <a:lstStyle/>
          <a:p>
            <a:pPr>
              <a:buNone/>
            </a:pPr>
            <a:r>
              <a:rPr lang="es-ES" b="1" dirty="0"/>
              <a:t>Resultados clave: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RMSE</a:t>
            </a:r>
            <a:r>
              <a:rPr lang="es-ES" dirty="0"/>
              <a:t> más bajo comparado con modelos más simples.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 err="1"/>
              <a:t>Feature</a:t>
            </a:r>
            <a:r>
              <a:rPr lang="es-ES" b="1" dirty="0"/>
              <a:t> </a:t>
            </a:r>
            <a:r>
              <a:rPr lang="es-ES" b="1" dirty="0" err="1"/>
              <a:t>Importance</a:t>
            </a:r>
            <a:r>
              <a:rPr lang="es-ES" b="1" dirty="0"/>
              <a:t>:</a:t>
            </a:r>
            <a:r>
              <a:rPr lang="es-ES" dirty="0"/>
              <a:t> Variables como </a:t>
            </a:r>
            <a:r>
              <a:rPr lang="es-ES" b="1" dirty="0"/>
              <a:t>ubicación, tipo de alojamiento y número de noches mínimas</a:t>
            </a:r>
            <a:r>
              <a:rPr lang="es-ES" dirty="0"/>
              <a:t> fueron clave para predecir precios.</a:t>
            </a:r>
          </a:p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0EAA38A-0027-7716-3D4E-47EB8A93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15</a:t>
            </a:fld>
            <a:endParaRPr lang="es-ES" noProof="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FEBAB37-2132-48F8-6815-3E185C71D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931" y="1690688"/>
            <a:ext cx="4814968" cy="22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09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EA27D-61C6-A8EE-F93C-DB6348F3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/>
              <a:t>Conclusiones y mejoras</a:t>
            </a:r>
            <a:endParaRPr lang="es-ES" sz="40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4515DB-5623-D2F4-0E04-2726441F0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📌 </a:t>
            </a:r>
            <a:r>
              <a:rPr lang="es-ES" sz="2800" b="1" dirty="0"/>
              <a:t>Conclusiones clave:</a:t>
            </a:r>
            <a:endParaRPr lang="es-ES" sz="2800" dirty="0"/>
          </a:p>
        </p:txBody>
      </p:sp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441E5B70-7CCC-93F4-CEC7-11E28A16DA8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0229692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7955A3-5B5E-6AF0-0764-621C59FBD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s-ES" sz="2800" dirty="0"/>
              <a:t>📌 </a:t>
            </a:r>
            <a:r>
              <a:rPr lang="es-ES" sz="2800" b="1" dirty="0"/>
              <a:t>Futuras mejoras:</a:t>
            </a:r>
            <a:endParaRPr lang="es-ES" sz="2800" dirty="0"/>
          </a:p>
        </p:txBody>
      </p:sp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FBC306C8-7C40-4BFE-FD41-11AC00C1C3C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02779603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4773E2-CA76-E153-2295-DEB4558C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2EE24B5-652C-4DB5-B7C3-B5BBEC1280B1}" type="slidenum">
              <a:rPr lang="es-ES" noProof="0" smtClean="0"/>
              <a:t>16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39409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la oficina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87709_TF45022061.potx" id="{CF8F7AC9-B209-40DA-B01B-03DE7680F64C}" vid="{9567545B-13CB-48C1-B233-082DD3A40F6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118CE8-9293-4220-BA3B-5D353B13ABC9}">
  <ds:schemaRefs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 de marketing de servicios profesionales</Template>
  <TotalTime>1751</TotalTime>
  <Words>2391</Words>
  <Application>Microsoft Office PowerPoint</Application>
  <PresentationFormat>Panorámica</PresentationFormat>
  <Paragraphs>182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</vt:lpstr>
      <vt:lpstr>Calibri</vt:lpstr>
      <vt:lpstr>Gill Sans MT</vt:lpstr>
      <vt:lpstr>Slack-Lato</vt:lpstr>
      <vt:lpstr>Symbol</vt:lpstr>
      <vt:lpstr>Tema de la oficina</vt:lpstr>
      <vt:lpstr>"Análisis de Alojamiento Urbano:  Insights de Airbnb en  Barcelona, Madrid y Sevilla"</vt:lpstr>
      <vt:lpstr>Presentación del Proyecto</vt:lpstr>
      <vt:lpstr>Planteamiento del problema técnico</vt:lpstr>
      <vt:lpstr>Exploración de Datos (EDA) </vt:lpstr>
      <vt:lpstr>Distribución por tipo de alojamiento</vt:lpstr>
      <vt:lpstr>Precio promedio por mes y ciudad</vt:lpstr>
      <vt:lpstr>Precio promedio por temporada y ciudad</vt:lpstr>
      <vt:lpstr>Distribución de precios</vt:lpstr>
      <vt:lpstr>Matrices de correlación de Barcelona, Madrid y Sevilla</vt:lpstr>
      <vt:lpstr>Precios por barrio y ubicación</vt:lpstr>
      <vt:lpstr>Presentación de PowerPoint</vt:lpstr>
      <vt:lpstr>Presentación de PowerPoint</vt:lpstr>
      <vt:lpstr>Relación entre precio, número de reseñas y disponibilidad.</vt:lpstr>
      <vt:lpstr>Resultados de Modelos Probados</vt:lpstr>
      <vt:lpstr>Modelo final seleccionado: Random Forest Classifier</vt:lpstr>
      <vt:lpstr>Conclusiones y mejoras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Torres Cacheda</dc:creator>
  <cp:lastModifiedBy>Alberto Torres Cacheda</cp:lastModifiedBy>
  <cp:revision>10</cp:revision>
  <dcterms:created xsi:type="dcterms:W3CDTF">2024-12-16T16:19:40Z</dcterms:created>
  <dcterms:modified xsi:type="dcterms:W3CDTF">2025-05-20T16:55:03Z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