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1"/>
  </p:notesMasterIdLst>
  <p:handoutMasterIdLst>
    <p:handoutMasterId r:id="rId22"/>
  </p:handoutMasterIdLst>
  <p:sldIdLst>
    <p:sldId id="289" r:id="rId5"/>
    <p:sldId id="320" r:id="rId6"/>
    <p:sldId id="321" r:id="rId7"/>
    <p:sldId id="322" r:id="rId8"/>
    <p:sldId id="305" r:id="rId9"/>
    <p:sldId id="290" r:id="rId10"/>
    <p:sldId id="301" r:id="rId11"/>
    <p:sldId id="291" r:id="rId12"/>
    <p:sldId id="306" r:id="rId13"/>
    <p:sldId id="312" r:id="rId14"/>
    <p:sldId id="313" r:id="rId15"/>
    <p:sldId id="314" r:id="rId16"/>
    <p:sldId id="304" r:id="rId17"/>
    <p:sldId id="324" r:id="rId18"/>
    <p:sldId id="325" r:id="rId19"/>
    <p:sldId id="323" r:id="rId20"/>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A2"/>
    <a:srgbClr val="404040"/>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65" autoAdjust="0"/>
    <p:restoredTop sz="73694" autoAdjust="0"/>
  </p:normalViewPr>
  <p:slideViewPr>
    <p:cSldViewPr snapToGrid="0">
      <p:cViewPr varScale="1">
        <p:scale>
          <a:sx n="46" d="100"/>
          <a:sy n="46" d="100"/>
        </p:scale>
        <p:origin x="1136" y="44"/>
      </p:cViewPr>
      <p:guideLst>
        <p:guide pos="3840"/>
        <p:guide orient="horz" pos="2160"/>
      </p:guideLst>
    </p:cSldViewPr>
  </p:slideViewPr>
  <p:notesTextViewPr>
    <p:cViewPr>
      <p:scale>
        <a:sx n="1" d="1"/>
        <a:sy n="1" d="1"/>
      </p:scale>
      <p:origin x="0" y="0"/>
    </p:cViewPr>
  </p:notesText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1">
  <dgm:title val=""/>
  <dgm:desc val=""/>
  <dgm:catLst>
    <dgm:cat type="accent4" pri="11100"/>
  </dgm:catLst>
  <dgm:styleLbl name="node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4">
        <a:shade val="80000"/>
      </a:schemeClr>
    </dgm:linClrLst>
    <dgm:effectClrLst/>
    <dgm:txLinClrLst/>
    <dgm:txFillClrLst/>
    <dgm:txEffectClrLst/>
  </dgm:styleLbl>
  <dgm:styleLbl name="node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f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align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bgImgPlace1">
    <dgm:fillClrLst meth="repeat">
      <a:schemeClr val="accent4">
        <a:tint val="40000"/>
      </a:schemeClr>
    </dgm:fillClrLst>
    <dgm:linClrLst meth="repeat">
      <a:schemeClr val="accent4">
        <a:shade val="80000"/>
      </a:schemeClr>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meth="repeat">
      <a:schemeClr val="dk1"/>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4">
        <a:shade val="80000"/>
      </a:schemeClr>
    </dgm:linClrLst>
    <dgm:effectClrLst/>
    <dgm:txLinClrLst/>
    <dgm:txFillClrLst meth="repeat">
      <a:schemeClr val="dk1"/>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dgm:txEffectClrLst/>
  </dgm:styleLbl>
  <dgm:styleLbl name="parChTrans2D2">
    <dgm:fillClrLst meth="repeat">
      <a:schemeClr val="accent4"/>
    </dgm:fillClrLst>
    <dgm:linClrLst meth="repeat">
      <a:schemeClr val="accent4"/>
    </dgm:linClrLst>
    <dgm:effectClrLst/>
    <dgm:txLinClrLst/>
    <dgm:txFillClrLst/>
    <dgm:txEffectClrLst/>
  </dgm:styleLbl>
  <dgm:styleLbl name="parChTrans2D3">
    <dgm:fillClrLst meth="repeat">
      <a:schemeClr val="accent4"/>
    </dgm:fillClrLst>
    <dgm:linClrLst meth="repeat">
      <a:schemeClr val="accent4"/>
    </dgm:linClrLst>
    <dgm:effectClrLst/>
    <dgm:txLinClrLst/>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conF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align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trAlignAcc1">
    <dgm:fillClrLst meth="repeat">
      <a:schemeClr val="accent4">
        <a:alpha val="40000"/>
        <a:tint val="40000"/>
      </a:schemeClr>
    </dgm:fillClrLst>
    <dgm:linClrLst meth="repeat">
      <a:schemeClr val="accent4"/>
    </dgm:linClrLst>
    <dgm:effectClrLst/>
    <dgm:txLinClrLst/>
    <dgm:txFillClrLst meth="repeat">
      <a:schemeClr val="dk1"/>
    </dgm:txFillClrLst>
    <dgm:txEffectClrLst/>
  </dgm:styleLbl>
  <dgm:styleLbl name="bgAcc1">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4">
        <a:alpha val="90000"/>
      </a:schemeClr>
    </dgm:linClrLst>
    <dgm:effectClrLst/>
    <dgm:txLinClrLst/>
    <dgm:txFillClrLst meth="repeat">
      <a:schemeClr val="dk1"/>
    </dgm:txFillClrLst>
    <dgm:txEffectClrLst/>
  </dgm:styleLbl>
  <dgm:styleLbl name="fgAcc0">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2">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3">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fgAcc4">
    <dgm:fillClrLst meth="repeat">
      <a:schemeClr val="accent4">
        <a:alpha val="90000"/>
        <a:tint val="4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4_5">
  <dgm:title val=""/>
  <dgm:desc val=""/>
  <dgm:catLst>
    <dgm:cat type="accent4" pri="11500"/>
  </dgm:catLst>
  <dgm:styleLbl name="node0">
    <dgm:fillClrLst meth="cycle">
      <a:schemeClr val="accent4">
        <a:alpha val="80000"/>
      </a:schemeClr>
    </dgm:fillClrLst>
    <dgm:linClrLst meth="repeat">
      <a:schemeClr val="lt1"/>
    </dgm:linClrLst>
    <dgm:effectClrLst/>
    <dgm:txLinClrLst/>
    <dgm:txFillClrLst/>
    <dgm:txEffectClrLst/>
  </dgm:styleLbl>
  <dgm:styleLbl name="node1">
    <dgm:fillClrLst>
      <a:schemeClr val="accent4">
        <a:alpha val="90000"/>
      </a:schemeClr>
      <a:schemeClr val="accent4">
        <a:alpha val="50000"/>
      </a:schemeClr>
    </dgm:fillClrLst>
    <dgm:linClrLst meth="repeat">
      <a:schemeClr val="lt1"/>
    </dgm:linClrLst>
    <dgm:effectClrLst/>
    <dgm:txLinClrLst/>
    <dgm:txFillClrLst/>
    <dgm:txEffectClrLst/>
  </dgm:styleLbl>
  <dgm:styleLbl name="alignNode1">
    <dgm:fillClrLst>
      <a:schemeClr val="accent4">
        <a:alpha val="90000"/>
      </a:schemeClr>
      <a:schemeClr val="accent4">
        <a:alpha val="50000"/>
      </a:schemeClr>
    </dgm:fillClrLst>
    <dgm:linClrLst>
      <a:schemeClr val="accent4">
        <a:alpha val="90000"/>
      </a:schemeClr>
      <a:schemeClr val="accent4">
        <a:alpha val="50000"/>
      </a:schemeClr>
    </dgm:linClrLst>
    <dgm:effectClrLst/>
    <dgm:txLinClrLst/>
    <dgm:txFillClrLst/>
    <dgm:txEffectClrLst/>
  </dgm:styleLbl>
  <dgm:styleLbl name="lnNode1">
    <dgm:fillClrLst>
      <a:schemeClr val="accent4">
        <a:shade val="90000"/>
      </a:schemeClr>
      <a:schemeClr val="accent4">
        <a:alpha val="50000"/>
        <a:tint val="5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alpha val="80000"/>
      </a:schemeClr>
    </dgm:fillClrLst>
    <dgm:linClrLst meth="repeat">
      <a:schemeClr val="lt1"/>
    </dgm:linClrLst>
    <dgm:effectClrLst/>
    <dgm:txLinClrLst/>
    <dgm:txFillClrLst/>
    <dgm:txEffectClrLst/>
  </dgm:styleLbl>
  <dgm:styleLbl name="node2">
    <dgm:fillClrLst>
      <a:schemeClr val="accent4">
        <a:alpha val="70000"/>
      </a:schemeClr>
    </dgm:fillClrLst>
    <dgm:linClrLst meth="repeat">
      <a:schemeClr val="lt1"/>
    </dgm:linClrLst>
    <dgm:effectClrLst/>
    <dgm:txLinClrLst/>
    <dgm:txFillClrLst/>
    <dgm:txEffectClrLst/>
  </dgm:styleLbl>
  <dgm:styleLbl name="node3">
    <dgm:fillClrLst>
      <a:schemeClr val="accent4">
        <a:alpha val="50000"/>
      </a:schemeClr>
    </dgm:fillClrLst>
    <dgm:linClrLst meth="repeat">
      <a:schemeClr val="lt1"/>
    </dgm:linClrLst>
    <dgm:effectClrLst/>
    <dgm:txLinClrLst/>
    <dgm:txFillClrLst/>
    <dgm:txEffectClrLst/>
  </dgm:styleLbl>
  <dgm:styleLbl name="node4">
    <dgm:fillClrLst>
      <a:schemeClr val="accent4">
        <a:alpha val="30000"/>
      </a:schemeClr>
    </dgm:fillClrLst>
    <dgm:linClrLst meth="repeat">
      <a:schemeClr val="lt1"/>
    </dgm:linClrLst>
    <dgm:effectClrLst/>
    <dgm:txLinClrLst/>
    <dgm:txFillClrLst/>
    <dgm:txEffectClrLst/>
  </dgm:styleLbl>
  <dgm:styleLbl name="fgImgPlace1">
    <dgm:fillClrLst>
      <a:schemeClr val="accent4">
        <a:tint val="50000"/>
        <a:alpha val="90000"/>
      </a:schemeClr>
      <a:schemeClr val="accent4">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f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bgSibTrans2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dgm:txEffectClrLst/>
  </dgm:styleLbl>
  <dgm:styleLbl name="sibTrans1D1">
    <dgm:fillClrLst>
      <a:schemeClr val="accent4">
        <a:shade val="90000"/>
      </a:schemeClr>
      <a:schemeClr val="accent4">
        <a:tint val="50000"/>
      </a:schemeClr>
    </dgm:fillClrLst>
    <dgm:linClrLst>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alpha val="90000"/>
      </a:schemeClr>
    </dgm:fillClrLst>
    <dgm:linClrLst meth="repeat">
      <a:schemeClr val="lt1"/>
    </dgm:linClrLst>
    <dgm:effectClrLst/>
    <dgm:txLinClrLst/>
    <dgm:txFillClrLst/>
    <dgm:txEffectClrLst/>
  </dgm:styleLbl>
  <dgm:styleLbl name="asst1">
    <dgm:fillClrLst meth="repeat">
      <a:schemeClr val="accent4">
        <a:alpha val="90000"/>
      </a:schemeClr>
    </dgm:fillClrLst>
    <dgm:linClrLst meth="repeat">
      <a:schemeClr val="lt1"/>
    </dgm:linClrLst>
    <dgm:effectClrLst/>
    <dgm:txLinClrLst/>
    <dgm:txFillClrLst/>
    <dgm:txEffectClrLst/>
  </dgm:styleLbl>
  <dgm:styleLbl name="asst2">
    <dgm:fillClrLst>
      <a:schemeClr val="accent4">
        <a:alpha val="90000"/>
      </a:schemeClr>
    </dgm:fillClrLst>
    <dgm:linClrLst meth="repeat">
      <a:schemeClr val="lt1"/>
    </dgm:linClrLst>
    <dgm:effectClrLst/>
    <dgm:txLinClrLst/>
    <dgm:txFillClrLst/>
    <dgm:txEffectClrLst/>
  </dgm:styleLbl>
  <dgm:styleLbl name="asst3">
    <dgm:fillClrLst>
      <a:schemeClr val="accent4">
        <a:alpha val="70000"/>
      </a:schemeClr>
    </dgm:fillClrLst>
    <dgm:linClrLst meth="repeat">
      <a:schemeClr val="lt1"/>
    </dgm:linClrLst>
    <dgm:effectClrLst/>
    <dgm:txLinClrLst/>
    <dgm:txFillClrLst/>
    <dgm:txEffectClrLst/>
  </dgm:styleLbl>
  <dgm:styleLbl name="asst4">
    <dgm:fillClrLst>
      <a:schemeClr val="accent4">
        <a:alpha val="50000"/>
      </a:schemeClr>
    </dgm:fillClrLst>
    <dgm:linClrLst meth="repeat">
      <a:schemeClr val="lt1"/>
    </dgm:linClrLst>
    <dgm:effectClrLst/>
    <dgm:txLinClrLst/>
    <dgm:txFillClrLst/>
    <dgm:txEffectClrLst/>
  </dgm:styleLbl>
  <dgm:styleLbl name="parChTrans2D1">
    <dgm:fillClrLst meth="repeat">
      <a:schemeClr val="accent4">
        <a:shade val="8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4">
        <a:alpha val="90000"/>
      </a:schemeClr>
      <a:schemeClr val="accent4">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a:schemeClr val="accent4">
        <a:alpha val="90000"/>
        <a:tint val="40000"/>
      </a:schemeClr>
      <a:schemeClr val="accent4">
        <a:alpha val="5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12053E-2E83-4B6C-8E5D-F2803ED7C926}" type="doc">
      <dgm:prSet loTypeId="urn:microsoft.com/office/officeart/2005/8/layout/vList2" loCatId="list" qsTypeId="urn:microsoft.com/office/officeart/2005/8/quickstyle/simple1" qsCatId="simple" csTypeId="urn:microsoft.com/office/officeart/2005/8/colors/accent4_5" csCatId="accent4" phldr="1"/>
      <dgm:spPr/>
      <dgm:t>
        <a:bodyPr/>
        <a:lstStyle/>
        <a:p>
          <a:endParaRPr lang="es-ES"/>
        </a:p>
      </dgm:t>
    </dgm:pt>
    <dgm:pt modelId="{F9E170A3-054F-41B7-9545-673CE81809F9}">
      <dgm:prSet custT="1"/>
      <dgm:spPr/>
      <dgm:t>
        <a:bodyPr/>
        <a:lstStyle/>
        <a:p>
          <a:pPr>
            <a:buNone/>
          </a:pPr>
          <a:r>
            <a:rPr lang="es-ES" sz="2000" b="1" dirty="0"/>
            <a:t>📌 </a:t>
          </a:r>
          <a:r>
            <a:rPr lang="es-ES" sz="2000" b="1" dirty="0" err="1"/>
            <a:t>Problem</a:t>
          </a:r>
          <a:r>
            <a:rPr lang="es-ES" sz="2000" b="1" dirty="0"/>
            <a:t>: </a:t>
          </a:r>
          <a:r>
            <a:rPr lang="en-US" sz="2000" dirty="0"/>
            <a:t>The short-term rental market (Airbnb) has grown exponentially, creating challenges in price setting, trend identification, and offer optimization</a:t>
          </a:r>
          <a:r>
            <a:rPr lang="en-US" dirty="0"/>
            <a:t>.</a:t>
          </a:r>
          <a:endParaRPr lang="es-ES" sz="1200" dirty="0"/>
        </a:p>
      </dgm:t>
    </dgm:pt>
    <dgm:pt modelId="{32875C36-1573-47BA-A9CB-E3D150AFCE9E}" type="parTrans" cxnId="{8B330848-C462-4257-9606-FAE68D304F77}">
      <dgm:prSet/>
      <dgm:spPr/>
      <dgm:t>
        <a:bodyPr/>
        <a:lstStyle/>
        <a:p>
          <a:endParaRPr lang="es-ES"/>
        </a:p>
      </dgm:t>
    </dgm:pt>
    <dgm:pt modelId="{788107D5-4710-42EF-B569-7DF473C79D22}" type="sibTrans" cxnId="{8B330848-C462-4257-9606-FAE68D304F77}">
      <dgm:prSet/>
      <dgm:spPr/>
      <dgm:t>
        <a:bodyPr/>
        <a:lstStyle/>
        <a:p>
          <a:endParaRPr lang="es-ES"/>
        </a:p>
      </dgm:t>
    </dgm:pt>
    <dgm:pt modelId="{2FF0BA1B-208D-4A52-9BA9-8B6A09185788}" type="pres">
      <dgm:prSet presAssocID="{5812053E-2E83-4B6C-8E5D-F2803ED7C926}" presName="linear" presStyleCnt="0">
        <dgm:presLayoutVars>
          <dgm:animLvl val="lvl"/>
          <dgm:resizeHandles val="exact"/>
        </dgm:presLayoutVars>
      </dgm:prSet>
      <dgm:spPr/>
    </dgm:pt>
    <dgm:pt modelId="{66FDC7A6-12FA-4171-B236-D6D68A0F570A}" type="pres">
      <dgm:prSet presAssocID="{F9E170A3-054F-41B7-9545-673CE81809F9}" presName="parentText" presStyleLbl="node1" presStyleIdx="0" presStyleCnt="1" custScaleY="248595">
        <dgm:presLayoutVars>
          <dgm:chMax val="0"/>
          <dgm:bulletEnabled val="1"/>
        </dgm:presLayoutVars>
      </dgm:prSet>
      <dgm:spPr/>
    </dgm:pt>
  </dgm:ptLst>
  <dgm:cxnLst>
    <dgm:cxn modelId="{8B330848-C462-4257-9606-FAE68D304F77}" srcId="{5812053E-2E83-4B6C-8E5D-F2803ED7C926}" destId="{F9E170A3-054F-41B7-9545-673CE81809F9}" srcOrd="0" destOrd="0" parTransId="{32875C36-1573-47BA-A9CB-E3D150AFCE9E}" sibTransId="{788107D5-4710-42EF-B569-7DF473C79D22}"/>
    <dgm:cxn modelId="{C635CD98-0D74-4C26-B2AA-E17C0F580F9E}" type="presOf" srcId="{F9E170A3-054F-41B7-9545-673CE81809F9}" destId="{66FDC7A6-12FA-4171-B236-D6D68A0F570A}" srcOrd="0" destOrd="0" presId="urn:microsoft.com/office/officeart/2005/8/layout/vList2"/>
    <dgm:cxn modelId="{FB77CAC6-588A-4E6F-8FBB-310097D0AACD}" type="presOf" srcId="{5812053E-2E83-4B6C-8E5D-F2803ED7C926}" destId="{2FF0BA1B-208D-4A52-9BA9-8B6A09185788}" srcOrd="0" destOrd="0" presId="urn:microsoft.com/office/officeart/2005/8/layout/vList2"/>
    <dgm:cxn modelId="{C4FFFD90-DB64-48E4-8EC1-71B4474F76D2}" type="presParOf" srcId="{2FF0BA1B-208D-4A52-9BA9-8B6A09185788}" destId="{66FDC7A6-12FA-4171-B236-D6D68A0F570A}"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E1EACC-56D5-430E-8952-769C09111FCA}" type="doc">
      <dgm:prSet loTypeId="urn:microsoft.com/office/officeart/2016/7/layout/RepeatingBendingProcessNew" loCatId="process" qsTypeId="urn:microsoft.com/office/officeart/2005/8/quickstyle/simple1" qsCatId="simple" csTypeId="urn:microsoft.com/office/officeart/2005/8/colors/accent4_1" csCatId="accent4" phldr="1"/>
      <dgm:spPr/>
      <dgm:t>
        <a:bodyPr/>
        <a:lstStyle/>
        <a:p>
          <a:endParaRPr lang="en-US"/>
        </a:p>
      </dgm:t>
    </dgm:pt>
    <dgm:pt modelId="{619EF199-8740-4986-BA54-9E7F4EB6155D}">
      <dgm:prSet/>
      <dgm:spPr/>
      <dgm:t>
        <a:bodyPr/>
        <a:lstStyle/>
        <a:p>
          <a:endParaRPr lang="es-ES" b="1" dirty="0"/>
        </a:p>
        <a:p>
          <a:r>
            <a:rPr lang="es-ES" b="1" dirty="0"/>
            <a:t>📌 Business </a:t>
          </a:r>
          <a:r>
            <a:rPr lang="es-ES" b="1" dirty="0" err="1"/>
            <a:t>Impact</a:t>
          </a:r>
          <a:r>
            <a:rPr lang="es-ES" b="1" dirty="0"/>
            <a:t>:</a:t>
          </a:r>
          <a:endParaRPr lang="en-US" dirty="0"/>
        </a:p>
      </dgm:t>
    </dgm:pt>
    <dgm:pt modelId="{5C1F4BC2-9547-4925-ABB0-D7073EC0291D}" type="parTrans" cxnId="{DDA3A415-3743-42B5-9D2A-0C314CCB8C6C}">
      <dgm:prSet/>
      <dgm:spPr/>
      <dgm:t>
        <a:bodyPr/>
        <a:lstStyle/>
        <a:p>
          <a:endParaRPr lang="en-US"/>
        </a:p>
      </dgm:t>
    </dgm:pt>
    <dgm:pt modelId="{DA2E6B9F-59A9-4F36-8481-9DD8C2A60ED8}" type="sibTrans" cxnId="{DDA3A415-3743-42B5-9D2A-0C314CCB8C6C}">
      <dgm:prSet/>
      <dgm:spPr/>
      <dgm:t>
        <a:bodyPr/>
        <a:lstStyle/>
        <a:p>
          <a:endParaRPr lang="en-US"/>
        </a:p>
      </dgm:t>
    </dgm:pt>
    <dgm:pt modelId="{D60CD645-7108-497F-A412-A3AA6F2A9E20}">
      <dgm:prSet/>
      <dgm:spPr/>
      <dgm:t>
        <a:bodyPr/>
        <a:lstStyle/>
        <a:p>
          <a:r>
            <a:rPr lang="en-US" b="0" dirty="0"/>
            <a:t>Hosts need to set competitive prices to maximize occupancy and profitability.</a:t>
          </a:r>
        </a:p>
        <a:p>
          <a:endParaRPr lang="en-US" dirty="0"/>
        </a:p>
      </dgm:t>
    </dgm:pt>
    <dgm:pt modelId="{C8D02FCF-6C2E-474F-9B5F-F73FB665D145}" type="parTrans" cxnId="{5BD3344E-9AB4-4A60-BAA6-ECEE92509606}">
      <dgm:prSet/>
      <dgm:spPr/>
      <dgm:t>
        <a:bodyPr/>
        <a:lstStyle/>
        <a:p>
          <a:endParaRPr lang="en-US"/>
        </a:p>
      </dgm:t>
    </dgm:pt>
    <dgm:pt modelId="{483ED37E-EBBC-4001-AED2-9EAAC1F5FA94}" type="sibTrans" cxnId="{5BD3344E-9AB4-4A60-BAA6-ECEE92509606}">
      <dgm:prSet/>
      <dgm:spPr/>
      <dgm:t>
        <a:bodyPr/>
        <a:lstStyle/>
        <a:p>
          <a:endParaRPr lang="en-US"/>
        </a:p>
      </dgm:t>
    </dgm:pt>
    <dgm:pt modelId="{117BA3CD-848A-42E8-802F-E741972A0BC5}">
      <dgm:prSet/>
      <dgm:spPr/>
      <dgm:t>
        <a:bodyPr/>
        <a:lstStyle/>
        <a:p>
          <a:r>
            <a:rPr lang="en-US" dirty="0"/>
            <a:t>Guests are looking to find the best value for money in their accommodations. Local authorities must monitor trends and regulate the impact on the economy and community.</a:t>
          </a:r>
        </a:p>
      </dgm:t>
    </dgm:pt>
    <dgm:pt modelId="{189C648A-44B6-4766-871D-B27D66033F11}" type="parTrans" cxnId="{4F6C0E93-3917-4890-864C-067B1C70ACC8}">
      <dgm:prSet/>
      <dgm:spPr/>
      <dgm:t>
        <a:bodyPr/>
        <a:lstStyle/>
        <a:p>
          <a:endParaRPr lang="en-US"/>
        </a:p>
      </dgm:t>
    </dgm:pt>
    <dgm:pt modelId="{ACDE61D8-E4C1-4DB4-9E87-1989ED8ED716}" type="sibTrans" cxnId="{4F6C0E93-3917-4890-864C-067B1C70ACC8}">
      <dgm:prSet/>
      <dgm:spPr/>
      <dgm:t>
        <a:bodyPr/>
        <a:lstStyle/>
        <a:p>
          <a:endParaRPr lang="en-US"/>
        </a:p>
      </dgm:t>
    </dgm:pt>
    <dgm:pt modelId="{34E283BC-8E07-4CEC-9174-AE4605577392}" type="pres">
      <dgm:prSet presAssocID="{F5E1EACC-56D5-430E-8952-769C09111FCA}" presName="Name0" presStyleCnt="0">
        <dgm:presLayoutVars>
          <dgm:dir/>
          <dgm:resizeHandles val="exact"/>
        </dgm:presLayoutVars>
      </dgm:prSet>
      <dgm:spPr/>
    </dgm:pt>
    <dgm:pt modelId="{D8CEE1EB-AF3E-4FB4-ACF2-EBE062AD7BE7}" type="pres">
      <dgm:prSet presAssocID="{619EF199-8740-4986-BA54-9E7F4EB6155D}" presName="node" presStyleLbl="node1" presStyleIdx="0" presStyleCnt="3">
        <dgm:presLayoutVars>
          <dgm:bulletEnabled val="1"/>
        </dgm:presLayoutVars>
      </dgm:prSet>
      <dgm:spPr/>
    </dgm:pt>
    <dgm:pt modelId="{CF3020C9-6104-444F-9F5A-CABCE48EBB23}" type="pres">
      <dgm:prSet presAssocID="{DA2E6B9F-59A9-4F36-8481-9DD8C2A60ED8}" presName="sibTrans" presStyleLbl="sibTrans1D1" presStyleIdx="0" presStyleCnt="2"/>
      <dgm:spPr/>
    </dgm:pt>
    <dgm:pt modelId="{E7234E2C-EE97-4805-A520-3712E6FE3EF2}" type="pres">
      <dgm:prSet presAssocID="{DA2E6B9F-59A9-4F36-8481-9DD8C2A60ED8}" presName="connectorText" presStyleLbl="sibTrans1D1" presStyleIdx="0" presStyleCnt="2"/>
      <dgm:spPr/>
    </dgm:pt>
    <dgm:pt modelId="{E65A3F29-BEA9-4B9F-9173-51289E6592E1}" type="pres">
      <dgm:prSet presAssocID="{D60CD645-7108-497F-A412-A3AA6F2A9E20}" presName="node" presStyleLbl="node1" presStyleIdx="1" presStyleCnt="3">
        <dgm:presLayoutVars>
          <dgm:bulletEnabled val="1"/>
        </dgm:presLayoutVars>
      </dgm:prSet>
      <dgm:spPr/>
    </dgm:pt>
    <dgm:pt modelId="{E557D755-86DC-4E3F-A37E-85190EE4F818}" type="pres">
      <dgm:prSet presAssocID="{483ED37E-EBBC-4001-AED2-9EAAC1F5FA94}" presName="sibTrans" presStyleLbl="sibTrans1D1" presStyleIdx="1" presStyleCnt="2"/>
      <dgm:spPr/>
    </dgm:pt>
    <dgm:pt modelId="{8BECBBC4-B919-45D8-9AF3-291575F7A920}" type="pres">
      <dgm:prSet presAssocID="{483ED37E-EBBC-4001-AED2-9EAAC1F5FA94}" presName="connectorText" presStyleLbl="sibTrans1D1" presStyleIdx="1" presStyleCnt="2"/>
      <dgm:spPr/>
    </dgm:pt>
    <dgm:pt modelId="{8BF39A9B-E656-4086-A609-F531A1728E38}" type="pres">
      <dgm:prSet presAssocID="{117BA3CD-848A-42E8-802F-E741972A0BC5}" presName="node" presStyleLbl="node1" presStyleIdx="2" presStyleCnt="3">
        <dgm:presLayoutVars>
          <dgm:bulletEnabled val="1"/>
        </dgm:presLayoutVars>
      </dgm:prSet>
      <dgm:spPr/>
    </dgm:pt>
  </dgm:ptLst>
  <dgm:cxnLst>
    <dgm:cxn modelId="{50EEF204-6866-4F81-B8D6-E522CBFCDB8D}" type="presOf" srcId="{483ED37E-EBBC-4001-AED2-9EAAC1F5FA94}" destId="{E557D755-86DC-4E3F-A37E-85190EE4F818}" srcOrd="0" destOrd="0" presId="urn:microsoft.com/office/officeart/2016/7/layout/RepeatingBendingProcessNew"/>
    <dgm:cxn modelId="{ABDEB307-2F78-42C0-A9E7-7D3291C01235}" type="presOf" srcId="{DA2E6B9F-59A9-4F36-8481-9DD8C2A60ED8}" destId="{CF3020C9-6104-444F-9F5A-CABCE48EBB23}" srcOrd="0" destOrd="0" presId="urn:microsoft.com/office/officeart/2016/7/layout/RepeatingBendingProcessNew"/>
    <dgm:cxn modelId="{DDA3A415-3743-42B5-9D2A-0C314CCB8C6C}" srcId="{F5E1EACC-56D5-430E-8952-769C09111FCA}" destId="{619EF199-8740-4986-BA54-9E7F4EB6155D}" srcOrd="0" destOrd="0" parTransId="{5C1F4BC2-9547-4925-ABB0-D7073EC0291D}" sibTransId="{DA2E6B9F-59A9-4F36-8481-9DD8C2A60ED8}"/>
    <dgm:cxn modelId="{3EC01E17-2C66-4D53-BAB8-7310AD4FF259}" type="presOf" srcId="{DA2E6B9F-59A9-4F36-8481-9DD8C2A60ED8}" destId="{E7234E2C-EE97-4805-A520-3712E6FE3EF2}" srcOrd="1" destOrd="0" presId="urn:microsoft.com/office/officeart/2016/7/layout/RepeatingBendingProcessNew"/>
    <dgm:cxn modelId="{A7C8C94A-77E7-45EA-A6C1-C164327CF7C9}" type="presOf" srcId="{D60CD645-7108-497F-A412-A3AA6F2A9E20}" destId="{E65A3F29-BEA9-4B9F-9173-51289E6592E1}" srcOrd="0" destOrd="0" presId="urn:microsoft.com/office/officeart/2016/7/layout/RepeatingBendingProcessNew"/>
    <dgm:cxn modelId="{53A20B4E-3C6F-4E2A-AE32-7DF59847E782}" type="presOf" srcId="{F5E1EACC-56D5-430E-8952-769C09111FCA}" destId="{34E283BC-8E07-4CEC-9174-AE4605577392}" srcOrd="0" destOrd="0" presId="urn:microsoft.com/office/officeart/2016/7/layout/RepeatingBendingProcessNew"/>
    <dgm:cxn modelId="{5BD3344E-9AB4-4A60-BAA6-ECEE92509606}" srcId="{F5E1EACC-56D5-430E-8952-769C09111FCA}" destId="{D60CD645-7108-497F-A412-A3AA6F2A9E20}" srcOrd="1" destOrd="0" parTransId="{C8D02FCF-6C2E-474F-9B5F-F73FB665D145}" sibTransId="{483ED37E-EBBC-4001-AED2-9EAAC1F5FA94}"/>
    <dgm:cxn modelId="{4F6C0E93-3917-4890-864C-067B1C70ACC8}" srcId="{F5E1EACC-56D5-430E-8952-769C09111FCA}" destId="{117BA3CD-848A-42E8-802F-E741972A0BC5}" srcOrd="2" destOrd="0" parTransId="{189C648A-44B6-4766-871D-B27D66033F11}" sibTransId="{ACDE61D8-E4C1-4DB4-9E87-1989ED8ED716}"/>
    <dgm:cxn modelId="{DA0D299E-1523-4AE6-B58E-4D4D8C904540}" type="presOf" srcId="{619EF199-8740-4986-BA54-9E7F4EB6155D}" destId="{D8CEE1EB-AF3E-4FB4-ACF2-EBE062AD7BE7}" srcOrd="0" destOrd="0" presId="urn:microsoft.com/office/officeart/2016/7/layout/RepeatingBendingProcessNew"/>
    <dgm:cxn modelId="{C6DD1EAA-AC65-4C70-923B-C11DB086DB3F}" type="presOf" srcId="{483ED37E-EBBC-4001-AED2-9EAAC1F5FA94}" destId="{8BECBBC4-B919-45D8-9AF3-291575F7A920}" srcOrd="1" destOrd="0" presId="urn:microsoft.com/office/officeart/2016/7/layout/RepeatingBendingProcessNew"/>
    <dgm:cxn modelId="{21A991ED-FAF5-410C-886F-55FD9DA299A9}" type="presOf" srcId="{117BA3CD-848A-42E8-802F-E741972A0BC5}" destId="{8BF39A9B-E656-4086-A609-F531A1728E38}" srcOrd="0" destOrd="0" presId="urn:microsoft.com/office/officeart/2016/7/layout/RepeatingBendingProcessNew"/>
    <dgm:cxn modelId="{500FDC0C-D6BA-415D-9393-9F8C951E1067}" type="presParOf" srcId="{34E283BC-8E07-4CEC-9174-AE4605577392}" destId="{D8CEE1EB-AF3E-4FB4-ACF2-EBE062AD7BE7}" srcOrd="0" destOrd="0" presId="urn:microsoft.com/office/officeart/2016/7/layout/RepeatingBendingProcessNew"/>
    <dgm:cxn modelId="{584F41AB-50ED-42B2-8513-437F3EB17957}" type="presParOf" srcId="{34E283BC-8E07-4CEC-9174-AE4605577392}" destId="{CF3020C9-6104-444F-9F5A-CABCE48EBB23}" srcOrd="1" destOrd="0" presId="urn:microsoft.com/office/officeart/2016/7/layout/RepeatingBendingProcessNew"/>
    <dgm:cxn modelId="{A29A7B4F-8FF1-421C-BAE8-B27B53C6955E}" type="presParOf" srcId="{CF3020C9-6104-444F-9F5A-CABCE48EBB23}" destId="{E7234E2C-EE97-4805-A520-3712E6FE3EF2}" srcOrd="0" destOrd="0" presId="urn:microsoft.com/office/officeart/2016/7/layout/RepeatingBendingProcessNew"/>
    <dgm:cxn modelId="{DD89FA74-D09F-438F-BD8A-CAD533999EE5}" type="presParOf" srcId="{34E283BC-8E07-4CEC-9174-AE4605577392}" destId="{E65A3F29-BEA9-4B9F-9173-51289E6592E1}" srcOrd="2" destOrd="0" presId="urn:microsoft.com/office/officeart/2016/7/layout/RepeatingBendingProcessNew"/>
    <dgm:cxn modelId="{C203B701-6DBF-41DB-9195-8672081B5DD4}" type="presParOf" srcId="{34E283BC-8E07-4CEC-9174-AE4605577392}" destId="{E557D755-86DC-4E3F-A37E-85190EE4F818}" srcOrd="3" destOrd="0" presId="urn:microsoft.com/office/officeart/2016/7/layout/RepeatingBendingProcessNew"/>
    <dgm:cxn modelId="{10809F30-5302-4CD0-A651-0912178EF734}" type="presParOf" srcId="{E557D755-86DC-4E3F-A37E-85190EE4F818}" destId="{8BECBBC4-B919-45D8-9AF3-291575F7A920}" srcOrd="0" destOrd="0" presId="urn:microsoft.com/office/officeart/2016/7/layout/RepeatingBendingProcessNew"/>
    <dgm:cxn modelId="{A8A63AB2-A5C3-4620-875F-902DB0F79FB1}" type="presParOf" srcId="{34E283BC-8E07-4CEC-9174-AE4605577392}" destId="{8BF39A9B-E656-4086-A609-F531A1728E38}" srcOrd="4" destOrd="0" presId="urn:microsoft.com/office/officeart/2016/7/layout/RepeatingBendingProcessNew"/>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D81E56-EE00-4358-8D77-286FFF943163}" type="doc">
      <dgm:prSet loTypeId="urn:microsoft.com/office/officeart/2005/8/layout/vList2" loCatId="list" qsTypeId="urn:microsoft.com/office/officeart/2005/8/quickstyle/simple2" qsCatId="simple" csTypeId="urn:microsoft.com/office/officeart/2005/8/colors/accent3_2" csCatId="accent3" phldr="1"/>
      <dgm:spPr/>
      <dgm:t>
        <a:bodyPr/>
        <a:lstStyle/>
        <a:p>
          <a:endParaRPr lang="es-ES"/>
        </a:p>
      </dgm:t>
    </dgm:pt>
    <dgm:pt modelId="{E14C2576-9E11-4781-8B24-6B1A50F89CDF}">
      <dgm:prSet/>
      <dgm:spPr/>
      <dgm:t>
        <a:bodyPr/>
        <a:lstStyle/>
        <a:p>
          <a:pPr>
            <a:lnSpc>
              <a:spcPct val="100000"/>
            </a:lnSpc>
          </a:pPr>
          <a:r>
            <a:rPr lang="es-ES" dirty="0"/>
            <a:t>📌 </a:t>
          </a:r>
          <a:r>
            <a:rPr lang="es-ES" dirty="0" err="1"/>
            <a:t>Dataset</a:t>
          </a:r>
          <a:r>
            <a:rPr lang="es-ES" dirty="0"/>
            <a:t> </a:t>
          </a:r>
          <a:r>
            <a:rPr lang="es-ES" dirty="0" err="1"/>
            <a:t>Description</a:t>
          </a:r>
          <a:endParaRPr lang="es-ES" dirty="0"/>
        </a:p>
      </dgm:t>
    </dgm:pt>
    <dgm:pt modelId="{851608EF-5CA7-4D97-ADAF-A9CDE34F1427}" type="parTrans" cxnId="{450155F8-EE17-4008-9752-E417789F1DE5}">
      <dgm:prSet/>
      <dgm:spPr/>
      <dgm:t>
        <a:bodyPr/>
        <a:lstStyle/>
        <a:p>
          <a:endParaRPr lang="es-ES"/>
        </a:p>
      </dgm:t>
    </dgm:pt>
    <dgm:pt modelId="{5BF0C316-0D52-4187-B08F-C2869EA4B848}" type="sibTrans" cxnId="{450155F8-EE17-4008-9752-E417789F1DE5}">
      <dgm:prSet/>
      <dgm:spPr/>
      <dgm:t>
        <a:bodyPr/>
        <a:lstStyle/>
        <a:p>
          <a:endParaRPr lang="es-ES"/>
        </a:p>
      </dgm:t>
    </dgm:pt>
    <dgm:pt modelId="{9C5A5DED-AB49-42D5-B78C-240377DBCD00}">
      <dgm:prSet/>
      <dgm:spPr/>
      <dgm:t>
        <a:bodyPr/>
        <a:lstStyle/>
        <a:p>
          <a:pPr>
            <a:lnSpc>
              <a:spcPct val="100000"/>
            </a:lnSpc>
          </a:pPr>
          <a:r>
            <a:rPr lang="en-US" b="1" dirty="0"/>
            <a:t>Source:</a:t>
          </a:r>
          <a:r>
            <a:rPr lang="en-US" dirty="0"/>
            <a:t> Airbnb data from various cities.</a:t>
          </a:r>
        </a:p>
      </dgm:t>
    </dgm:pt>
    <dgm:pt modelId="{73AD0F73-2869-4FB4-B86F-88124CB8DEB5}" type="parTrans" cxnId="{D9EDB2E5-FC13-4E55-88F3-2E3B6B1E9F41}">
      <dgm:prSet/>
      <dgm:spPr/>
      <dgm:t>
        <a:bodyPr/>
        <a:lstStyle/>
        <a:p>
          <a:endParaRPr lang="es-ES"/>
        </a:p>
      </dgm:t>
    </dgm:pt>
    <dgm:pt modelId="{342F3E79-4339-48B6-844D-833F1BC623AB}" type="sibTrans" cxnId="{D9EDB2E5-FC13-4E55-88F3-2E3B6B1E9F41}">
      <dgm:prSet/>
      <dgm:spPr/>
      <dgm:t>
        <a:bodyPr/>
        <a:lstStyle/>
        <a:p>
          <a:endParaRPr lang="es-ES"/>
        </a:p>
      </dgm:t>
    </dgm:pt>
    <dgm:pt modelId="{47D8B12B-0A7C-4225-9D6A-69C5730D6E14}">
      <dgm:prSet/>
      <dgm:spPr/>
      <dgm:t>
        <a:bodyPr/>
        <a:lstStyle/>
        <a:p>
          <a:pPr>
            <a:lnSpc>
              <a:spcPct val="100000"/>
            </a:lnSpc>
          </a:pPr>
          <a:r>
            <a:rPr lang="es-ES" b="1" dirty="0" err="1"/>
            <a:t>Number</a:t>
          </a:r>
          <a:r>
            <a:rPr lang="es-ES" b="1" dirty="0"/>
            <a:t> </a:t>
          </a:r>
          <a:r>
            <a:rPr lang="es-ES" b="1" dirty="0" err="1"/>
            <a:t>of</a:t>
          </a:r>
          <a:r>
            <a:rPr lang="es-ES" b="1" dirty="0"/>
            <a:t> </a:t>
          </a:r>
          <a:r>
            <a:rPr lang="es-ES" b="1" dirty="0" err="1"/>
            <a:t>records</a:t>
          </a:r>
          <a:r>
            <a:rPr lang="es-ES" b="1" dirty="0"/>
            <a:t>:</a:t>
          </a:r>
          <a:r>
            <a:rPr lang="es-ES" dirty="0"/>
            <a:t> 207,602</a:t>
          </a:r>
        </a:p>
      </dgm:t>
    </dgm:pt>
    <dgm:pt modelId="{1CECF670-CF5A-45E4-8B2F-E004197BC500}" type="parTrans" cxnId="{983D28D7-6553-47CD-8834-02FAB1B962E1}">
      <dgm:prSet/>
      <dgm:spPr/>
      <dgm:t>
        <a:bodyPr/>
        <a:lstStyle/>
        <a:p>
          <a:endParaRPr lang="es-ES"/>
        </a:p>
      </dgm:t>
    </dgm:pt>
    <dgm:pt modelId="{3BA108EF-1B75-4D74-A25D-564AAE658E54}" type="sibTrans" cxnId="{983D28D7-6553-47CD-8834-02FAB1B962E1}">
      <dgm:prSet/>
      <dgm:spPr/>
      <dgm:t>
        <a:bodyPr/>
        <a:lstStyle/>
        <a:p>
          <a:endParaRPr lang="es-ES"/>
        </a:p>
      </dgm:t>
    </dgm:pt>
    <dgm:pt modelId="{1080734F-83E7-4734-854A-7BBFFAC870B5}">
      <dgm:prSet/>
      <dgm:spPr/>
      <dgm:t>
        <a:bodyPr/>
        <a:lstStyle/>
        <a:p>
          <a:pPr>
            <a:lnSpc>
              <a:spcPct val="100000"/>
            </a:lnSpc>
          </a:pPr>
          <a:r>
            <a:rPr lang="es-ES" b="1" dirty="0"/>
            <a:t>Key variables:</a:t>
          </a:r>
          <a:endParaRPr lang="es-ES" dirty="0"/>
        </a:p>
      </dgm:t>
    </dgm:pt>
    <dgm:pt modelId="{6F8E64CA-8035-4FDC-9200-0ECBAC32333C}" type="parTrans" cxnId="{A8B6AE25-9E26-4BBF-A2D6-F00548072E72}">
      <dgm:prSet/>
      <dgm:spPr/>
      <dgm:t>
        <a:bodyPr/>
        <a:lstStyle/>
        <a:p>
          <a:endParaRPr lang="es-ES"/>
        </a:p>
      </dgm:t>
    </dgm:pt>
    <dgm:pt modelId="{3E35879A-F421-45F6-9E78-8F23B5540A27}" type="sibTrans" cxnId="{A8B6AE25-9E26-4BBF-A2D6-F00548072E72}">
      <dgm:prSet/>
      <dgm:spPr/>
      <dgm:t>
        <a:bodyPr/>
        <a:lstStyle/>
        <a:p>
          <a:endParaRPr lang="es-ES"/>
        </a:p>
      </dgm:t>
    </dgm:pt>
    <dgm:pt modelId="{76FB66AF-10CD-4998-919E-C96DB5653599}">
      <dgm:prSet/>
      <dgm:spPr/>
      <dgm:t>
        <a:bodyPr/>
        <a:lstStyle/>
        <a:p>
          <a:pPr>
            <a:lnSpc>
              <a:spcPct val="100000"/>
            </a:lnSpc>
            <a:buFont typeface="Arial" panose="020B0604020202020204" pitchFamily="34" charset="0"/>
            <a:buChar char="•"/>
          </a:pPr>
          <a:r>
            <a:rPr lang="en-US" b="1" dirty="0"/>
            <a:t>Price</a:t>
          </a:r>
          <a:endParaRPr lang="es-ES" dirty="0"/>
        </a:p>
      </dgm:t>
    </dgm:pt>
    <dgm:pt modelId="{0D0355B4-3C65-4B68-8BC2-67E9AD2F6941}" type="parTrans" cxnId="{5131D810-4825-48D6-BE4E-C560FDAA4CE6}">
      <dgm:prSet/>
      <dgm:spPr/>
      <dgm:t>
        <a:bodyPr/>
        <a:lstStyle/>
        <a:p>
          <a:endParaRPr lang="es-ES"/>
        </a:p>
      </dgm:t>
    </dgm:pt>
    <dgm:pt modelId="{5BF4EE86-921E-4515-9CCA-B313A19D0F1B}" type="sibTrans" cxnId="{5131D810-4825-48D6-BE4E-C560FDAA4CE6}">
      <dgm:prSet/>
      <dgm:spPr/>
      <dgm:t>
        <a:bodyPr/>
        <a:lstStyle/>
        <a:p>
          <a:endParaRPr lang="es-ES"/>
        </a:p>
      </dgm:t>
    </dgm:pt>
    <dgm:pt modelId="{46F60A6D-1D1D-4DC1-9E49-461D69646D6A}">
      <dgm:prSet/>
      <dgm:spPr/>
      <dgm:t>
        <a:bodyPr/>
        <a:lstStyle/>
        <a:p>
          <a:pPr>
            <a:lnSpc>
              <a:spcPct val="100000"/>
            </a:lnSpc>
            <a:buFont typeface="Arial" panose="020B0604020202020204" pitchFamily="34" charset="0"/>
            <a:buChar char="•"/>
          </a:pPr>
          <a:r>
            <a:rPr lang="en-US" b="1" dirty="0"/>
            <a:t>Room type</a:t>
          </a:r>
          <a:endParaRPr lang="es-ES" dirty="0"/>
        </a:p>
      </dgm:t>
    </dgm:pt>
    <dgm:pt modelId="{BFE6898B-B2AF-4589-ADAB-B38E98EA3A70}" type="parTrans" cxnId="{5734A038-0243-4A57-9AFC-F668BC5A73BB}">
      <dgm:prSet/>
      <dgm:spPr/>
      <dgm:t>
        <a:bodyPr/>
        <a:lstStyle/>
        <a:p>
          <a:endParaRPr lang="es-ES"/>
        </a:p>
      </dgm:t>
    </dgm:pt>
    <dgm:pt modelId="{7280EF40-952B-448A-A92C-C7F73B819BA5}" type="sibTrans" cxnId="{5734A038-0243-4A57-9AFC-F668BC5A73BB}">
      <dgm:prSet/>
      <dgm:spPr/>
      <dgm:t>
        <a:bodyPr/>
        <a:lstStyle/>
        <a:p>
          <a:endParaRPr lang="es-ES"/>
        </a:p>
      </dgm:t>
    </dgm:pt>
    <dgm:pt modelId="{D69B321A-16DE-4B28-8E3C-DD6C0FA39E13}">
      <dgm:prSet/>
      <dgm:spPr/>
      <dgm:t>
        <a:bodyPr/>
        <a:lstStyle/>
        <a:p>
          <a:pPr>
            <a:lnSpc>
              <a:spcPct val="100000"/>
            </a:lnSpc>
            <a:buFont typeface="Arial" panose="020B0604020202020204" pitchFamily="34" charset="0"/>
            <a:buChar char="•"/>
          </a:pPr>
          <a:r>
            <a:rPr lang="en-US" b="1" dirty="0"/>
            <a:t>Availability (days per year)</a:t>
          </a:r>
          <a:endParaRPr lang="es-ES" dirty="0"/>
        </a:p>
      </dgm:t>
    </dgm:pt>
    <dgm:pt modelId="{C896F029-304F-45C6-9868-F9C4811FD6CB}" type="parTrans" cxnId="{5C141D00-6E3C-4B6E-BC59-63956028F5DA}">
      <dgm:prSet/>
      <dgm:spPr/>
      <dgm:t>
        <a:bodyPr/>
        <a:lstStyle/>
        <a:p>
          <a:endParaRPr lang="es-ES"/>
        </a:p>
      </dgm:t>
    </dgm:pt>
    <dgm:pt modelId="{E85B5984-FCB0-4E92-98FE-D4C5095B4F66}" type="sibTrans" cxnId="{5C141D00-6E3C-4B6E-BC59-63956028F5DA}">
      <dgm:prSet/>
      <dgm:spPr/>
      <dgm:t>
        <a:bodyPr/>
        <a:lstStyle/>
        <a:p>
          <a:endParaRPr lang="es-ES"/>
        </a:p>
      </dgm:t>
    </dgm:pt>
    <dgm:pt modelId="{900217A8-F51F-44A6-BAAB-E4B7AC0885A4}">
      <dgm:prSet/>
      <dgm:spPr/>
      <dgm:t>
        <a:bodyPr/>
        <a:lstStyle/>
        <a:p>
          <a:pPr>
            <a:lnSpc>
              <a:spcPct val="100000"/>
            </a:lnSpc>
            <a:buFont typeface="Arial" panose="020B0604020202020204" pitchFamily="34" charset="0"/>
            <a:buChar char="•"/>
          </a:pPr>
          <a:r>
            <a:rPr lang="en-US" b="1" dirty="0"/>
            <a:t>Number of reviews and rating</a:t>
          </a:r>
          <a:endParaRPr lang="es-ES" dirty="0"/>
        </a:p>
      </dgm:t>
    </dgm:pt>
    <dgm:pt modelId="{D0F4E7A2-2E65-40E7-8506-B7F5D380452F}" type="parTrans" cxnId="{497160EB-358C-431D-8F5E-E166AAB3F7D4}">
      <dgm:prSet/>
      <dgm:spPr/>
      <dgm:t>
        <a:bodyPr/>
        <a:lstStyle/>
        <a:p>
          <a:endParaRPr lang="es-ES"/>
        </a:p>
      </dgm:t>
    </dgm:pt>
    <dgm:pt modelId="{A2AA66A1-9465-4A37-8071-B5EEE65CC104}" type="sibTrans" cxnId="{497160EB-358C-431D-8F5E-E166AAB3F7D4}">
      <dgm:prSet/>
      <dgm:spPr/>
      <dgm:t>
        <a:bodyPr/>
        <a:lstStyle/>
        <a:p>
          <a:endParaRPr lang="es-ES"/>
        </a:p>
      </dgm:t>
    </dgm:pt>
    <dgm:pt modelId="{7870E0EF-0F1A-431E-A9AD-B30A186443AF}">
      <dgm:prSet/>
      <dgm:spPr/>
      <dgm:t>
        <a:bodyPr/>
        <a:lstStyle/>
        <a:p>
          <a:pPr>
            <a:lnSpc>
              <a:spcPct val="100000"/>
            </a:lnSpc>
            <a:buFont typeface="Arial" panose="020B0604020202020204" pitchFamily="34" charset="0"/>
            <a:buChar char="•"/>
          </a:pPr>
          <a:r>
            <a:rPr lang="en-US" b="1" dirty="0"/>
            <a:t>Location (latitude/longitude, neighborhood, state)</a:t>
          </a:r>
          <a:endParaRPr lang="es-ES" dirty="0"/>
        </a:p>
      </dgm:t>
    </dgm:pt>
    <dgm:pt modelId="{82C84612-647D-47C1-BE8E-0AEB879F0CCA}" type="parTrans" cxnId="{27F6AEEA-ECFF-4279-81F9-7C4F5AFCAB97}">
      <dgm:prSet/>
      <dgm:spPr/>
      <dgm:t>
        <a:bodyPr/>
        <a:lstStyle/>
        <a:p>
          <a:endParaRPr lang="es-ES"/>
        </a:p>
      </dgm:t>
    </dgm:pt>
    <dgm:pt modelId="{864C1AC8-6BFA-4E7C-A84E-885E9E920A7C}" type="sibTrans" cxnId="{27F6AEEA-ECFF-4279-81F9-7C4F5AFCAB97}">
      <dgm:prSet/>
      <dgm:spPr/>
      <dgm:t>
        <a:bodyPr/>
        <a:lstStyle/>
        <a:p>
          <a:endParaRPr lang="es-ES"/>
        </a:p>
      </dgm:t>
    </dgm:pt>
    <dgm:pt modelId="{C6DF5C02-9508-4266-8CF7-9FFD352F101F}" type="pres">
      <dgm:prSet presAssocID="{C8D81E56-EE00-4358-8D77-286FFF943163}" presName="linear" presStyleCnt="0">
        <dgm:presLayoutVars>
          <dgm:animLvl val="lvl"/>
          <dgm:resizeHandles val="exact"/>
        </dgm:presLayoutVars>
      </dgm:prSet>
      <dgm:spPr/>
    </dgm:pt>
    <dgm:pt modelId="{DE72C64D-039C-4C02-BBC3-3656297EB0FB}" type="pres">
      <dgm:prSet presAssocID="{E14C2576-9E11-4781-8B24-6B1A50F89CDF}" presName="parentText" presStyleLbl="node1" presStyleIdx="0" presStyleCnt="4">
        <dgm:presLayoutVars>
          <dgm:chMax val="0"/>
          <dgm:bulletEnabled val="1"/>
        </dgm:presLayoutVars>
      </dgm:prSet>
      <dgm:spPr/>
    </dgm:pt>
    <dgm:pt modelId="{D10027C2-829E-41AF-98FF-5DB1D058BF17}" type="pres">
      <dgm:prSet presAssocID="{5BF0C316-0D52-4187-B08F-C2869EA4B848}" presName="spacer" presStyleCnt="0"/>
      <dgm:spPr/>
    </dgm:pt>
    <dgm:pt modelId="{2EDA2DCF-6ABF-411E-9D81-11323277F657}" type="pres">
      <dgm:prSet presAssocID="{9C5A5DED-AB49-42D5-B78C-240377DBCD00}" presName="parentText" presStyleLbl="node1" presStyleIdx="1" presStyleCnt="4">
        <dgm:presLayoutVars>
          <dgm:chMax val="0"/>
          <dgm:bulletEnabled val="1"/>
        </dgm:presLayoutVars>
      </dgm:prSet>
      <dgm:spPr/>
    </dgm:pt>
    <dgm:pt modelId="{32786628-E7F9-459C-988F-7886FC635F2F}" type="pres">
      <dgm:prSet presAssocID="{342F3E79-4339-48B6-844D-833F1BC623AB}" presName="spacer" presStyleCnt="0"/>
      <dgm:spPr/>
    </dgm:pt>
    <dgm:pt modelId="{E7064433-4FD9-45F5-835F-C9136D890C31}" type="pres">
      <dgm:prSet presAssocID="{47D8B12B-0A7C-4225-9D6A-69C5730D6E14}" presName="parentText" presStyleLbl="node1" presStyleIdx="2" presStyleCnt="4">
        <dgm:presLayoutVars>
          <dgm:chMax val="0"/>
          <dgm:bulletEnabled val="1"/>
        </dgm:presLayoutVars>
      </dgm:prSet>
      <dgm:spPr/>
    </dgm:pt>
    <dgm:pt modelId="{0B2E40D6-8E13-4056-AA0E-AE58C34E1791}" type="pres">
      <dgm:prSet presAssocID="{3BA108EF-1B75-4D74-A25D-564AAE658E54}" presName="spacer" presStyleCnt="0"/>
      <dgm:spPr/>
    </dgm:pt>
    <dgm:pt modelId="{C8980B66-AE9F-4B80-B3BF-61A99B76F8BA}" type="pres">
      <dgm:prSet presAssocID="{1080734F-83E7-4734-854A-7BBFFAC870B5}" presName="parentText" presStyleLbl="node1" presStyleIdx="3" presStyleCnt="4">
        <dgm:presLayoutVars>
          <dgm:chMax val="0"/>
          <dgm:bulletEnabled val="1"/>
        </dgm:presLayoutVars>
      </dgm:prSet>
      <dgm:spPr/>
    </dgm:pt>
    <dgm:pt modelId="{85B3F82B-9752-4B4C-A749-3BB559A0FB2C}" type="pres">
      <dgm:prSet presAssocID="{1080734F-83E7-4734-854A-7BBFFAC870B5}" presName="childText" presStyleLbl="revTx" presStyleIdx="0" presStyleCnt="1">
        <dgm:presLayoutVars>
          <dgm:bulletEnabled val="1"/>
        </dgm:presLayoutVars>
      </dgm:prSet>
      <dgm:spPr/>
    </dgm:pt>
  </dgm:ptLst>
  <dgm:cxnLst>
    <dgm:cxn modelId="{5C141D00-6E3C-4B6E-BC59-63956028F5DA}" srcId="{1080734F-83E7-4734-854A-7BBFFAC870B5}" destId="{D69B321A-16DE-4B28-8E3C-DD6C0FA39E13}" srcOrd="2" destOrd="0" parTransId="{C896F029-304F-45C6-9868-F9C4811FD6CB}" sibTransId="{E85B5984-FCB0-4E92-98FE-D4C5095B4F66}"/>
    <dgm:cxn modelId="{BBC79706-F193-4501-9A0B-5A2E3D74A517}" type="presOf" srcId="{D69B321A-16DE-4B28-8E3C-DD6C0FA39E13}" destId="{85B3F82B-9752-4B4C-A749-3BB559A0FB2C}" srcOrd="0" destOrd="2" presId="urn:microsoft.com/office/officeart/2005/8/layout/vList2"/>
    <dgm:cxn modelId="{FF2B7A09-E971-4CCA-9CAC-CA70D8E19CD9}" type="presOf" srcId="{9C5A5DED-AB49-42D5-B78C-240377DBCD00}" destId="{2EDA2DCF-6ABF-411E-9D81-11323277F657}" srcOrd="0" destOrd="0" presId="urn:microsoft.com/office/officeart/2005/8/layout/vList2"/>
    <dgm:cxn modelId="{5131D810-4825-48D6-BE4E-C560FDAA4CE6}" srcId="{1080734F-83E7-4734-854A-7BBFFAC870B5}" destId="{76FB66AF-10CD-4998-919E-C96DB5653599}" srcOrd="0" destOrd="0" parTransId="{0D0355B4-3C65-4B68-8BC2-67E9AD2F6941}" sibTransId="{5BF4EE86-921E-4515-9CCA-B313A19D0F1B}"/>
    <dgm:cxn modelId="{A8B6AE25-9E26-4BBF-A2D6-F00548072E72}" srcId="{C8D81E56-EE00-4358-8D77-286FFF943163}" destId="{1080734F-83E7-4734-854A-7BBFFAC870B5}" srcOrd="3" destOrd="0" parTransId="{6F8E64CA-8035-4FDC-9200-0ECBAC32333C}" sibTransId="{3E35879A-F421-45F6-9E78-8F23B5540A27}"/>
    <dgm:cxn modelId="{E2495C2A-32CC-4D10-9628-E852EBA9C8FB}" type="presOf" srcId="{900217A8-F51F-44A6-BAAB-E4B7AC0885A4}" destId="{85B3F82B-9752-4B4C-A749-3BB559A0FB2C}" srcOrd="0" destOrd="3" presId="urn:microsoft.com/office/officeart/2005/8/layout/vList2"/>
    <dgm:cxn modelId="{747F8B35-49D9-40F7-9B69-F066CA50D768}" type="presOf" srcId="{46F60A6D-1D1D-4DC1-9E49-461D69646D6A}" destId="{85B3F82B-9752-4B4C-A749-3BB559A0FB2C}" srcOrd="0" destOrd="1" presId="urn:microsoft.com/office/officeart/2005/8/layout/vList2"/>
    <dgm:cxn modelId="{5734A038-0243-4A57-9AFC-F668BC5A73BB}" srcId="{1080734F-83E7-4734-854A-7BBFFAC870B5}" destId="{46F60A6D-1D1D-4DC1-9E49-461D69646D6A}" srcOrd="1" destOrd="0" parTransId="{BFE6898B-B2AF-4589-ADAB-B38E98EA3A70}" sibTransId="{7280EF40-952B-448A-A92C-C7F73B819BA5}"/>
    <dgm:cxn modelId="{3F51696A-374A-4265-A82E-E76218AB2A32}" type="presOf" srcId="{47D8B12B-0A7C-4225-9D6A-69C5730D6E14}" destId="{E7064433-4FD9-45F5-835F-C9136D890C31}" srcOrd="0" destOrd="0" presId="urn:microsoft.com/office/officeart/2005/8/layout/vList2"/>
    <dgm:cxn modelId="{73BBF36A-4057-4DA6-87EB-1EB566CCE5D0}" type="presOf" srcId="{1080734F-83E7-4734-854A-7BBFFAC870B5}" destId="{C8980B66-AE9F-4B80-B3BF-61A99B76F8BA}" srcOrd="0" destOrd="0" presId="urn:microsoft.com/office/officeart/2005/8/layout/vList2"/>
    <dgm:cxn modelId="{68B8EF83-D72C-49A6-A5BF-A1F51FFF84B1}" type="presOf" srcId="{C8D81E56-EE00-4358-8D77-286FFF943163}" destId="{C6DF5C02-9508-4266-8CF7-9FFD352F101F}" srcOrd="0" destOrd="0" presId="urn:microsoft.com/office/officeart/2005/8/layout/vList2"/>
    <dgm:cxn modelId="{EA40AE8A-8DD7-4A2C-8F6A-72CC82FD99FD}" type="presOf" srcId="{E14C2576-9E11-4781-8B24-6B1A50F89CDF}" destId="{DE72C64D-039C-4C02-BBC3-3656297EB0FB}" srcOrd="0" destOrd="0" presId="urn:microsoft.com/office/officeart/2005/8/layout/vList2"/>
    <dgm:cxn modelId="{6960F0A7-FBFB-4A89-97A1-D4004FD58BC9}" type="presOf" srcId="{7870E0EF-0F1A-431E-A9AD-B30A186443AF}" destId="{85B3F82B-9752-4B4C-A749-3BB559A0FB2C}" srcOrd="0" destOrd="4" presId="urn:microsoft.com/office/officeart/2005/8/layout/vList2"/>
    <dgm:cxn modelId="{181B29B7-9B7C-4C2B-9A6B-2B68F489A388}" type="presOf" srcId="{76FB66AF-10CD-4998-919E-C96DB5653599}" destId="{85B3F82B-9752-4B4C-A749-3BB559A0FB2C}" srcOrd="0" destOrd="0" presId="urn:microsoft.com/office/officeart/2005/8/layout/vList2"/>
    <dgm:cxn modelId="{983D28D7-6553-47CD-8834-02FAB1B962E1}" srcId="{C8D81E56-EE00-4358-8D77-286FFF943163}" destId="{47D8B12B-0A7C-4225-9D6A-69C5730D6E14}" srcOrd="2" destOrd="0" parTransId="{1CECF670-CF5A-45E4-8B2F-E004197BC500}" sibTransId="{3BA108EF-1B75-4D74-A25D-564AAE658E54}"/>
    <dgm:cxn modelId="{D9EDB2E5-FC13-4E55-88F3-2E3B6B1E9F41}" srcId="{C8D81E56-EE00-4358-8D77-286FFF943163}" destId="{9C5A5DED-AB49-42D5-B78C-240377DBCD00}" srcOrd="1" destOrd="0" parTransId="{73AD0F73-2869-4FB4-B86F-88124CB8DEB5}" sibTransId="{342F3E79-4339-48B6-844D-833F1BC623AB}"/>
    <dgm:cxn modelId="{27F6AEEA-ECFF-4279-81F9-7C4F5AFCAB97}" srcId="{1080734F-83E7-4734-854A-7BBFFAC870B5}" destId="{7870E0EF-0F1A-431E-A9AD-B30A186443AF}" srcOrd="4" destOrd="0" parTransId="{82C84612-647D-47C1-BE8E-0AEB879F0CCA}" sibTransId="{864C1AC8-6BFA-4E7C-A84E-885E9E920A7C}"/>
    <dgm:cxn modelId="{497160EB-358C-431D-8F5E-E166AAB3F7D4}" srcId="{1080734F-83E7-4734-854A-7BBFFAC870B5}" destId="{900217A8-F51F-44A6-BAAB-E4B7AC0885A4}" srcOrd="3" destOrd="0" parTransId="{D0F4E7A2-2E65-40E7-8506-B7F5D380452F}" sibTransId="{A2AA66A1-9465-4A37-8071-B5EEE65CC104}"/>
    <dgm:cxn modelId="{450155F8-EE17-4008-9752-E417789F1DE5}" srcId="{C8D81E56-EE00-4358-8D77-286FFF943163}" destId="{E14C2576-9E11-4781-8B24-6B1A50F89CDF}" srcOrd="0" destOrd="0" parTransId="{851608EF-5CA7-4D97-ADAF-A9CDE34F1427}" sibTransId="{5BF0C316-0D52-4187-B08F-C2869EA4B848}"/>
    <dgm:cxn modelId="{D54C7460-A2AD-4DB8-A047-465DEB3247D1}" type="presParOf" srcId="{C6DF5C02-9508-4266-8CF7-9FFD352F101F}" destId="{DE72C64D-039C-4C02-BBC3-3656297EB0FB}" srcOrd="0" destOrd="0" presId="urn:microsoft.com/office/officeart/2005/8/layout/vList2"/>
    <dgm:cxn modelId="{0AC98396-DDE5-4384-BC73-BE49B3CCA64B}" type="presParOf" srcId="{C6DF5C02-9508-4266-8CF7-9FFD352F101F}" destId="{D10027C2-829E-41AF-98FF-5DB1D058BF17}" srcOrd="1" destOrd="0" presId="urn:microsoft.com/office/officeart/2005/8/layout/vList2"/>
    <dgm:cxn modelId="{979E8D34-28AF-4F6C-BC11-AE60BBBC8F89}" type="presParOf" srcId="{C6DF5C02-9508-4266-8CF7-9FFD352F101F}" destId="{2EDA2DCF-6ABF-411E-9D81-11323277F657}" srcOrd="2" destOrd="0" presId="urn:microsoft.com/office/officeart/2005/8/layout/vList2"/>
    <dgm:cxn modelId="{2DBE086B-3E64-4480-803B-56ADF5A40365}" type="presParOf" srcId="{C6DF5C02-9508-4266-8CF7-9FFD352F101F}" destId="{32786628-E7F9-459C-988F-7886FC635F2F}" srcOrd="3" destOrd="0" presId="urn:microsoft.com/office/officeart/2005/8/layout/vList2"/>
    <dgm:cxn modelId="{6C08C7CB-9A34-4DC4-B3EB-F6F044900506}" type="presParOf" srcId="{C6DF5C02-9508-4266-8CF7-9FFD352F101F}" destId="{E7064433-4FD9-45F5-835F-C9136D890C31}" srcOrd="4" destOrd="0" presId="urn:microsoft.com/office/officeart/2005/8/layout/vList2"/>
    <dgm:cxn modelId="{D6727031-3FD2-4711-B63F-886385B40343}" type="presParOf" srcId="{C6DF5C02-9508-4266-8CF7-9FFD352F101F}" destId="{0B2E40D6-8E13-4056-AA0E-AE58C34E1791}" srcOrd="5" destOrd="0" presId="urn:microsoft.com/office/officeart/2005/8/layout/vList2"/>
    <dgm:cxn modelId="{9587B479-0E8A-4B21-B84A-C161B5BE6B80}" type="presParOf" srcId="{C6DF5C02-9508-4266-8CF7-9FFD352F101F}" destId="{C8980B66-AE9F-4B80-B3BF-61A99B76F8BA}" srcOrd="6" destOrd="0" presId="urn:microsoft.com/office/officeart/2005/8/layout/vList2"/>
    <dgm:cxn modelId="{B30B714D-964A-4364-9911-A9F34F9A8AD4}" type="presParOf" srcId="{C6DF5C02-9508-4266-8CF7-9FFD352F101F}" destId="{85B3F82B-9752-4B4C-A749-3BB559A0FB2C}"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7132BC-1532-40D8-88F7-C60FBF40C989}" type="doc">
      <dgm:prSet loTypeId="urn:microsoft.com/office/officeart/2005/8/layout/hierarchy4" loCatId="list" qsTypeId="urn:microsoft.com/office/officeart/2005/8/quickstyle/simple2" qsCatId="simple" csTypeId="urn:microsoft.com/office/officeart/2005/8/colors/accent4_5" csCatId="accent4" phldr="1"/>
      <dgm:spPr/>
      <dgm:t>
        <a:bodyPr/>
        <a:lstStyle/>
        <a:p>
          <a:endParaRPr lang="es-ES"/>
        </a:p>
      </dgm:t>
    </dgm:pt>
    <dgm:pt modelId="{B3151D82-B969-4A75-9851-59B7E60B7289}">
      <dgm:prSet/>
      <dgm:spPr/>
      <dgm:t>
        <a:bodyPr anchor="ctr" anchorCtr="1"/>
        <a:lstStyle/>
        <a:p>
          <a:pPr algn="just"/>
          <a:r>
            <a:rPr lang="en-US" dirty="0"/>
            <a:t>In Barcelona, most accommodations are entire apartments or houses, similar to Seville, with proportions of 60%, 65%, and 70% respectively for Madrid, Seville, and Barcelona.</a:t>
          </a:r>
        </a:p>
        <a:p>
          <a:pPr algn="just"/>
          <a:r>
            <a:rPr lang="es-ES" dirty="0"/>
            <a:t>4o mini</a:t>
          </a:r>
        </a:p>
      </dgm:t>
    </dgm:pt>
    <dgm:pt modelId="{7838289D-7507-4174-9CC7-F442D0E2ED33}" type="parTrans" cxnId="{EE97BE8A-A50F-49CB-8050-BF0E45D0677E}">
      <dgm:prSet/>
      <dgm:spPr/>
      <dgm:t>
        <a:bodyPr/>
        <a:lstStyle/>
        <a:p>
          <a:endParaRPr lang="es-ES"/>
        </a:p>
      </dgm:t>
    </dgm:pt>
    <dgm:pt modelId="{776EDA87-AA4A-43FF-894B-75E8B392E79E}" type="sibTrans" cxnId="{EE97BE8A-A50F-49CB-8050-BF0E45D0677E}">
      <dgm:prSet/>
      <dgm:spPr/>
      <dgm:t>
        <a:bodyPr/>
        <a:lstStyle/>
        <a:p>
          <a:endParaRPr lang="es-ES"/>
        </a:p>
      </dgm:t>
    </dgm:pt>
    <dgm:pt modelId="{6BB6DFE3-F005-4239-9A17-7DED7B901767}" type="pres">
      <dgm:prSet presAssocID="{C77132BC-1532-40D8-88F7-C60FBF40C989}" presName="Name0" presStyleCnt="0">
        <dgm:presLayoutVars>
          <dgm:chPref val="1"/>
          <dgm:dir/>
          <dgm:animOne val="branch"/>
          <dgm:animLvl val="lvl"/>
          <dgm:resizeHandles/>
        </dgm:presLayoutVars>
      </dgm:prSet>
      <dgm:spPr/>
    </dgm:pt>
    <dgm:pt modelId="{197CE928-F142-41D9-B923-82F5B47470E1}" type="pres">
      <dgm:prSet presAssocID="{B3151D82-B969-4A75-9851-59B7E60B7289}" presName="vertOne" presStyleCnt="0"/>
      <dgm:spPr/>
    </dgm:pt>
    <dgm:pt modelId="{A569F56E-704E-4608-851C-B8DF9B2FD94F}" type="pres">
      <dgm:prSet presAssocID="{B3151D82-B969-4A75-9851-59B7E60B7289}" presName="txOne" presStyleLbl="node0" presStyleIdx="0" presStyleCnt="1" custLinFactNeighborY="32042">
        <dgm:presLayoutVars>
          <dgm:chPref val="3"/>
        </dgm:presLayoutVars>
      </dgm:prSet>
      <dgm:spPr/>
    </dgm:pt>
    <dgm:pt modelId="{AA707D6C-EE17-4F9C-889E-687199E14E02}" type="pres">
      <dgm:prSet presAssocID="{B3151D82-B969-4A75-9851-59B7E60B7289}" presName="horzOne" presStyleCnt="0"/>
      <dgm:spPr/>
    </dgm:pt>
  </dgm:ptLst>
  <dgm:cxnLst>
    <dgm:cxn modelId="{2646AC32-E613-437C-B2D6-E3BDCAEADC20}" type="presOf" srcId="{B3151D82-B969-4A75-9851-59B7E60B7289}" destId="{A569F56E-704E-4608-851C-B8DF9B2FD94F}" srcOrd="0" destOrd="0" presId="urn:microsoft.com/office/officeart/2005/8/layout/hierarchy4"/>
    <dgm:cxn modelId="{EE97BE8A-A50F-49CB-8050-BF0E45D0677E}" srcId="{C77132BC-1532-40D8-88F7-C60FBF40C989}" destId="{B3151D82-B969-4A75-9851-59B7E60B7289}" srcOrd="0" destOrd="0" parTransId="{7838289D-7507-4174-9CC7-F442D0E2ED33}" sibTransId="{776EDA87-AA4A-43FF-894B-75E8B392E79E}"/>
    <dgm:cxn modelId="{43188ED1-954A-4128-9CB2-D4EEF65B5B28}" type="presOf" srcId="{C77132BC-1532-40D8-88F7-C60FBF40C989}" destId="{6BB6DFE3-F005-4239-9A17-7DED7B901767}" srcOrd="0" destOrd="0" presId="urn:microsoft.com/office/officeart/2005/8/layout/hierarchy4"/>
    <dgm:cxn modelId="{CF97C2AD-E8EB-4A41-9218-968ABDAB2A2C}" type="presParOf" srcId="{6BB6DFE3-F005-4239-9A17-7DED7B901767}" destId="{197CE928-F142-41D9-B923-82F5B47470E1}" srcOrd="0" destOrd="0" presId="urn:microsoft.com/office/officeart/2005/8/layout/hierarchy4"/>
    <dgm:cxn modelId="{AE513DE0-DD7F-4B56-8718-D070BE9955BD}" type="presParOf" srcId="{197CE928-F142-41D9-B923-82F5B47470E1}" destId="{A569F56E-704E-4608-851C-B8DF9B2FD94F}" srcOrd="0" destOrd="0" presId="urn:microsoft.com/office/officeart/2005/8/layout/hierarchy4"/>
    <dgm:cxn modelId="{43B3B17C-7076-42C1-86F7-C3FE116EFF99}" type="presParOf" srcId="{197CE928-F142-41D9-B923-82F5B47470E1}" destId="{AA707D6C-EE17-4F9C-889E-687199E14E02}" srcOrd="1" destOrd="0" presId="urn:microsoft.com/office/officeart/2005/8/layout/hierarchy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05462AA-D67B-4967-B891-7316FDFDC510}"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s-ES"/>
        </a:p>
      </dgm:t>
    </dgm:pt>
    <dgm:pt modelId="{5AD00210-053A-4EBB-8BED-5BDE80A49932}">
      <dgm:prSet/>
      <dgm:spPr/>
      <dgm:t>
        <a:bodyPr/>
        <a:lstStyle/>
        <a:p>
          <a:pPr>
            <a:buNone/>
          </a:pPr>
          <a:r>
            <a:rPr lang="en-US" b="1" dirty="0"/>
            <a:t>✅ It is possible to predict prices with high accuracy using ML/DL.</a:t>
          </a:r>
          <a:br>
            <a:rPr lang="en-US" dirty="0"/>
          </a:br>
          <a:r>
            <a:rPr lang="en-US" b="1" dirty="0"/>
            <a:t>✅ Most predictive variables: location, type of accommodation, and availability.</a:t>
          </a:r>
          <a:br>
            <a:rPr lang="en-US" dirty="0"/>
          </a:br>
          <a:r>
            <a:rPr lang="en-US" b="1" dirty="0"/>
            <a:t>✅ It's important to consider external factors (events, seasonality, tourism).</a:t>
          </a:r>
          <a:endParaRPr lang="es-ES" dirty="0"/>
        </a:p>
      </dgm:t>
    </dgm:pt>
    <dgm:pt modelId="{AC517EEF-52F0-4657-9F3A-70210299E8FA}" type="parTrans" cxnId="{B01A60C7-9BA8-4131-902E-7EB1C773461F}">
      <dgm:prSet/>
      <dgm:spPr/>
      <dgm:t>
        <a:bodyPr/>
        <a:lstStyle/>
        <a:p>
          <a:endParaRPr lang="es-ES"/>
        </a:p>
      </dgm:t>
    </dgm:pt>
    <dgm:pt modelId="{6B049264-34F0-445D-947E-724CB17FB32D}" type="sibTrans" cxnId="{B01A60C7-9BA8-4131-902E-7EB1C773461F}">
      <dgm:prSet/>
      <dgm:spPr/>
      <dgm:t>
        <a:bodyPr/>
        <a:lstStyle/>
        <a:p>
          <a:endParaRPr lang="es-ES"/>
        </a:p>
      </dgm:t>
    </dgm:pt>
    <dgm:pt modelId="{68C6A21F-080D-4137-A6DC-8EADA9ACF3D2}" type="pres">
      <dgm:prSet presAssocID="{E05462AA-D67B-4967-B891-7316FDFDC510}" presName="linear" presStyleCnt="0">
        <dgm:presLayoutVars>
          <dgm:animLvl val="lvl"/>
          <dgm:resizeHandles val="exact"/>
        </dgm:presLayoutVars>
      </dgm:prSet>
      <dgm:spPr/>
    </dgm:pt>
    <dgm:pt modelId="{890EC603-0F47-470F-926A-8C118A80C2EA}" type="pres">
      <dgm:prSet presAssocID="{5AD00210-053A-4EBB-8BED-5BDE80A49932}" presName="parentText" presStyleLbl="node1" presStyleIdx="0" presStyleCnt="1">
        <dgm:presLayoutVars>
          <dgm:chMax val="0"/>
          <dgm:bulletEnabled val="1"/>
        </dgm:presLayoutVars>
      </dgm:prSet>
      <dgm:spPr/>
    </dgm:pt>
  </dgm:ptLst>
  <dgm:cxnLst>
    <dgm:cxn modelId="{843D473B-894D-4C7F-A733-7704C3A4D580}" type="presOf" srcId="{5AD00210-053A-4EBB-8BED-5BDE80A49932}" destId="{890EC603-0F47-470F-926A-8C118A80C2EA}" srcOrd="0" destOrd="0" presId="urn:microsoft.com/office/officeart/2005/8/layout/vList2"/>
    <dgm:cxn modelId="{0BA8FDC0-054E-4AAC-819B-E5788D3CF90E}" type="presOf" srcId="{E05462AA-D67B-4967-B891-7316FDFDC510}" destId="{68C6A21F-080D-4137-A6DC-8EADA9ACF3D2}" srcOrd="0" destOrd="0" presId="urn:microsoft.com/office/officeart/2005/8/layout/vList2"/>
    <dgm:cxn modelId="{B01A60C7-9BA8-4131-902E-7EB1C773461F}" srcId="{E05462AA-D67B-4967-B891-7316FDFDC510}" destId="{5AD00210-053A-4EBB-8BED-5BDE80A49932}" srcOrd="0" destOrd="0" parTransId="{AC517EEF-52F0-4657-9F3A-70210299E8FA}" sibTransId="{6B049264-34F0-445D-947E-724CB17FB32D}"/>
    <dgm:cxn modelId="{E2D310EA-4EDC-42DD-8641-A2B8627AFDE1}" type="presParOf" srcId="{68C6A21F-080D-4137-A6DC-8EADA9ACF3D2}" destId="{890EC603-0F47-470F-926A-8C118A80C2E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4CE8CE5-0AFD-435B-8CC3-9BEEC51A67D2}" type="doc">
      <dgm:prSet loTypeId="urn:microsoft.com/office/officeart/2005/8/layout/vList2" loCatId="list" qsTypeId="urn:microsoft.com/office/officeart/2005/8/quickstyle/simple1" qsCatId="simple" csTypeId="urn:microsoft.com/office/officeart/2005/8/colors/accent4_5" csCatId="accent4" phldr="1"/>
      <dgm:spPr/>
      <dgm:t>
        <a:bodyPr/>
        <a:lstStyle/>
        <a:p>
          <a:endParaRPr lang="es-ES"/>
        </a:p>
      </dgm:t>
    </dgm:pt>
    <dgm:pt modelId="{AA259909-DD68-40E1-8A9B-19E1BAE0CD92}">
      <dgm:prSet/>
      <dgm:spPr/>
      <dgm:t>
        <a:bodyPr/>
        <a:lstStyle/>
        <a:p>
          <a:pPr>
            <a:buNone/>
          </a:pPr>
          <a:r>
            <a:rPr lang="en-US" b="1" dirty="0"/>
            <a:t>🔹 Incorporate real-time data to improve predictions.</a:t>
          </a:r>
          <a:br>
            <a:rPr lang="en-US" dirty="0"/>
          </a:br>
          <a:r>
            <a:rPr lang="en-US" b="1" dirty="0"/>
            <a:t>🔹 Optimization with advanced hyperparameter tuning techniques.</a:t>
          </a:r>
          <a:br>
            <a:rPr lang="en-US" dirty="0"/>
          </a:br>
          <a:r>
            <a:rPr lang="en-US" b="1" dirty="0"/>
            <a:t>🔹 Integration with external data (weather, local events, tourism trends).</a:t>
          </a:r>
          <a:endParaRPr lang="es-ES" dirty="0"/>
        </a:p>
      </dgm:t>
    </dgm:pt>
    <dgm:pt modelId="{B4456F66-4E43-4C9A-AA10-B44DE9EF9E2F}" type="parTrans" cxnId="{CA2918D6-C449-47AA-94D0-525FF1EB6979}">
      <dgm:prSet/>
      <dgm:spPr/>
      <dgm:t>
        <a:bodyPr/>
        <a:lstStyle/>
        <a:p>
          <a:endParaRPr lang="es-ES"/>
        </a:p>
      </dgm:t>
    </dgm:pt>
    <dgm:pt modelId="{A5CBD97D-1AA7-4375-A96F-EEA1E40180DF}" type="sibTrans" cxnId="{CA2918D6-C449-47AA-94D0-525FF1EB6979}">
      <dgm:prSet/>
      <dgm:spPr/>
      <dgm:t>
        <a:bodyPr/>
        <a:lstStyle/>
        <a:p>
          <a:endParaRPr lang="es-ES"/>
        </a:p>
      </dgm:t>
    </dgm:pt>
    <dgm:pt modelId="{CB91BE6A-A8D4-4260-A29F-93FD0BBABEB1}" type="pres">
      <dgm:prSet presAssocID="{B4CE8CE5-0AFD-435B-8CC3-9BEEC51A67D2}" presName="linear" presStyleCnt="0">
        <dgm:presLayoutVars>
          <dgm:animLvl val="lvl"/>
          <dgm:resizeHandles val="exact"/>
        </dgm:presLayoutVars>
      </dgm:prSet>
      <dgm:spPr/>
    </dgm:pt>
    <dgm:pt modelId="{3FC363A1-0726-4E7C-9DC9-3084F32EF44D}" type="pres">
      <dgm:prSet presAssocID="{AA259909-DD68-40E1-8A9B-19E1BAE0CD92}" presName="parentText" presStyleLbl="node1" presStyleIdx="0" presStyleCnt="1" custScaleY="123499">
        <dgm:presLayoutVars>
          <dgm:chMax val="0"/>
          <dgm:bulletEnabled val="1"/>
        </dgm:presLayoutVars>
      </dgm:prSet>
      <dgm:spPr/>
    </dgm:pt>
  </dgm:ptLst>
  <dgm:cxnLst>
    <dgm:cxn modelId="{CA2918D6-C449-47AA-94D0-525FF1EB6979}" srcId="{B4CE8CE5-0AFD-435B-8CC3-9BEEC51A67D2}" destId="{AA259909-DD68-40E1-8A9B-19E1BAE0CD92}" srcOrd="0" destOrd="0" parTransId="{B4456F66-4E43-4C9A-AA10-B44DE9EF9E2F}" sibTransId="{A5CBD97D-1AA7-4375-A96F-EEA1E40180DF}"/>
    <dgm:cxn modelId="{D72220F4-B444-4092-9925-9C2AE6B27E16}" type="presOf" srcId="{AA259909-DD68-40E1-8A9B-19E1BAE0CD92}" destId="{3FC363A1-0726-4E7C-9DC9-3084F32EF44D}" srcOrd="0" destOrd="0" presId="urn:microsoft.com/office/officeart/2005/8/layout/vList2"/>
    <dgm:cxn modelId="{8116FCF5-5A49-486E-BCED-9F827E3BBBC7}" type="presOf" srcId="{B4CE8CE5-0AFD-435B-8CC3-9BEEC51A67D2}" destId="{CB91BE6A-A8D4-4260-A29F-93FD0BBABEB1}" srcOrd="0" destOrd="0" presId="urn:microsoft.com/office/officeart/2005/8/layout/vList2"/>
    <dgm:cxn modelId="{421647AE-40FF-4923-B47F-14121F01DC4B}" type="presParOf" srcId="{CB91BE6A-A8D4-4260-A29F-93FD0BBABEB1}" destId="{3FC363A1-0726-4E7C-9DC9-3084F32EF44D}" srcOrd="0"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FDC7A6-12FA-4171-B236-D6D68A0F570A}">
      <dsp:nvSpPr>
        <dsp:cNvPr id="0" name=""/>
        <dsp:cNvSpPr/>
      </dsp:nvSpPr>
      <dsp:spPr>
        <a:xfrm>
          <a:off x="0" y="426896"/>
          <a:ext cx="5181600" cy="3497545"/>
        </a:xfrm>
        <a:prstGeom prst="roundRect">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s-ES" sz="2000" b="1" kern="1200" dirty="0"/>
            <a:t>📌 </a:t>
          </a:r>
          <a:r>
            <a:rPr lang="es-ES" sz="2000" b="1" kern="1200" dirty="0" err="1"/>
            <a:t>Problem</a:t>
          </a:r>
          <a:r>
            <a:rPr lang="es-ES" sz="2000" b="1" kern="1200" dirty="0"/>
            <a:t>: </a:t>
          </a:r>
          <a:r>
            <a:rPr lang="en-US" sz="2000" kern="1200" dirty="0"/>
            <a:t>The short-term rental market (Airbnb) has grown exponentially, creating challenges in price setting, trend identification, and offer optimization</a:t>
          </a:r>
          <a:r>
            <a:rPr lang="en-US" kern="1200" dirty="0"/>
            <a:t>.</a:t>
          </a:r>
          <a:endParaRPr lang="es-ES" sz="1200" kern="1200" dirty="0"/>
        </a:p>
      </dsp:txBody>
      <dsp:txXfrm>
        <a:off x="170736" y="597632"/>
        <a:ext cx="4840128" cy="31560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3020C9-6104-444F-9F5A-CABCE48EBB23}">
      <dsp:nvSpPr>
        <dsp:cNvPr id="0" name=""/>
        <dsp:cNvSpPr/>
      </dsp:nvSpPr>
      <dsp:spPr>
        <a:xfrm>
          <a:off x="2321899" y="1166065"/>
          <a:ext cx="503600" cy="91440"/>
        </a:xfrm>
        <a:custGeom>
          <a:avLst/>
          <a:gdLst/>
          <a:ahLst/>
          <a:cxnLst/>
          <a:rect l="0" t="0" r="0" b="0"/>
          <a:pathLst>
            <a:path>
              <a:moveTo>
                <a:pt x="0" y="45720"/>
              </a:moveTo>
              <a:lnTo>
                <a:pt x="503600"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60344" y="1209114"/>
        <a:ext cx="26710" cy="5342"/>
      </dsp:txXfrm>
    </dsp:sp>
    <dsp:sp modelId="{D8CEE1EB-AF3E-4FB4-ACF2-EBE062AD7BE7}">
      <dsp:nvSpPr>
        <dsp:cNvPr id="0" name=""/>
        <dsp:cNvSpPr/>
      </dsp:nvSpPr>
      <dsp:spPr>
        <a:xfrm>
          <a:off x="1087" y="515001"/>
          <a:ext cx="2322611" cy="1393567"/>
        </a:xfrm>
        <a:prstGeom prst="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10" tIns="119464" rIns="113810" bIns="119464" numCol="1" spcCol="1270" anchor="ctr" anchorCtr="0">
          <a:noAutofit/>
        </a:bodyPr>
        <a:lstStyle/>
        <a:p>
          <a:pPr marL="0" lvl="0" indent="0" algn="ctr" defTabSz="533400">
            <a:lnSpc>
              <a:spcPct val="90000"/>
            </a:lnSpc>
            <a:spcBef>
              <a:spcPct val="0"/>
            </a:spcBef>
            <a:spcAft>
              <a:spcPct val="35000"/>
            </a:spcAft>
            <a:buNone/>
          </a:pPr>
          <a:endParaRPr lang="es-ES" sz="1200" b="1" kern="1200" dirty="0"/>
        </a:p>
        <a:p>
          <a:pPr marL="0" lvl="0" indent="0" algn="ctr" defTabSz="533400">
            <a:lnSpc>
              <a:spcPct val="90000"/>
            </a:lnSpc>
            <a:spcBef>
              <a:spcPct val="0"/>
            </a:spcBef>
            <a:spcAft>
              <a:spcPct val="35000"/>
            </a:spcAft>
            <a:buNone/>
          </a:pPr>
          <a:r>
            <a:rPr lang="es-ES" sz="1200" b="1" kern="1200" dirty="0"/>
            <a:t>📌 Business </a:t>
          </a:r>
          <a:r>
            <a:rPr lang="es-ES" sz="1200" b="1" kern="1200" dirty="0" err="1"/>
            <a:t>Impact</a:t>
          </a:r>
          <a:r>
            <a:rPr lang="es-ES" sz="1200" b="1" kern="1200" dirty="0"/>
            <a:t>:</a:t>
          </a:r>
          <a:endParaRPr lang="en-US" sz="1200" kern="1200" dirty="0"/>
        </a:p>
      </dsp:txBody>
      <dsp:txXfrm>
        <a:off x="1087" y="515001"/>
        <a:ext cx="2322611" cy="1393567"/>
      </dsp:txXfrm>
    </dsp:sp>
    <dsp:sp modelId="{E557D755-86DC-4E3F-A37E-85190EE4F818}">
      <dsp:nvSpPr>
        <dsp:cNvPr id="0" name=""/>
        <dsp:cNvSpPr/>
      </dsp:nvSpPr>
      <dsp:spPr>
        <a:xfrm>
          <a:off x="1162393" y="1906768"/>
          <a:ext cx="2856812" cy="503600"/>
        </a:xfrm>
        <a:custGeom>
          <a:avLst/>
          <a:gdLst/>
          <a:ahLst/>
          <a:cxnLst/>
          <a:rect l="0" t="0" r="0" b="0"/>
          <a:pathLst>
            <a:path>
              <a:moveTo>
                <a:pt x="2856812" y="0"/>
              </a:moveTo>
              <a:lnTo>
                <a:pt x="2856812" y="268900"/>
              </a:lnTo>
              <a:lnTo>
                <a:pt x="0" y="268900"/>
              </a:lnTo>
              <a:lnTo>
                <a:pt x="0" y="50360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8141" y="2155897"/>
        <a:ext cx="145316" cy="5342"/>
      </dsp:txXfrm>
    </dsp:sp>
    <dsp:sp modelId="{E65A3F29-BEA9-4B9F-9173-51289E6592E1}">
      <dsp:nvSpPr>
        <dsp:cNvPr id="0" name=""/>
        <dsp:cNvSpPr/>
      </dsp:nvSpPr>
      <dsp:spPr>
        <a:xfrm>
          <a:off x="2857900" y="515001"/>
          <a:ext cx="2322611" cy="1393567"/>
        </a:xfrm>
        <a:prstGeom prst="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10" tIns="119464" rIns="113810" bIns="119464" numCol="1" spcCol="1270" anchor="ctr" anchorCtr="0">
          <a:noAutofit/>
        </a:bodyPr>
        <a:lstStyle/>
        <a:p>
          <a:pPr marL="0" lvl="0" indent="0" algn="ctr" defTabSz="533400">
            <a:lnSpc>
              <a:spcPct val="90000"/>
            </a:lnSpc>
            <a:spcBef>
              <a:spcPct val="0"/>
            </a:spcBef>
            <a:spcAft>
              <a:spcPct val="35000"/>
            </a:spcAft>
            <a:buNone/>
          </a:pPr>
          <a:r>
            <a:rPr lang="en-US" sz="1200" b="0" kern="1200" dirty="0"/>
            <a:t>Hosts need to set competitive prices to maximize occupancy and profitability.</a:t>
          </a:r>
        </a:p>
        <a:p>
          <a:pPr marL="0" lvl="0" indent="0" algn="ctr" defTabSz="533400">
            <a:lnSpc>
              <a:spcPct val="90000"/>
            </a:lnSpc>
            <a:spcBef>
              <a:spcPct val="0"/>
            </a:spcBef>
            <a:spcAft>
              <a:spcPct val="35000"/>
            </a:spcAft>
            <a:buNone/>
          </a:pPr>
          <a:endParaRPr lang="en-US" sz="1200" kern="1200" dirty="0"/>
        </a:p>
      </dsp:txBody>
      <dsp:txXfrm>
        <a:off x="2857900" y="515001"/>
        <a:ext cx="2322611" cy="1393567"/>
      </dsp:txXfrm>
    </dsp:sp>
    <dsp:sp modelId="{8BF39A9B-E656-4086-A609-F531A1728E38}">
      <dsp:nvSpPr>
        <dsp:cNvPr id="0" name=""/>
        <dsp:cNvSpPr/>
      </dsp:nvSpPr>
      <dsp:spPr>
        <a:xfrm>
          <a:off x="1087" y="2442769"/>
          <a:ext cx="2322611" cy="1393567"/>
        </a:xfrm>
        <a:prstGeom prst="rect">
          <a:avLst/>
        </a:prstGeom>
        <a:solidFill>
          <a:schemeClr val="lt1">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810" tIns="119464" rIns="113810" bIns="119464" numCol="1" spcCol="1270" anchor="ctr" anchorCtr="0">
          <a:noAutofit/>
        </a:bodyPr>
        <a:lstStyle/>
        <a:p>
          <a:pPr marL="0" lvl="0" indent="0" algn="ctr" defTabSz="533400">
            <a:lnSpc>
              <a:spcPct val="90000"/>
            </a:lnSpc>
            <a:spcBef>
              <a:spcPct val="0"/>
            </a:spcBef>
            <a:spcAft>
              <a:spcPct val="35000"/>
            </a:spcAft>
            <a:buNone/>
          </a:pPr>
          <a:r>
            <a:rPr lang="en-US" sz="1200" kern="1200" dirty="0"/>
            <a:t>Guests are looking to find the best value for money in their accommodations. Local authorities must monitor trends and regulate the impact on the economy and community.</a:t>
          </a:r>
        </a:p>
      </dsp:txBody>
      <dsp:txXfrm>
        <a:off x="1087" y="2442769"/>
        <a:ext cx="2322611" cy="13935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72C64D-039C-4C02-BBC3-3656297EB0FB}">
      <dsp:nvSpPr>
        <dsp:cNvPr id="0" name=""/>
        <dsp:cNvSpPr/>
      </dsp:nvSpPr>
      <dsp:spPr>
        <a:xfrm>
          <a:off x="0" y="2169"/>
          <a:ext cx="10515600" cy="63238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100000"/>
            </a:lnSpc>
            <a:spcBef>
              <a:spcPct val="0"/>
            </a:spcBef>
            <a:spcAft>
              <a:spcPct val="35000"/>
            </a:spcAft>
            <a:buNone/>
          </a:pPr>
          <a:r>
            <a:rPr lang="es-ES" sz="2300" kern="1200" dirty="0"/>
            <a:t>📌 </a:t>
          </a:r>
          <a:r>
            <a:rPr lang="es-ES" sz="2300" kern="1200" dirty="0" err="1"/>
            <a:t>Dataset</a:t>
          </a:r>
          <a:r>
            <a:rPr lang="es-ES" sz="2300" kern="1200" dirty="0"/>
            <a:t> </a:t>
          </a:r>
          <a:r>
            <a:rPr lang="es-ES" sz="2300" kern="1200" dirty="0" err="1"/>
            <a:t>Description</a:t>
          </a:r>
          <a:endParaRPr lang="es-ES" sz="2300" kern="1200" dirty="0"/>
        </a:p>
      </dsp:txBody>
      <dsp:txXfrm>
        <a:off x="30870" y="33039"/>
        <a:ext cx="10453860" cy="570645"/>
      </dsp:txXfrm>
    </dsp:sp>
    <dsp:sp modelId="{2EDA2DCF-6ABF-411E-9D81-11323277F657}">
      <dsp:nvSpPr>
        <dsp:cNvPr id="0" name=""/>
        <dsp:cNvSpPr/>
      </dsp:nvSpPr>
      <dsp:spPr>
        <a:xfrm>
          <a:off x="0" y="700794"/>
          <a:ext cx="10515600" cy="63238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100000"/>
            </a:lnSpc>
            <a:spcBef>
              <a:spcPct val="0"/>
            </a:spcBef>
            <a:spcAft>
              <a:spcPct val="35000"/>
            </a:spcAft>
            <a:buNone/>
          </a:pPr>
          <a:r>
            <a:rPr lang="en-US" sz="2300" b="1" kern="1200" dirty="0"/>
            <a:t>Source:</a:t>
          </a:r>
          <a:r>
            <a:rPr lang="en-US" sz="2300" kern="1200" dirty="0"/>
            <a:t> Airbnb data from various cities.</a:t>
          </a:r>
        </a:p>
      </dsp:txBody>
      <dsp:txXfrm>
        <a:off x="30870" y="731664"/>
        <a:ext cx="10453860" cy="570645"/>
      </dsp:txXfrm>
    </dsp:sp>
    <dsp:sp modelId="{E7064433-4FD9-45F5-835F-C9136D890C31}">
      <dsp:nvSpPr>
        <dsp:cNvPr id="0" name=""/>
        <dsp:cNvSpPr/>
      </dsp:nvSpPr>
      <dsp:spPr>
        <a:xfrm>
          <a:off x="0" y="1399419"/>
          <a:ext cx="10515600" cy="63238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100000"/>
            </a:lnSpc>
            <a:spcBef>
              <a:spcPct val="0"/>
            </a:spcBef>
            <a:spcAft>
              <a:spcPct val="35000"/>
            </a:spcAft>
            <a:buNone/>
          </a:pPr>
          <a:r>
            <a:rPr lang="es-ES" sz="2300" b="1" kern="1200" dirty="0" err="1"/>
            <a:t>Number</a:t>
          </a:r>
          <a:r>
            <a:rPr lang="es-ES" sz="2300" b="1" kern="1200" dirty="0"/>
            <a:t> </a:t>
          </a:r>
          <a:r>
            <a:rPr lang="es-ES" sz="2300" b="1" kern="1200" dirty="0" err="1"/>
            <a:t>of</a:t>
          </a:r>
          <a:r>
            <a:rPr lang="es-ES" sz="2300" b="1" kern="1200" dirty="0"/>
            <a:t> </a:t>
          </a:r>
          <a:r>
            <a:rPr lang="es-ES" sz="2300" b="1" kern="1200" dirty="0" err="1"/>
            <a:t>records</a:t>
          </a:r>
          <a:r>
            <a:rPr lang="es-ES" sz="2300" b="1" kern="1200" dirty="0"/>
            <a:t>:</a:t>
          </a:r>
          <a:r>
            <a:rPr lang="es-ES" sz="2300" kern="1200" dirty="0"/>
            <a:t> 207,602</a:t>
          </a:r>
        </a:p>
      </dsp:txBody>
      <dsp:txXfrm>
        <a:off x="30870" y="1430289"/>
        <a:ext cx="10453860" cy="570645"/>
      </dsp:txXfrm>
    </dsp:sp>
    <dsp:sp modelId="{C8980B66-AE9F-4B80-B3BF-61A99B76F8BA}">
      <dsp:nvSpPr>
        <dsp:cNvPr id="0" name=""/>
        <dsp:cNvSpPr/>
      </dsp:nvSpPr>
      <dsp:spPr>
        <a:xfrm>
          <a:off x="0" y="2098044"/>
          <a:ext cx="10515600" cy="632385"/>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100000"/>
            </a:lnSpc>
            <a:spcBef>
              <a:spcPct val="0"/>
            </a:spcBef>
            <a:spcAft>
              <a:spcPct val="35000"/>
            </a:spcAft>
            <a:buNone/>
          </a:pPr>
          <a:r>
            <a:rPr lang="es-ES" sz="2300" b="1" kern="1200" dirty="0"/>
            <a:t>Key variables:</a:t>
          </a:r>
          <a:endParaRPr lang="es-ES" sz="2300" kern="1200" dirty="0"/>
        </a:p>
      </dsp:txBody>
      <dsp:txXfrm>
        <a:off x="30870" y="2128914"/>
        <a:ext cx="10453860" cy="570645"/>
      </dsp:txXfrm>
    </dsp:sp>
    <dsp:sp modelId="{85B3F82B-9752-4B4C-A749-3BB559A0FB2C}">
      <dsp:nvSpPr>
        <dsp:cNvPr id="0" name=""/>
        <dsp:cNvSpPr/>
      </dsp:nvSpPr>
      <dsp:spPr>
        <a:xfrm>
          <a:off x="0" y="2730428"/>
          <a:ext cx="10515600" cy="16187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29210" rIns="163576" bIns="29210" numCol="1" spcCol="1270" anchor="t" anchorCtr="0">
          <a:noAutofit/>
        </a:bodyPr>
        <a:lstStyle/>
        <a:p>
          <a:pPr marL="171450" lvl="1" indent="-171450" algn="l" defTabSz="800100">
            <a:lnSpc>
              <a:spcPct val="100000"/>
            </a:lnSpc>
            <a:spcBef>
              <a:spcPct val="0"/>
            </a:spcBef>
            <a:spcAft>
              <a:spcPct val="20000"/>
            </a:spcAft>
            <a:buFont typeface="Arial" panose="020B0604020202020204" pitchFamily="34" charset="0"/>
            <a:buChar char="•"/>
          </a:pPr>
          <a:r>
            <a:rPr lang="en-US" sz="1800" b="1" kern="1200" dirty="0"/>
            <a:t>Price</a:t>
          </a:r>
          <a:endParaRPr lang="es-ES" sz="1800" kern="1200" dirty="0"/>
        </a:p>
        <a:p>
          <a:pPr marL="171450" lvl="1" indent="-171450" algn="l" defTabSz="800100">
            <a:lnSpc>
              <a:spcPct val="100000"/>
            </a:lnSpc>
            <a:spcBef>
              <a:spcPct val="0"/>
            </a:spcBef>
            <a:spcAft>
              <a:spcPct val="20000"/>
            </a:spcAft>
            <a:buFont typeface="Arial" panose="020B0604020202020204" pitchFamily="34" charset="0"/>
            <a:buChar char="•"/>
          </a:pPr>
          <a:r>
            <a:rPr lang="en-US" sz="1800" b="1" kern="1200" dirty="0"/>
            <a:t>Room type</a:t>
          </a:r>
          <a:endParaRPr lang="es-ES" sz="1800" kern="1200" dirty="0"/>
        </a:p>
        <a:p>
          <a:pPr marL="171450" lvl="1" indent="-171450" algn="l" defTabSz="800100">
            <a:lnSpc>
              <a:spcPct val="100000"/>
            </a:lnSpc>
            <a:spcBef>
              <a:spcPct val="0"/>
            </a:spcBef>
            <a:spcAft>
              <a:spcPct val="20000"/>
            </a:spcAft>
            <a:buFont typeface="Arial" panose="020B0604020202020204" pitchFamily="34" charset="0"/>
            <a:buChar char="•"/>
          </a:pPr>
          <a:r>
            <a:rPr lang="en-US" sz="1800" b="1" kern="1200" dirty="0"/>
            <a:t>Availability (days per year)</a:t>
          </a:r>
          <a:endParaRPr lang="es-ES" sz="1800" kern="1200" dirty="0"/>
        </a:p>
        <a:p>
          <a:pPr marL="171450" lvl="1" indent="-171450" algn="l" defTabSz="800100">
            <a:lnSpc>
              <a:spcPct val="100000"/>
            </a:lnSpc>
            <a:spcBef>
              <a:spcPct val="0"/>
            </a:spcBef>
            <a:spcAft>
              <a:spcPct val="20000"/>
            </a:spcAft>
            <a:buFont typeface="Arial" panose="020B0604020202020204" pitchFamily="34" charset="0"/>
            <a:buChar char="•"/>
          </a:pPr>
          <a:r>
            <a:rPr lang="en-US" sz="1800" b="1" kern="1200" dirty="0"/>
            <a:t>Number of reviews and rating</a:t>
          </a:r>
          <a:endParaRPr lang="es-ES" sz="1800" kern="1200" dirty="0"/>
        </a:p>
        <a:p>
          <a:pPr marL="171450" lvl="1" indent="-171450" algn="l" defTabSz="800100">
            <a:lnSpc>
              <a:spcPct val="100000"/>
            </a:lnSpc>
            <a:spcBef>
              <a:spcPct val="0"/>
            </a:spcBef>
            <a:spcAft>
              <a:spcPct val="20000"/>
            </a:spcAft>
            <a:buFont typeface="Arial" panose="020B0604020202020204" pitchFamily="34" charset="0"/>
            <a:buChar char="•"/>
          </a:pPr>
          <a:r>
            <a:rPr lang="en-US" sz="1800" b="1" kern="1200" dirty="0"/>
            <a:t>Location (latitude/longitude, neighborhood, state)</a:t>
          </a:r>
          <a:endParaRPr lang="es-ES" sz="1800" kern="1200" dirty="0"/>
        </a:p>
      </dsp:txBody>
      <dsp:txXfrm>
        <a:off x="0" y="2730428"/>
        <a:ext cx="10515600" cy="16187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69F56E-704E-4608-851C-B8DF9B2FD94F}">
      <dsp:nvSpPr>
        <dsp:cNvPr id="0" name=""/>
        <dsp:cNvSpPr/>
      </dsp:nvSpPr>
      <dsp:spPr>
        <a:xfrm>
          <a:off x="0" y="0"/>
          <a:ext cx="3932237" cy="2970213"/>
        </a:xfrm>
        <a:prstGeom prst="roundRect">
          <a:avLst>
            <a:gd name="adj" fmla="val 10000"/>
          </a:avLst>
        </a:prstGeom>
        <a:solidFill>
          <a:schemeClr val="accent4">
            <a:alpha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0010" tIns="80010" rIns="80010" bIns="80010" numCol="1" spcCol="1270" anchor="ctr" anchorCtr="1">
          <a:noAutofit/>
        </a:bodyPr>
        <a:lstStyle/>
        <a:p>
          <a:pPr marL="0" lvl="0" indent="0" algn="just" defTabSz="933450">
            <a:lnSpc>
              <a:spcPct val="90000"/>
            </a:lnSpc>
            <a:spcBef>
              <a:spcPct val="0"/>
            </a:spcBef>
            <a:spcAft>
              <a:spcPct val="35000"/>
            </a:spcAft>
            <a:buNone/>
          </a:pPr>
          <a:r>
            <a:rPr lang="en-US" sz="2100" kern="1200" dirty="0"/>
            <a:t>In Barcelona, most accommodations are entire apartments or houses, similar to Seville, with proportions of 60%, 65%, and 70% respectively for Madrid, Seville, and Barcelona.</a:t>
          </a:r>
        </a:p>
        <a:p>
          <a:pPr marL="0" lvl="0" indent="0" algn="just" defTabSz="933450">
            <a:lnSpc>
              <a:spcPct val="90000"/>
            </a:lnSpc>
            <a:spcBef>
              <a:spcPct val="0"/>
            </a:spcBef>
            <a:spcAft>
              <a:spcPct val="35000"/>
            </a:spcAft>
            <a:buNone/>
          </a:pPr>
          <a:r>
            <a:rPr lang="es-ES" sz="2100" kern="1200" dirty="0"/>
            <a:t>4o mini</a:t>
          </a:r>
        </a:p>
      </dsp:txBody>
      <dsp:txXfrm>
        <a:off x="86995" y="86995"/>
        <a:ext cx="3758247" cy="27962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EC603-0F47-470F-926A-8C118A80C2EA}">
      <dsp:nvSpPr>
        <dsp:cNvPr id="0" name=""/>
        <dsp:cNvSpPr/>
      </dsp:nvSpPr>
      <dsp:spPr>
        <a:xfrm>
          <a:off x="0" y="308423"/>
          <a:ext cx="5157787" cy="30677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kern="1200" dirty="0"/>
            <a:t>✅ It is possible to predict prices with high accuracy using ML/DL.</a:t>
          </a:r>
          <a:br>
            <a:rPr lang="en-US" sz="2300" kern="1200" dirty="0"/>
          </a:br>
          <a:r>
            <a:rPr lang="en-US" sz="2300" b="1" kern="1200" dirty="0"/>
            <a:t>✅ Most predictive variables: location, type of accommodation, and availability.</a:t>
          </a:r>
          <a:br>
            <a:rPr lang="en-US" sz="2300" kern="1200" dirty="0"/>
          </a:br>
          <a:r>
            <a:rPr lang="en-US" sz="2300" b="1" kern="1200" dirty="0"/>
            <a:t>✅ It's important to consider external factors (events, seasonality, tourism).</a:t>
          </a:r>
          <a:endParaRPr lang="es-ES" sz="2300" kern="1200" dirty="0"/>
        </a:p>
      </dsp:txBody>
      <dsp:txXfrm>
        <a:off x="149755" y="458178"/>
        <a:ext cx="4858277" cy="27682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C363A1-0726-4E7C-9DC9-3084F32EF44D}">
      <dsp:nvSpPr>
        <dsp:cNvPr id="0" name=""/>
        <dsp:cNvSpPr/>
      </dsp:nvSpPr>
      <dsp:spPr>
        <a:xfrm>
          <a:off x="0" y="221073"/>
          <a:ext cx="5183188" cy="3242441"/>
        </a:xfrm>
        <a:prstGeom prst="roundRect">
          <a:avLst/>
        </a:prstGeom>
        <a:solidFill>
          <a:schemeClr val="accent4">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 Incorporate real-time data to improve predictions.</a:t>
          </a:r>
          <a:br>
            <a:rPr lang="en-US" sz="2200" kern="1200" dirty="0"/>
          </a:br>
          <a:r>
            <a:rPr lang="en-US" sz="2200" b="1" kern="1200" dirty="0"/>
            <a:t>🔹 Optimization with advanced hyperparameter tuning techniques.</a:t>
          </a:r>
          <a:br>
            <a:rPr lang="en-US" sz="2200" kern="1200" dirty="0"/>
          </a:br>
          <a:r>
            <a:rPr lang="en-US" sz="2200" b="1" kern="1200" dirty="0"/>
            <a:t>🔹 Integration with external data (weather, local events, tourism trends).</a:t>
          </a:r>
          <a:endParaRPr lang="es-ES" sz="2200" kern="1200" dirty="0"/>
        </a:p>
      </dsp:txBody>
      <dsp:txXfrm>
        <a:off x="158283" y="379356"/>
        <a:ext cx="4866622" cy="292587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B3D6640C-F6A0-4351-856B-14836F234E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a:extLst>
              <a:ext uri="{FF2B5EF4-FFF2-40B4-BE49-F238E27FC236}">
                <a16:creationId xmlns:a16="http://schemas.microsoft.com/office/drawing/2014/main" id="{FC280B7B-2795-4857-B84E-9C600536AE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8EB8BBB-53FA-476C-A309-D2686EA80C4C}" type="datetime1">
              <a:rPr lang="es-ES" smtClean="0"/>
              <a:t>20/05/2025</a:t>
            </a:fld>
            <a:endParaRPr lang="es-ES" dirty="0"/>
          </a:p>
        </p:txBody>
      </p:sp>
      <p:sp>
        <p:nvSpPr>
          <p:cNvPr id="4" name="Marcador de pie de página 3">
            <a:extLst>
              <a:ext uri="{FF2B5EF4-FFF2-40B4-BE49-F238E27FC236}">
                <a16:creationId xmlns:a16="http://schemas.microsoft.com/office/drawing/2014/main" id="{96C3ACD6-6E00-4BE1-A684-34A6BD202E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5" name="Marcador de posición de número de diapositiva 4">
            <a:extLst>
              <a:ext uri="{FF2B5EF4-FFF2-40B4-BE49-F238E27FC236}">
                <a16:creationId xmlns:a16="http://schemas.microsoft.com/office/drawing/2014/main" id="{BA7F20A5-CEF2-4B11-A0A4-0F4BC0BD64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FC822411-A9A9-4A09-A341-69C657AB42A1}" type="slidenum">
              <a:rPr lang="es-ES" smtClean="0"/>
              <a:t>‹Nº›</a:t>
            </a:fld>
            <a:endParaRPr lang="es-ES" dirty="0"/>
          </a:p>
        </p:txBody>
      </p:sp>
    </p:spTree>
    <p:extLst>
      <p:ext uri="{BB962C8B-B14F-4D97-AF65-F5344CB8AC3E}">
        <p14:creationId xmlns:p14="http://schemas.microsoft.com/office/powerpoint/2010/main" val="655888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8D056B-5EC6-42CD-AF94-4751959146DD}" type="datetime1">
              <a:rPr lang="es-ES" smtClean="0"/>
              <a:pPr/>
              <a:t>20/05/2025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dirty="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dirty="0"/>
              <a:t>Haga clic para modificar los estilos de texto del patrón</a:t>
            </a:r>
            <a:endParaRPr lang="es-ES" dirty="0"/>
          </a:p>
          <a:p>
            <a:pPr lvl="1" rtl="0"/>
            <a:r>
              <a:rPr lang="es-ES" dirty="0"/>
              <a:t>Segundo nivel</a:t>
            </a:r>
          </a:p>
          <a:p>
            <a:pPr lvl="2" rtl="0"/>
            <a:r>
              <a:rPr lang="es-ES" dirty="0"/>
              <a:t>Tercer nivel</a:t>
            </a:r>
          </a:p>
          <a:p>
            <a:pPr lvl="3" rtl="0"/>
            <a:r>
              <a:rPr lang="es-ES" dirty="0"/>
              <a:t>Cuarto nivel</a:t>
            </a:r>
          </a:p>
          <a:p>
            <a:pPr lvl="4" rtl="0"/>
            <a:r>
              <a:rPr lang="es-ES" dirty="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dirty="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A004F4-F240-48F9-8AE1-486585C7F00D}" type="slidenum">
              <a:rPr lang="es-ES" smtClean="0"/>
              <a:t>‹Nº›</a:t>
            </a:fld>
            <a:endParaRPr lang="es-ES" dirty="0"/>
          </a:p>
        </p:txBody>
      </p:sp>
    </p:spTree>
    <p:extLst>
      <p:ext uri="{BB962C8B-B14F-4D97-AF65-F5344CB8AC3E}">
        <p14:creationId xmlns:p14="http://schemas.microsoft.com/office/powerpoint/2010/main" val="215488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Introducción (Diapositiva 1)</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Narrativa:</a:t>
            </a:r>
            <a:br>
              <a:rPr lang="es-ES" sz="1800" kern="100" dirty="0">
                <a:effectLst/>
                <a:latin typeface="Calibri" panose="020F0502020204030204" pitchFamily="34" charset="0"/>
                <a:ea typeface="Aptos" panose="020B0004020202020204" pitchFamily="34" charset="0"/>
                <a:cs typeface="Arial" panose="020B0604020202020204" pitchFamily="34" charset="0"/>
              </a:rPr>
            </a:br>
            <a:r>
              <a:rPr lang="es-ES" sz="1800" kern="100" dirty="0">
                <a:effectLst/>
                <a:latin typeface="Calibri" panose="020F0502020204030204" pitchFamily="34" charset="0"/>
                <a:ea typeface="Aptos" panose="020B0004020202020204" pitchFamily="34" charset="0"/>
                <a:cs typeface="Arial" panose="020B0604020202020204" pitchFamily="34" charset="0"/>
              </a:rPr>
              <a:t>Buenas tardes. Hoy les voy a presentar un análisis del impacto de Airbnb en tres ciudades clave de España: Barcelona, Madrid y Sevilla. Este proyecto tiene dos enfoques principales:</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just">
              <a:lnSpc>
                <a:spcPct val="107000"/>
              </a:lnSpc>
              <a:spcAft>
                <a:spcPts val="800"/>
              </a:spcAft>
              <a:buFont typeface="+mj-lt"/>
              <a:buAutoNum type="arabicPeriod"/>
              <a:tabLst>
                <a:tab pos="457200" algn="l"/>
              </a:tabLst>
            </a:pPr>
            <a:r>
              <a:rPr lang="es-ES" sz="1800" kern="100" dirty="0">
                <a:effectLst/>
                <a:latin typeface="Calibri" panose="020F0502020204030204" pitchFamily="34" charset="0"/>
                <a:ea typeface="Aptos" panose="020B0004020202020204" pitchFamily="34" charset="0"/>
                <a:cs typeface="Arial" panose="020B0604020202020204" pitchFamily="34" charset="0"/>
              </a:rPr>
              <a:t>Analizar los patrones de precios y la demanda en estas ciudades, diferenciando por temporadas y tipos de alojamiento.</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just">
              <a:lnSpc>
                <a:spcPct val="107000"/>
              </a:lnSpc>
              <a:spcAft>
                <a:spcPts val="800"/>
              </a:spcAft>
              <a:buFont typeface="+mj-lt"/>
              <a:buAutoNum type="arabicPeriod"/>
              <a:tabLst>
                <a:tab pos="457200" algn="l"/>
              </a:tabLst>
            </a:pPr>
            <a:r>
              <a:rPr lang="es-ES" sz="1800" kern="100" dirty="0">
                <a:effectLst/>
                <a:latin typeface="Calibri" panose="020F0502020204030204" pitchFamily="34" charset="0"/>
                <a:ea typeface="Aptos" panose="020B0004020202020204" pitchFamily="34" charset="0"/>
                <a:cs typeface="Arial" panose="020B0604020202020204" pitchFamily="34" charset="0"/>
              </a:rPr>
              <a:t>Entender cómo Airbnb afecta el mercado de alquileres tradicionales y el acceso a la vivienda.</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Este análisis no solo busca comprender cómo opera Airbnb, sino también ofrecer soluciones prácticas para anfitriones, turistas y reguladores locales. Además, buscamos ofrecer recomendaciones prácticas para equilibrar el turismo con la sostenibilidad urbana.</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Transición:</a:t>
            </a:r>
            <a:r>
              <a:rPr lang="es-ES" sz="1800" kern="100" dirty="0">
                <a:effectLst/>
                <a:latin typeface="Calibri" panose="020F0502020204030204" pitchFamily="34" charset="0"/>
                <a:ea typeface="Aptos" panose="020B0004020202020204" pitchFamily="34" charset="0"/>
                <a:cs typeface="Arial" panose="020B0604020202020204" pitchFamily="34" charset="0"/>
              </a:rPr>
              <a:t> Empezaremos observando cómo se distribuyen los precios según el tipo de alojamiento.</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rtl="0"/>
            <a:endParaRPr lang="es-ES" dirty="0"/>
          </a:p>
        </p:txBody>
      </p:sp>
      <p:sp>
        <p:nvSpPr>
          <p:cNvPr id="4" name="Marcador de posición de número de diapositiva 3"/>
          <p:cNvSpPr>
            <a:spLocks noGrp="1"/>
          </p:cNvSpPr>
          <p:nvPr>
            <p:ph type="sldNum" sz="quarter" idx="5"/>
          </p:nvPr>
        </p:nvSpPr>
        <p:spPr/>
        <p:txBody>
          <a:bodyPr rtlCol="0"/>
          <a:lstStyle/>
          <a:p>
            <a:pPr rtl="0"/>
            <a:fld id="{9CA004F4-F240-48F9-8AE1-486585C7F00D}" type="slidenum">
              <a:rPr lang="es-ES" smtClean="0"/>
              <a:t>1</a:t>
            </a:fld>
            <a:endParaRPr lang="es-ES" dirty="0"/>
          </a:p>
        </p:txBody>
      </p:sp>
    </p:spTree>
    <p:extLst>
      <p:ext uri="{BB962C8B-B14F-4D97-AF65-F5344CB8AC3E}">
        <p14:creationId xmlns:p14="http://schemas.microsoft.com/office/powerpoint/2010/main" val="314017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b="1" dirty="0"/>
              <a:t>Impacto en el negocio:</a:t>
            </a:r>
            <a:endParaRPr lang="es-ES" dirty="0"/>
          </a:p>
          <a:p>
            <a:pPr>
              <a:buFont typeface="Arial" panose="020B0604020202020204" pitchFamily="34" charset="0"/>
              <a:buChar char="•"/>
            </a:pPr>
            <a:r>
              <a:rPr lang="es-ES" dirty="0"/>
              <a:t>Los anfitriones necesitan establecer precios competitivos para maximizar su ocupación y rentabilidad.</a:t>
            </a:r>
          </a:p>
          <a:p>
            <a:pPr>
              <a:buFont typeface="Arial" panose="020B0604020202020204" pitchFamily="34" charset="0"/>
              <a:buChar char="•"/>
            </a:pPr>
            <a:r>
              <a:rPr lang="es-ES" dirty="0"/>
              <a:t>Los huéspedes buscan encontrar la mejor relación calidad-precio en sus alojamientos.</a:t>
            </a:r>
          </a:p>
          <a:p>
            <a:pPr>
              <a:buFont typeface="Arial" panose="020B0604020202020204" pitchFamily="34" charset="0"/>
              <a:buChar char="•"/>
            </a:pPr>
            <a:r>
              <a:rPr lang="es-ES" dirty="0"/>
              <a:t>Las autoridades locales deben monitorear tendencias y regular el impacto en la economía y comunidad.</a:t>
            </a:r>
          </a:p>
          <a:p>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2</a:t>
            </a:fld>
            <a:endParaRPr lang="es-ES" dirty="0"/>
          </a:p>
        </p:txBody>
      </p:sp>
    </p:spTree>
    <p:extLst>
      <p:ext uri="{BB962C8B-B14F-4D97-AF65-F5344CB8AC3E}">
        <p14:creationId xmlns:p14="http://schemas.microsoft.com/office/powerpoint/2010/main" val="22391806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3</a:t>
            </a:fld>
            <a:endParaRPr lang="es-ES" dirty="0"/>
          </a:p>
        </p:txBody>
      </p:sp>
    </p:spTree>
    <p:extLst>
      <p:ext uri="{BB962C8B-B14F-4D97-AF65-F5344CB8AC3E}">
        <p14:creationId xmlns:p14="http://schemas.microsoft.com/office/powerpoint/2010/main" val="10297313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b="1" dirty="0"/>
              <a:t>Precio:</a:t>
            </a:r>
            <a:r>
              <a:rPr lang="es-ES" dirty="0"/>
              <a:t> Distribución con sesgo a la derecha (muchos precios bajos, pocos muy altos).</a:t>
            </a:r>
          </a:p>
          <a:p>
            <a:pPr>
              <a:buNone/>
            </a:pPr>
            <a:r>
              <a:rPr lang="es-ES" b="1" dirty="0" err="1"/>
              <a:t>Room</a:t>
            </a:r>
            <a:r>
              <a:rPr lang="es-ES" b="1" dirty="0"/>
              <a:t> </a:t>
            </a:r>
            <a:r>
              <a:rPr lang="es-ES" b="1" dirty="0" err="1"/>
              <a:t>Type</a:t>
            </a:r>
            <a:r>
              <a:rPr lang="es-ES" b="1" dirty="0"/>
              <a:t>:</a:t>
            </a:r>
            <a:r>
              <a:rPr lang="es-ES" dirty="0"/>
              <a:t> Mayoría de los alojamientos son "</a:t>
            </a:r>
            <a:r>
              <a:rPr lang="es-ES" dirty="0" err="1"/>
              <a:t>Entire</a:t>
            </a:r>
            <a:r>
              <a:rPr lang="es-ES" dirty="0"/>
              <a:t> home/</a:t>
            </a:r>
            <a:r>
              <a:rPr lang="es-ES" dirty="0" err="1"/>
              <a:t>apt</a:t>
            </a:r>
            <a:r>
              <a:rPr lang="es-ES" dirty="0"/>
              <a:t>", pero hay una proporción significativa de "</a:t>
            </a:r>
            <a:r>
              <a:rPr lang="es-ES" dirty="0" err="1"/>
              <a:t>Private</a:t>
            </a:r>
            <a:r>
              <a:rPr lang="es-ES" dirty="0"/>
              <a:t> </a:t>
            </a:r>
            <a:r>
              <a:rPr lang="es-ES" dirty="0" err="1"/>
              <a:t>room</a:t>
            </a:r>
            <a:r>
              <a:rPr lang="es-ES" dirty="0"/>
              <a:t>".</a:t>
            </a:r>
          </a:p>
          <a:p>
            <a:pPr>
              <a:buNone/>
            </a:pPr>
            <a:r>
              <a:rPr lang="es-ES" b="1" dirty="0"/>
              <a:t>Disponibilidad:</a:t>
            </a:r>
            <a:r>
              <a:rPr lang="es-ES" dirty="0"/>
              <a:t> Algunos alojamientos están disponibles todo el año, otros solo en temporadas específicas.</a:t>
            </a:r>
          </a:p>
          <a:p>
            <a:r>
              <a:rPr lang="es-ES" b="1" dirty="0"/>
              <a:t>Agrupaciones (</a:t>
            </a:r>
            <a:r>
              <a:rPr lang="es-ES" b="1" dirty="0" err="1"/>
              <a:t>Clustering</a:t>
            </a:r>
            <a:r>
              <a:rPr lang="es-ES" b="1" dirty="0"/>
              <a:t>):</a:t>
            </a:r>
            <a:r>
              <a:rPr lang="es-ES" dirty="0"/>
              <a:t> Identificación de patrones por ubicación y rango de precios.</a:t>
            </a:r>
          </a:p>
          <a:p>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4</a:t>
            </a:fld>
            <a:endParaRPr lang="es-ES" dirty="0"/>
          </a:p>
        </p:txBody>
      </p:sp>
    </p:spTree>
    <p:extLst>
      <p:ext uri="{BB962C8B-B14F-4D97-AF65-F5344CB8AC3E}">
        <p14:creationId xmlns:p14="http://schemas.microsoft.com/office/powerpoint/2010/main" val="28872008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Precio:</a:t>
            </a:r>
            <a:r>
              <a:rPr lang="es-ES" dirty="0"/>
              <a:t> Distribución con sesgo a la derecha (muchos precios bajos, pocos muy altos).</a:t>
            </a:r>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5</a:t>
            </a:fld>
            <a:endParaRPr lang="es-ES" dirty="0"/>
          </a:p>
        </p:txBody>
      </p:sp>
    </p:spTree>
    <p:extLst>
      <p:ext uri="{BB962C8B-B14F-4D97-AF65-F5344CB8AC3E}">
        <p14:creationId xmlns:p14="http://schemas.microsoft.com/office/powerpoint/2010/main" val="1752948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Precio promedio por mes y ciudad (Diapositiva 3)</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"Al comparar los precios promedio por mes y ciudad, vemos patrones muy claros.</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s-ES" sz="1800" b="1" kern="100" dirty="0">
                <a:effectLst/>
                <a:latin typeface="Calibri" panose="020F0502020204030204" pitchFamily="34" charset="0"/>
                <a:ea typeface="Aptos" panose="020B0004020202020204" pitchFamily="34" charset="0"/>
                <a:cs typeface="Arial" panose="020B0604020202020204" pitchFamily="34" charset="0"/>
              </a:rPr>
              <a:t>Barcelona</a:t>
            </a:r>
            <a:r>
              <a:rPr lang="es-ES" sz="1800" kern="100" dirty="0">
                <a:effectLst/>
                <a:latin typeface="Calibri" panose="020F0502020204030204" pitchFamily="34" charset="0"/>
                <a:ea typeface="Aptos" panose="020B0004020202020204" pitchFamily="34" charset="0"/>
                <a:cs typeface="Arial" panose="020B0604020202020204" pitchFamily="34" charset="0"/>
              </a:rPr>
              <a:t> muestra picos evidentes en los meses de verano debido a su alta demanda turística.</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s-ES" sz="1800" b="1" kern="100" dirty="0">
                <a:effectLst/>
                <a:latin typeface="Calibri" panose="020F0502020204030204" pitchFamily="34" charset="0"/>
                <a:ea typeface="Aptos" panose="020B0004020202020204" pitchFamily="34" charset="0"/>
                <a:cs typeface="Arial" panose="020B0604020202020204" pitchFamily="34" charset="0"/>
              </a:rPr>
              <a:t>Madrid</a:t>
            </a:r>
            <a:r>
              <a:rPr lang="es-ES" sz="1800" kern="100" dirty="0">
                <a:effectLst/>
                <a:latin typeface="Calibri" panose="020F0502020204030204" pitchFamily="34" charset="0"/>
                <a:ea typeface="Aptos" panose="020B0004020202020204" pitchFamily="34" charset="0"/>
                <a:cs typeface="Arial" panose="020B0604020202020204" pitchFamily="34" charset="0"/>
              </a:rPr>
              <a:t> es más estable durante el año, reflejando su combinación de turismo cultural y corporativo.</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just">
              <a:lnSpc>
                <a:spcPct val="107000"/>
              </a:lnSpc>
              <a:spcAft>
                <a:spcPts val="800"/>
              </a:spcAft>
              <a:buSzPts val="1000"/>
              <a:buFont typeface="Symbol" panose="05050102010706020507" pitchFamily="18" charset="2"/>
              <a:buChar char=""/>
              <a:tabLst>
                <a:tab pos="457200" algn="l"/>
              </a:tabLst>
            </a:pPr>
            <a:r>
              <a:rPr lang="es-ES" sz="1800" b="1" kern="100" dirty="0">
                <a:effectLst/>
                <a:latin typeface="Calibri" panose="020F0502020204030204" pitchFamily="34" charset="0"/>
                <a:ea typeface="Aptos" panose="020B0004020202020204" pitchFamily="34" charset="0"/>
                <a:cs typeface="Arial" panose="020B0604020202020204" pitchFamily="34" charset="0"/>
              </a:rPr>
              <a:t>Sevilla</a:t>
            </a:r>
            <a:r>
              <a:rPr lang="es-ES" sz="1800" kern="100" dirty="0">
                <a:effectLst/>
                <a:latin typeface="Calibri" panose="020F0502020204030204" pitchFamily="34" charset="0"/>
                <a:ea typeface="Aptos" panose="020B0004020202020204" pitchFamily="34" charset="0"/>
                <a:cs typeface="Arial" panose="020B0604020202020204" pitchFamily="34" charset="0"/>
              </a:rPr>
              <a:t> destaca por su estacionalidad, con un aumento significativo de precios en abril.</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Este gráfico subraya cómo la estacionalidad afecta a las decisiones tanto de los anfitriones como de los turistas, incentivando a reservar con antelación en temporadas altas."</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 </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r>
              <a:rPr lang="es-ES" sz="1800" b="1" dirty="0">
                <a:effectLst/>
                <a:latin typeface="Calibri" panose="020F0502020204030204" pitchFamily="34" charset="0"/>
                <a:ea typeface="Aptos" panose="020B0004020202020204" pitchFamily="34" charset="0"/>
              </a:rPr>
              <a:t>Transición:</a:t>
            </a:r>
            <a:r>
              <a:rPr lang="es-ES" sz="1800" dirty="0">
                <a:effectLst/>
                <a:latin typeface="Calibri" panose="020F0502020204030204" pitchFamily="34" charset="0"/>
                <a:ea typeface="Aptos" panose="020B0004020202020204" pitchFamily="34" charset="0"/>
              </a:rPr>
              <a:t> Estos patrones también se refleja al comparar las temporadas de alta y baja demanda.</a:t>
            </a:r>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6</a:t>
            </a:fld>
            <a:endParaRPr lang="es-ES" dirty="0"/>
          </a:p>
        </p:txBody>
      </p:sp>
    </p:spTree>
    <p:extLst>
      <p:ext uri="{BB962C8B-B14F-4D97-AF65-F5344CB8AC3E}">
        <p14:creationId xmlns:p14="http://schemas.microsoft.com/office/powerpoint/2010/main" val="2099649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Precio promedio por temporada y ciudad (Diapositiva 4)</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"En este análisis de precios por temporada, observamos que Barcelona lidera en precios en todas las épocas del año. Sin embargo, la variación entre alta y baja temporada es menor, lo que refleja una demanda constante.</a:t>
            </a:r>
            <a:br>
              <a:rPr lang="es-ES" sz="1800" kern="100" dirty="0">
                <a:effectLst/>
                <a:latin typeface="Calibri" panose="020F0502020204030204" pitchFamily="34" charset="0"/>
                <a:ea typeface="Aptos" panose="020B0004020202020204" pitchFamily="34" charset="0"/>
                <a:cs typeface="Arial" panose="020B0604020202020204" pitchFamily="34" charset="0"/>
              </a:rPr>
            </a:br>
            <a:r>
              <a:rPr lang="es-ES" sz="1800" kern="100" dirty="0">
                <a:effectLst/>
                <a:latin typeface="Calibri" panose="020F0502020204030204" pitchFamily="34" charset="0"/>
                <a:ea typeface="Aptos" panose="020B0004020202020204" pitchFamily="34" charset="0"/>
                <a:cs typeface="Arial" panose="020B0604020202020204" pitchFamily="34" charset="0"/>
              </a:rPr>
              <a:t>Por el contrario, Sevilla muestra una diferencia mucho más pronunciada entre temporadas, con picos específicos en eventos clave como la Semana Santa o la Feria de Abril.</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Esto tiene implicaciones importantes: los anfitriones en Sevilla pueden aprovechar eventos para maximizar ingresos, mientras que en Barcelona deben enfocarse en mantener precios competitivos durante todo el año."</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Transición:</a:t>
            </a:r>
            <a:r>
              <a:rPr lang="es-ES" sz="1800" kern="100" dirty="0">
                <a:effectLst/>
                <a:latin typeface="Calibri" panose="020F0502020204030204" pitchFamily="34" charset="0"/>
                <a:ea typeface="Aptos" panose="020B0004020202020204" pitchFamily="34" charset="0"/>
                <a:cs typeface="Arial" panose="020B0604020202020204" pitchFamily="34" charset="0"/>
              </a:rPr>
              <a:t> Además de estas tendencias generales, es importante observar cómo se comportan los precios en detalle, incluyendo valores extremos."</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endParaRPr lang="es-ES" b="1"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7</a:t>
            </a:fld>
            <a:endParaRPr lang="es-ES" dirty="0"/>
          </a:p>
        </p:txBody>
      </p:sp>
    </p:spTree>
    <p:extLst>
      <p:ext uri="{BB962C8B-B14F-4D97-AF65-F5344CB8AC3E}">
        <p14:creationId xmlns:p14="http://schemas.microsoft.com/office/powerpoint/2010/main" val="3959790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Outlier</a:t>
            </a:r>
            <a:r>
              <a:rPr lang="es-ES" dirty="0"/>
              <a:t> = valor atípico que se aleja de la mayoría.</a:t>
            </a:r>
          </a:p>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Distribución de precios y valores extremos (Diapositivas 5-6)</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La distribución de precios en las tres ciudades analizadas muestra patrones comunes y particularidades. La mayoría de los precios se concentra alrededor de la media, pero destacan valores extremos. Estos pueden deberse a propiedades exclusivas o eventos específicos que impulsan la demanda como los comentados previamente.</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8</a:t>
            </a:fld>
            <a:endParaRPr lang="es-ES" dirty="0"/>
          </a:p>
        </p:txBody>
      </p:sp>
    </p:spTree>
    <p:extLst>
      <p:ext uri="{BB962C8B-B14F-4D97-AF65-F5344CB8AC3E}">
        <p14:creationId xmlns:p14="http://schemas.microsoft.com/office/powerpoint/2010/main" val="241650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Matrices de correlación (Diapositivas 9)</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El precio está positivamente correlacionado con el número de reseñas y la actividad del anfitrión, esto nos sugiere que la popularidad y la actividad de los anfitriones pueden tener un impacto positivo en los precios. Hoy en día, la gente le da mucha importancia a la opinión de otros usuarios mediante las reseñas. Además, anfitriones con múltiples propiedades suelen tener más actividad, lo que podría indicar estrategias empresariales. Sin embargo, la disponibilidad y el precio tienen una relación débil, ya que las propiedades más exclusivas tienden a estar menos disponibles.</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Transición:</a:t>
            </a:r>
            <a:r>
              <a:rPr lang="es-ES" sz="1800" kern="100" dirty="0">
                <a:effectLst/>
                <a:latin typeface="Calibri" panose="020F0502020204030204" pitchFamily="34" charset="0"/>
                <a:ea typeface="Aptos" panose="020B0004020202020204" pitchFamily="34" charset="0"/>
                <a:cs typeface="Arial" panose="020B0604020202020204" pitchFamily="34" charset="0"/>
              </a:rPr>
              <a:t> Esto también se refleja en la distribución de precios por barrio, que exploraremos a continuación."</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9</a:t>
            </a:fld>
            <a:endParaRPr lang="es-ES" dirty="0"/>
          </a:p>
        </p:txBody>
      </p:sp>
    </p:spTree>
    <p:extLst>
      <p:ext uri="{BB962C8B-B14F-4D97-AF65-F5344CB8AC3E}">
        <p14:creationId xmlns:p14="http://schemas.microsoft.com/office/powerpoint/2010/main" val="2524771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kern="100" dirty="0">
                <a:effectLst/>
                <a:latin typeface="Calibri" panose="020F0502020204030204" pitchFamily="34" charset="0"/>
                <a:ea typeface="Aptos" panose="020B0004020202020204" pitchFamily="34" charset="0"/>
                <a:cs typeface="Arial" panose="020B0604020202020204" pitchFamily="34" charset="0"/>
              </a:rPr>
              <a:t>En Barcelona, los precios más altos están en zonas céntricas como Eixample y Gràcia. Madrid refleja un patrón similar en Salamanca y Chamartín. Sevilla nos muestra una distribución más homogénea, pero el Casco Antiguo lidera en precios altos debido a su atractivo turístico.</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10</a:t>
            </a:fld>
            <a:endParaRPr lang="es-ES" dirty="0"/>
          </a:p>
        </p:txBody>
      </p:sp>
    </p:spTree>
    <p:extLst>
      <p:ext uri="{BB962C8B-B14F-4D97-AF65-F5344CB8AC3E}">
        <p14:creationId xmlns:p14="http://schemas.microsoft.com/office/powerpoint/2010/main" val="1945191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800" b="1" kern="100" dirty="0">
                <a:effectLst/>
                <a:latin typeface="Calibri" panose="020F0502020204030204" pitchFamily="34" charset="0"/>
                <a:ea typeface="Aptos" panose="020B0004020202020204" pitchFamily="34" charset="0"/>
                <a:cs typeface="Arial" panose="020B0604020202020204" pitchFamily="34" charset="0"/>
              </a:rPr>
              <a:t>Transición:</a:t>
            </a:r>
            <a:r>
              <a:rPr lang="es-ES" sz="1800" kern="100" dirty="0">
                <a:effectLst/>
                <a:latin typeface="Calibri" panose="020F0502020204030204" pitchFamily="34" charset="0"/>
                <a:ea typeface="Aptos" panose="020B0004020202020204" pitchFamily="34" charset="0"/>
                <a:cs typeface="Arial" panose="020B0604020202020204" pitchFamily="34" charset="0"/>
              </a:rPr>
              <a:t> El tipo de alojamiento también juega un papel importante en los precios.</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12</a:t>
            </a:fld>
            <a:endParaRPr lang="es-ES" dirty="0"/>
          </a:p>
        </p:txBody>
      </p:sp>
    </p:spTree>
    <p:extLst>
      <p:ext uri="{BB962C8B-B14F-4D97-AF65-F5344CB8AC3E}">
        <p14:creationId xmlns:p14="http://schemas.microsoft.com/office/powerpoint/2010/main" val="28721293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a:lnSpc>
                <a:spcPct val="107000"/>
              </a:lnSpc>
              <a:spcAft>
                <a:spcPts val="800"/>
              </a:spcAft>
            </a:pPr>
            <a:r>
              <a:rPr lang="es-ES" sz="1800" b="1" kern="100" dirty="0">
                <a:effectLst/>
                <a:latin typeface="Calibri" panose="020F0502020204030204" pitchFamily="34" charset="0"/>
                <a:ea typeface="Aptos" panose="020B0004020202020204" pitchFamily="34" charset="0"/>
                <a:cs typeface="Arial" panose="020B0604020202020204" pitchFamily="34" charset="0"/>
              </a:rPr>
              <a:t>Relación entre precio, reseñas y disponibilidad (Diapositivas 17)</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Aquí analizamos cómo interactúan estas tres variables clave.</a:t>
            </a:r>
            <a:br>
              <a:rPr lang="es-ES" sz="1800" kern="100" dirty="0">
                <a:effectLst/>
                <a:latin typeface="Calibri" panose="020F0502020204030204" pitchFamily="34" charset="0"/>
                <a:ea typeface="Aptos" panose="020B0004020202020204" pitchFamily="34" charset="0"/>
                <a:cs typeface="Arial" panose="020B0604020202020204" pitchFamily="34" charset="0"/>
              </a:rPr>
            </a:br>
            <a:r>
              <a:rPr lang="es-ES" sz="1800" kern="100" dirty="0">
                <a:effectLst/>
                <a:latin typeface="Calibri" panose="020F0502020204030204" pitchFamily="34" charset="0"/>
                <a:ea typeface="Aptos" panose="020B0004020202020204" pitchFamily="34" charset="0"/>
                <a:cs typeface="Arial" panose="020B0604020202020204" pitchFamily="34" charset="0"/>
              </a:rPr>
              <a:t>Los alojamientos más accesibles suelen acumular más reseñas debido a su alta ocupación. Por otro lado, las propiedades exclusivas, con precios elevados, tienden a tener menor disponibilidad y menos reseñas, pero estas suelen ser altamente positivas.</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s-ES" sz="1800" kern="100" dirty="0">
                <a:effectLst/>
                <a:latin typeface="Calibri" panose="020F0502020204030204" pitchFamily="34" charset="0"/>
                <a:ea typeface="Aptos" panose="020B0004020202020204" pitchFamily="34" charset="0"/>
                <a:cs typeface="Arial" panose="020B0604020202020204" pitchFamily="34" charset="0"/>
              </a:rPr>
              <a:t>Esto refuerza la idea de que los alojamientos premium compiten más por calidad que por cantidad. Este segmento debe centrarse en ofrecer experiencias excepcionales para atraer a un público selecto.</a:t>
            </a:r>
            <a:endParaRPr lang="es-ES" sz="1800" kern="100" dirty="0">
              <a:effectLst/>
              <a:latin typeface="Aptos" panose="020B0004020202020204" pitchFamily="34" charset="0"/>
              <a:ea typeface="Aptos" panose="020B0004020202020204" pitchFamily="34" charset="0"/>
              <a:cs typeface="Arial" panose="020B0604020202020204" pitchFamily="34" charset="0"/>
            </a:endParaRPr>
          </a:p>
          <a:p>
            <a:r>
              <a:rPr lang="es-ES" sz="1800" b="1" dirty="0">
                <a:effectLst/>
                <a:latin typeface="Calibri" panose="020F0502020204030204" pitchFamily="34" charset="0"/>
                <a:ea typeface="Aptos" panose="020B0004020202020204" pitchFamily="34" charset="0"/>
              </a:rPr>
              <a:t>Transición:</a:t>
            </a:r>
            <a:r>
              <a:rPr lang="es-ES" sz="1800" dirty="0">
                <a:effectLst/>
                <a:latin typeface="Calibri" panose="020F0502020204030204" pitchFamily="34" charset="0"/>
                <a:ea typeface="Aptos" panose="020B0004020202020204" pitchFamily="34" charset="0"/>
              </a:rPr>
              <a:t> Para continuar, analizaremos cómo se agrupan los barrios según la estacionalidad.</a:t>
            </a:r>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13</a:t>
            </a:fld>
            <a:endParaRPr lang="es-ES" dirty="0"/>
          </a:p>
        </p:txBody>
      </p:sp>
    </p:spTree>
    <p:extLst>
      <p:ext uri="{BB962C8B-B14F-4D97-AF65-F5344CB8AC3E}">
        <p14:creationId xmlns:p14="http://schemas.microsoft.com/office/powerpoint/2010/main" val="422644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Probamos diferentes modelos de Machine </a:t>
            </a:r>
            <a:r>
              <a:rPr lang="es-ES" dirty="0" err="1"/>
              <a:t>Learning</a:t>
            </a:r>
            <a:r>
              <a:rPr lang="es-ES" dirty="0"/>
              <a:t> para predecir precios y tendencias en los alojamientos de Airbnb. Algunos modelos tuvieron un desempeño pobre, mientras que otros lograron predicciones más precisas.</a:t>
            </a:r>
          </a:p>
          <a:p>
            <a:pPr>
              <a:buNone/>
            </a:pPr>
            <a:r>
              <a:rPr lang="es-ES" b="1" dirty="0"/>
              <a:t>📉 Modelos con bajo desempeño</a:t>
            </a:r>
          </a:p>
          <a:p>
            <a:pPr>
              <a:buNone/>
            </a:pPr>
            <a:r>
              <a:rPr lang="es-ES" dirty="0"/>
              <a:t>1️⃣ </a:t>
            </a:r>
            <a:r>
              <a:rPr lang="es-ES" b="1" dirty="0"/>
              <a:t>Regresión Lineal</a:t>
            </a:r>
            <a:endParaRPr lang="es-ES" dirty="0"/>
          </a:p>
          <a:p>
            <a:pPr>
              <a:buFont typeface="Arial" panose="020B0604020202020204" pitchFamily="34" charset="0"/>
              <a:buChar char="•"/>
            </a:pPr>
            <a:r>
              <a:rPr lang="es-ES" dirty="0"/>
              <a:t>Fue nuestra primera aproximación como </a:t>
            </a:r>
            <a:r>
              <a:rPr lang="es-ES" dirty="0" err="1"/>
              <a:t>baseline</a:t>
            </a:r>
            <a:r>
              <a:rPr lang="es-ES" dirty="0"/>
              <a:t>.</a:t>
            </a:r>
          </a:p>
          <a:p>
            <a:pPr>
              <a:buFont typeface="Arial" panose="020B0604020202020204" pitchFamily="34" charset="0"/>
              <a:buChar char="•"/>
            </a:pPr>
            <a:r>
              <a:rPr lang="es-ES" b="1" dirty="0"/>
              <a:t>Problema:</a:t>
            </a:r>
            <a:r>
              <a:rPr lang="es-ES" dirty="0"/>
              <a:t> No capturó bien la relación entre variables, especialmente para precios extremos.</a:t>
            </a:r>
          </a:p>
          <a:p>
            <a:pPr>
              <a:buFont typeface="Arial" panose="020B0604020202020204" pitchFamily="34" charset="0"/>
              <a:buChar char="•"/>
            </a:pPr>
            <a:r>
              <a:rPr lang="es-ES" b="1" dirty="0"/>
              <a:t>Error:</a:t>
            </a:r>
            <a:r>
              <a:rPr lang="es-ES" dirty="0"/>
              <a:t> Alto RMSE, indicando mala precisión en predicciones.</a:t>
            </a:r>
          </a:p>
          <a:p>
            <a:pPr>
              <a:buNone/>
            </a:pPr>
            <a:r>
              <a:rPr lang="es-ES" dirty="0"/>
              <a:t>2️⃣ </a:t>
            </a:r>
            <a:r>
              <a:rPr lang="es-ES" b="1" dirty="0"/>
              <a:t>K-</a:t>
            </a:r>
            <a:r>
              <a:rPr lang="es-ES" b="1" dirty="0" err="1"/>
              <a:t>Nearest</a:t>
            </a:r>
            <a:r>
              <a:rPr lang="es-ES" b="1" dirty="0"/>
              <a:t> </a:t>
            </a:r>
            <a:r>
              <a:rPr lang="es-ES" b="1" dirty="0" err="1"/>
              <a:t>Neighbors</a:t>
            </a:r>
            <a:r>
              <a:rPr lang="es-ES" b="1" dirty="0"/>
              <a:t> (KNN)</a:t>
            </a:r>
            <a:endParaRPr lang="es-ES" dirty="0"/>
          </a:p>
          <a:p>
            <a:pPr>
              <a:buFont typeface="Arial" panose="020B0604020202020204" pitchFamily="34" charset="0"/>
              <a:buChar char="•"/>
            </a:pPr>
            <a:r>
              <a:rPr lang="es-ES" dirty="0"/>
              <a:t>Se probó con distintos valores de </a:t>
            </a:r>
            <a:r>
              <a:rPr lang="es-ES" b="1" dirty="0"/>
              <a:t>k</a:t>
            </a:r>
            <a:r>
              <a:rPr lang="es-ES" dirty="0"/>
              <a:t>.</a:t>
            </a:r>
          </a:p>
          <a:p>
            <a:pPr>
              <a:buFont typeface="Arial" panose="020B0604020202020204" pitchFamily="34" charset="0"/>
              <a:buChar char="•"/>
            </a:pPr>
            <a:r>
              <a:rPr lang="es-ES" b="1" dirty="0"/>
              <a:t>Problema:</a:t>
            </a:r>
            <a:r>
              <a:rPr lang="es-ES" dirty="0"/>
              <a:t> No se ajusta bien a datos con alta dimensionalidad.</a:t>
            </a:r>
          </a:p>
          <a:p>
            <a:pPr>
              <a:buFont typeface="Arial" panose="020B0604020202020204" pitchFamily="34" charset="0"/>
              <a:buChar char="•"/>
            </a:pPr>
            <a:r>
              <a:rPr lang="es-ES" b="1" dirty="0"/>
              <a:t>Resultado:</a:t>
            </a:r>
            <a:r>
              <a:rPr lang="es-ES" dirty="0"/>
              <a:t> Predicciones poco precisas, especialmente con valores atípicos.</a:t>
            </a:r>
          </a:p>
          <a:p>
            <a:pPr>
              <a:buNone/>
            </a:pPr>
            <a:r>
              <a:rPr lang="es-ES" b="1" dirty="0"/>
              <a:t>📈 Modelos con mejor desempeño</a:t>
            </a:r>
          </a:p>
          <a:p>
            <a:pPr>
              <a:buNone/>
            </a:pPr>
            <a:r>
              <a:rPr lang="es-ES" dirty="0"/>
              <a:t>3️⃣ </a:t>
            </a:r>
            <a:r>
              <a:rPr lang="es-ES" b="1" dirty="0" err="1"/>
              <a:t>XGBoost</a:t>
            </a:r>
            <a:endParaRPr lang="es-ES" dirty="0"/>
          </a:p>
          <a:p>
            <a:pPr>
              <a:buFont typeface="Arial" panose="020B0604020202020204" pitchFamily="34" charset="0"/>
              <a:buChar char="•"/>
            </a:pPr>
            <a:r>
              <a:rPr lang="es-ES" dirty="0"/>
              <a:t>Modelo de </a:t>
            </a:r>
            <a:r>
              <a:rPr lang="es-ES" dirty="0" err="1"/>
              <a:t>Gradient</a:t>
            </a:r>
            <a:r>
              <a:rPr lang="es-ES" dirty="0"/>
              <a:t> </a:t>
            </a:r>
            <a:r>
              <a:rPr lang="es-ES" dirty="0" err="1"/>
              <a:t>Boosting</a:t>
            </a:r>
            <a:r>
              <a:rPr lang="es-ES" dirty="0"/>
              <a:t>, robusto y eficiente.</a:t>
            </a:r>
          </a:p>
          <a:p>
            <a:pPr>
              <a:buFont typeface="Arial" panose="020B0604020202020204" pitchFamily="34" charset="0"/>
              <a:buChar char="•"/>
            </a:pPr>
            <a:r>
              <a:rPr lang="es-ES" b="1" dirty="0"/>
              <a:t>Ventaja:</a:t>
            </a:r>
            <a:r>
              <a:rPr lang="es-ES" dirty="0"/>
              <a:t> Captura relaciones complejas entre variables.</a:t>
            </a:r>
          </a:p>
          <a:p>
            <a:pPr>
              <a:buFont typeface="Arial" panose="020B0604020202020204" pitchFamily="34" charset="0"/>
              <a:buChar char="•"/>
            </a:pPr>
            <a:r>
              <a:rPr lang="es-ES" b="1" dirty="0"/>
              <a:t>Problema:</a:t>
            </a:r>
            <a:r>
              <a:rPr lang="es-ES" dirty="0"/>
              <a:t> Mayor tiempo de entrenamiento y menos interpretabilidad.</a:t>
            </a:r>
          </a:p>
          <a:p>
            <a:pPr>
              <a:buFont typeface="Arial" panose="020B0604020202020204" pitchFamily="34" charset="0"/>
              <a:buChar char="•"/>
            </a:pPr>
            <a:r>
              <a:rPr lang="es-ES" b="1" dirty="0"/>
              <a:t>RMSE:</a:t>
            </a:r>
            <a:r>
              <a:rPr lang="es-ES" dirty="0"/>
              <a:t> Redujo significativamente el error respecto a los modelos anteriores.</a:t>
            </a:r>
          </a:p>
          <a:p>
            <a:pPr>
              <a:buNone/>
            </a:pPr>
            <a:r>
              <a:rPr lang="es-ES" dirty="0"/>
              <a:t>4️⃣ </a:t>
            </a:r>
            <a:r>
              <a:rPr lang="es-ES" b="1" dirty="0"/>
              <a:t>Red Neuronal (Deep </a:t>
            </a:r>
            <a:r>
              <a:rPr lang="es-ES" b="1" dirty="0" err="1"/>
              <a:t>Learning</a:t>
            </a:r>
            <a:r>
              <a:rPr lang="es-ES" b="1" dirty="0"/>
              <a:t>)</a:t>
            </a:r>
            <a:endParaRPr lang="es-ES" dirty="0"/>
          </a:p>
          <a:p>
            <a:pPr>
              <a:buFont typeface="Arial" panose="020B0604020202020204" pitchFamily="34" charset="0"/>
              <a:buChar char="•"/>
            </a:pPr>
            <a:r>
              <a:rPr lang="es-ES" dirty="0"/>
              <a:t>Se probó una red neuronal con varias capas densas.</a:t>
            </a:r>
          </a:p>
          <a:p>
            <a:pPr>
              <a:buFont typeface="Arial" panose="020B0604020202020204" pitchFamily="34" charset="0"/>
              <a:buChar char="•"/>
            </a:pPr>
            <a:r>
              <a:rPr lang="es-ES" b="1" dirty="0"/>
              <a:t>Ventaja:</a:t>
            </a:r>
            <a:r>
              <a:rPr lang="es-ES" dirty="0"/>
              <a:t> Buena generalización, sobre todo en grandes volúmenes de datos.</a:t>
            </a:r>
          </a:p>
          <a:p>
            <a:pPr>
              <a:buFont typeface="Arial" panose="020B0604020202020204" pitchFamily="34" charset="0"/>
              <a:buChar char="•"/>
            </a:pPr>
            <a:r>
              <a:rPr lang="es-ES" b="1" dirty="0"/>
              <a:t>Problema:</a:t>
            </a:r>
            <a:r>
              <a:rPr lang="es-ES" dirty="0"/>
              <a:t> Requiere mucho tiempo de ajuste y cómputo, sin una mejora tan grande sobre otros modelos más simples.</a:t>
            </a:r>
          </a:p>
          <a:p>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14</a:t>
            </a:fld>
            <a:endParaRPr lang="es-ES" dirty="0"/>
          </a:p>
        </p:txBody>
      </p:sp>
    </p:spTree>
    <p:extLst>
      <p:ext uri="{BB962C8B-B14F-4D97-AF65-F5344CB8AC3E}">
        <p14:creationId xmlns:p14="http://schemas.microsoft.com/office/powerpoint/2010/main" val="4133162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None/>
            </a:pPr>
            <a:r>
              <a:rPr lang="es-ES" dirty="0"/>
              <a:t>Después de analizar los resultados, el </a:t>
            </a:r>
            <a:r>
              <a:rPr lang="es-ES" b="1" dirty="0" err="1"/>
              <a:t>Random</a:t>
            </a:r>
            <a:r>
              <a:rPr lang="es-ES" b="1" dirty="0"/>
              <a:t> Forest </a:t>
            </a:r>
            <a:r>
              <a:rPr lang="es-ES" b="1" dirty="0" err="1"/>
              <a:t>Classifier</a:t>
            </a:r>
            <a:r>
              <a:rPr lang="es-ES" dirty="0"/>
              <a:t> fue el modelo elegido por varias razones:</a:t>
            </a:r>
            <a:br>
              <a:rPr lang="es-ES" dirty="0"/>
            </a:br>
            <a:r>
              <a:rPr lang="es-ES" dirty="0"/>
              <a:t>✅ </a:t>
            </a:r>
            <a:r>
              <a:rPr lang="es-ES" b="1" dirty="0"/>
              <a:t>Precisión alta</a:t>
            </a:r>
            <a:r>
              <a:rPr lang="es-ES" dirty="0"/>
              <a:t> sin necesidad de gran ajuste de </a:t>
            </a:r>
            <a:r>
              <a:rPr lang="es-ES" dirty="0" err="1"/>
              <a:t>hiperparámetros</a:t>
            </a:r>
            <a:r>
              <a:rPr lang="es-ES" dirty="0"/>
              <a:t>.</a:t>
            </a:r>
            <a:br>
              <a:rPr lang="es-ES" dirty="0"/>
            </a:br>
            <a:r>
              <a:rPr lang="es-ES" dirty="0"/>
              <a:t>✅ </a:t>
            </a:r>
            <a:r>
              <a:rPr lang="es-ES" b="1" dirty="0"/>
              <a:t>Robustez ante datos faltantes y valores atípicos.</a:t>
            </a:r>
            <a:br>
              <a:rPr lang="es-ES" dirty="0"/>
            </a:br>
            <a:r>
              <a:rPr lang="es-ES" dirty="0"/>
              <a:t>✅ </a:t>
            </a:r>
            <a:r>
              <a:rPr lang="es-ES" b="1" dirty="0"/>
              <a:t>Buena interpretabilidad</a:t>
            </a:r>
            <a:r>
              <a:rPr lang="es-ES" dirty="0"/>
              <a:t>, permitiendo entender qué variables influyen más en las predicciones.</a:t>
            </a:r>
            <a:br>
              <a:rPr lang="es-ES" dirty="0"/>
            </a:br>
            <a:r>
              <a:rPr lang="es-ES" dirty="0"/>
              <a:t>✅ </a:t>
            </a:r>
            <a:r>
              <a:rPr lang="es-ES" b="1" dirty="0"/>
              <a:t>Eficiencia computacional</a:t>
            </a:r>
            <a:r>
              <a:rPr lang="es-ES" dirty="0"/>
              <a:t>, más rápido que una red neuronal sin perder precisión.</a:t>
            </a:r>
          </a:p>
          <a:p>
            <a:pPr>
              <a:buNone/>
            </a:pPr>
            <a:r>
              <a:rPr lang="es-ES" dirty="0"/>
              <a:t>📌 </a:t>
            </a:r>
            <a:r>
              <a:rPr lang="es-ES" b="1" dirty="0"/>
              <a:t>Resultados clave:</a:t>
            </a:r>
            <a:endParaRPr lang="es-ES" dirty="0"/>
          </a:p>
          <a:p>
            <a:pPr>
              <a:buFont typeface="Arial" panose="020B0604020202020204" pitchFamily="34" charset="0"/>
              <a:buChar char="•"/>
            </a:pPr>
            <a:r>
              <a:rPr lang="es-ES" b="1" dirty="0"/>
              <a:t>RMSE</a:t>
            </a:r>
            <a:r>
              <a:rPr lang="es-ES" dirty="0"/>
              <a:t> más bajo comparado con modelos más simples.</a:t>
            </a:r>
          </a:p>
          <a:p>
            <a:pPr>
              <a:buFont typeface="Arial" panose="020B0604020202020204" pitchFamily="34" charset="0"/>
              <a:buChar char="•"/>
            </a:pPr>
            <a:r>
              <a:rPr lang="es-ES" b="1" dirty="0" err="1"/>
              <a:t>Feature</a:t>
            </a:r>
            <a:r>
              <a:rPr lang="es-ES" b="1" dirty="0"/>
              <a:t> </a:t>
            </a:r>
            <a:r>
              <a:rPr lang="es-ES" b="1" dirty="0" err="1"/>
              <a:t>Importance</a:t>
            </a:r>
            <a:r>
              <a:rPr lang="es-ES" b="1" dirty="0"/>
              <a:t>:</a:t>
            </a:r>
            <a:r>
              <a:rPr lang="es-ES" dirty="0"/>
              <a:t> Variables como </a:t>
            </a:r>
            <a:r>
              <a:rPr lang="es-ES" b="1" dirty="0"/>
              <a:t>ubicación, tipo de alojamiento y número de noches mínimas</a:t>
            </a:r>
            <a:r>
              <a:rPr lang="es-ES" dirty="0"/>
              <a:t> fueron clave para predecir precios.</a:t>
            </a:r>
          </a:p>
          <a:p>
            <a:pPr>
              <a:buFont typeface="Arial" panose="020B0604020202020204" pitchFamily="34" charset="0"/>
              <a:buChar char="•"/>
            </a:pPr>
            <a:endParaRPr lang="es-ES" dirty="0"/>
          </a:p>
          <a:p>
            <a:pPr>
              <a:buFont typeface="Arial" panose="020B0604020202020204" pitchFamily="34" charset="0"/>
              <a:buChar char="•"/>
            </a:pPr>
            <a:endParaRPr lang="es-ES" dirty="0"/>
          </a:p>
          <a:p>
            <a:pPr>
              <a:buNone/>
            </a:pPr>
            <a:r>
              <a:rPr lang="es-ES" b="1" dirty="0" err="1"/>
              <a:t>étricas</a:t>
            </a:r>
            <a:r>
              <a:rPr lang="es-ES" b="1" dirty="0"/>
              <a:t> Generales</a:t>
            </a:r>
          </a:p>
          <a:p>
            <a:pPr>
              <a:buFont typeface="Arial" panose="020B0604020202020204" pitchFamily="34" charset="0"/>
              <a:buChar char="•"/>
            </a:pPr>
            <a:r>
              <a:rPr lang="es-ES" b="1" dirty="0" err="1"/>
              <a:t>Accuracy</a:t>
            </a:r>
            <a:r>
              <a:rPr lang="es-ES" b="1" dirty="0"/>
              <a:t> (Precisión global):</a:t>
            </a:r>
            <a:r>
              <a:rPr lang="es-ES" dirty="0"/>
              <a:t> </a:t>
            </a:r>
            <a:r>
              <a:rPr lang="es-ES" b="1" dirty="0"/>
              <a:t>86.87%</a:t>
            </a:r>
            <a:endParaRPr lang="es-ES" dirty="0"/>
          </a:p>
          <a:p>
            <a:pPr marL="742950" lvl="1" indent="-285750">
              <a:buFont typeface="Arial" panose="020B0604020202020204" pitchFamily="34" charset="0"/>
              <a:buChar char="•"/>
            </a:pPr>
            <a:r>
              <a:rPr lang="es-ES" dirty="0"/>
              <a:t>Significa que el modelo clasifica correctamente aproximadamente </a:t>
            </a:r>
            <a:r>
              <a:rPr lang="es-ES" b="1" dirty="0"/>
              <a:t>87 de cada 100</a:t>
            </a:r>
            <a:r>
              <a:rPr lang="es-ES" dirty="0"/>
              <a:t> casos.</a:t>
            </a:r>
          </a:p>
          <a:p>
            <a:pPr>
              <a:buFont typeface="Arial" panose="020B0604020202020204" pitchFamily="34" charset="0"/>
              <a:buChar char="•"/>
            </a:pPr>
            <a:endParaRPr lang="es-ES" dirty="0"/>
          </a:p>
          <a:p>
            <a:endParaRPr lang="es-ES" dirty="0"/>
          </a:p>
        </p:txBody>
      </p:sp>
      <p:sp>
        <p:nvSpPr>
          <p:cNvPr id="4" name="Marcador de número de diapositiva 3"/>
          <p:cNvSpPr>
            <a:spLocks noGrp="1"/>
          </p:cNvSpPr>
          <p:nvPr>
            <p:ph type="sldNum" sz="quarter" idx="5"/>
          </p:nvPr>
        </p:nvSpPr>
        <p:spPr/>
        <p:txBody>
          <a:bodyPr/>
          <a:lstStyle/>
          <a:p>
            <a:pPr rtl="0"/>
            <a:fld id="{9CA004F4-F240-48F9-8AE1-486585C7F00D}" type="slidenum">
              <a:rPr lang="es-ES" smtClean="0"/>
              <a:t>15</a:t>
            </a:fld>
            <a:endParaRPr lang="es-ES" dirty="0"/>
          </a:p>
        </p:txBody>
      </p:sp>
    </p:spTree>
    <p:extLst>
      <p:ext uri="{BB962C8B-B14F-4D97-AF65-F5344CB8AC3E}">
        <p14:creationId xmlns:p14="http://schemas.microsoft.com/office/powerpoint/2010/main" val="1454439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97D165-49B0-44FF-A267-367F5A6EE306}"/>
              </a:ext>
            </a:extLst>
          </p:cNvPr>
          <p:cNvSpPr>
            <a:spLocks noGrp="1"/>
          </p:cNvSpPr>
          <p:nvPr>
            <p:ph type="ctrTitle"/>
          </p:nvPr>
        </p:nvSpPr>
        <p:spPr>
          <a:xfrm>
            <a:off x="1524000" y="2039514"/>
            <a:ext cx="9144000" cy="2128049"/>
          </a:xfrm>
        </p:spPr>
        <p:txBody>
          <a:bodyPr rtlCol="0" anchor="b"/>
          <a:lstStyle>
            <a:lvl1pPr algn="ctr">
              <a:lnSpc>
                <a:spcPct val="125000"/>
              </a:lnSpc>
              <a:defRPr sz="6000">
                <a:solidFill>
                  <a:schemeClr val="bg1"/>
                </a:solidFill>
              </a:defRPr>
            </a:lvl1pPr>
          </a:lstStyle>
          <a:p>
            <a:pPr rtl="0"/>
            <a:r>
              <a:rPr lang="es-ES" noProof="0"/>
              <a:t>Haga clic para modificar el estilo de título del patrón</a:t>
            </a:r>
            <a:endParaRPr lang="es-ES" noProof="0" dirty="0"/>
          </a:p>
        </p:txBody>
      </p:sp>
      <p:sp>
        <p:nvSpPr>
          <p:cNvPr id="3" name="Subtítulo 2">
            <a:extLst>
              <a:ext uri="{FF2B5EF4-FFF2-40B4-BE49-F238E27FC236}">
                <a16:creationId xmlns:a16="http://schemas.microsoft.com/office/drawing/2014/main"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rtlCol="0"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Arial"/>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0"/>
              <a:t>Haga clic para modificar el estilo de subtítulo del patrón</a:t>
            </a:r>
            <a:endParaRPr lang="es-ES" noProof="0" dirty="0"/>
          </a:p>
        </p:txBody>
      </p:sp>
      <p:sp>
        <p:nvSpPr>
          <p:cNvPr id="4" name="Marcador de fecha 3">
            <a:extLst>
              <a:ext uri="{FF2B5EF4-FFF2-40B4-BE49-F238E27FC236}">
                <a16:creationId xmlns:a16="http://schemas.microsoft.com/office/drawing/2014/main" id="{88B91F7B-C4AF-4FC6-A6BE-657DEF6D5358}"/>
              </a:ext>
            </a:extLst>
          </p:cNvPr>
          <p:cNvSpPr>
            <a:spLocks noGrp="1"/>
          </p:cNvSpPr>
          <p:nvPr>
            <p:ph type="dt" sz="half" idx="10"/>
          </p:nvPr>
        </p:nvSpPr>
        <p:spPr/>
        <p:txBody>
          <a:bodyPr rtlCol="0"/>
          <a:lstStyle/>
          <a:p>
            <a:pPr rtl="0"/>
            <a:fld id="{CF770DA5-3DC3-4237-90EB-C415EB41C75A}" type="datetime1">
              <a:rPr lang="es-ES" noProof="0" smtClean="0"/>
              <a:t>20/05/2025</a:t>
            </a:fld>
            <a:endParaRPr lang="es-ES" noProof="0" dirty="0"/>
          </a:p>
        </p:txBody>
      </p:sp>
      <p:sp>
        <p:nvSpPr>
          <p:cNvPr id="5" name="Marcador de pie de página 4">
            <a:extLst>
              <a:ext uri="{FF2B5EF4-FFF2-40B4-BE49-F238E27FC236}">
                <a16:creationId xmlns:a16="http://schemas.microsoft.com/office/drawing/2014/main" id="{5BED32F8-B0C7-4332-B0A5-BC19DD8C4CF5}"/>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B0030946-D0C7-4F78-94B0-427DAA6D5CB0}"/>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18950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211141-A77D-4E0E-8CAF-4CD3B279937B}"/>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017EFDE0-5A54-402A-B0C3-6BC0BB739C25}"/>
              </a:ext>
            </a:extLst>
          </p:cNvPr>
          <p:cNvSpPr>
            <a:spLocks noGrp="1"/>
          </p:cNvSpPr>
          <p:nvPr>
            <p:ph idx="1"/>
          </p:nvPr>
        </p:nvSpPr>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fecha 3">
            <a:extLst>
              <a:ext uri="{FF2B5EF4-FFF2-40B4-BE49-F238E27FC236}">
                <a16:creationId xmlns:a16="http://schemas.microsoft.com/office/drawing/2014/main" id="{8A2825AD-4585-4E37-A076-3D0070C9300C}"/>
              </a:ext>
            </a:extLst>
          </p:cNvPr>
          <p:cNvSpPr>
            <a:spLocks noGrp="1"/>
          </p:cNvSpPr>
          <p:nvPr>
            <p:ph type="dt" sz="half" idx="10"/>
          </p:nvPr>
        </p:nvSpPr>
        <p:spPr/>
        <p:txBody>
          <a:bodyPr rtlCol="0"/>
          <a:lstStyle/>
          <a:p>
            <a:pPr rtl="0"/>
            <a:fld id="{95949101-CB98-4C8F-81DB-71E43D7BC626}" type="datetime1">
              <a:rPr lang="es-ES" noProof="0" smtClean="0"/>
              <a:t>20/05/2025</a:t>
            </a:fld>
            <a:endParaRPr lang="es-ES" noProof="0" dirty="0"/>
          </a:p>
        </p:txBody>
      </p:sp>
      <p:sp>
        <p:nvSpPr>
          <p:cNvPr id="5" name="Marcador de pie de página 4">
            <a:extLst>
              <a:ext uri="{FF2B5EF4-FFF2-40B4-BE49-F238E27FC236}">
                <a16:creationId xmlns:a16="http://schemas.microsoft.com/office/drawing/2014/main" id="{512064AD-EDC3-4B13-8CD6-49EB60099ED4}"/>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7890FD1E-16F6-49B1-A938-8CE601ED7AFC}"/>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33254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9FA988-92AD-48D7-890A-AA0540961DE2}"/>
              </a:ext>
            </a:extLst>
          </p:cNvPr>
          <p:cNvSpPr>
            <a:spLocks noGrp="1"/>
          </p:cNvSpPr>
          <p:nvPr>
            <p:ph type="title"/>
          </p:nvPr>
        </p:nvSpPr>
        <p:spPr>
          <a:xfrm>
            <a:off x="831850" y="1709738"/>
            <a:ext cx="10515600" cy="2852737"/>
          </a:xfrm>
        </p:spPr>
        <p:txBody>
          <a:bodyPr rtlCol="0" anchor="b"/>
          <a:lstStyle>
            <a:lvl1pPr>
              <a:defRPr sz="6000"/>
            </a:lvl1pPr>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EAA999FA-A189-41DB-9CFC-D1356C534373}"/>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Haga clic para modificar los estilos de texto del patrón</a:t>
            </a:r>
          </a:p>
        </p:txBody>
      </p:sp>
      <p:sp>
        <p:nvSpPr>
          <p:cNvPr id="4" name="Marcador de fecha 3">
            <a:extLst>
              <a:ext uri="{FF2B5EF4-FFF2-40B4-BE49-F238E27FC236}">
                <a16:creationId xmlns:a16="http://schemas.microsoft.com/office/drawing/2014/main" id="{B24D83DC-20E7-4B71-9794-36FC33B1BA03}"/>
              </a:ext>
            </a:extLst>
          </p:cNvPr>
          <p:cNvSpPr>
            <a:spLocks noGrp="1"/>
          </p:cNvSpPr>
          <p:nvPr>
            <p:ph type="dt" sz="half" idx="10"/>
          </p:nvPr>
        </p:nvSpPr>
        <p:spPr/>
        <p:txBody>
          <a:bodyPr rtlCol="0"/>
          <a:lstStyle/>
          <a:p>
            <a:pPr rtl="0"/>
            <a:fld id="{7D302F5C-0234-440C-8773-490E51DE01B9}" type="datetime1">
              <a:rPr lang="es-ES" noProof="0" smtClean="0"/>
              <a:t>20/05/2025</a:t>
            </a:fld>
            <a:endParaRPr lang="es-ES" noProof="0" dirty="0"/>
          </a:p>
        </p:txBody>
      </p:sp>
      <p:sp>
        <p:nvSpPr>
          <p:cNvPr id="5" name="Marcador de pie de página 4">
            <a:extLst>
              <a:ext uri="{FF2B5EF4-FFF2-40B4-BE49-F238E27FC236}">
                <a16:creationId xmlns:a16="http://schemas.microsoft.com/office/drawing/2014/main" id="{44E7D103-1290-4592-B37C-19C9C9DBEAE4}"/>
              </a:ext>
            </a:extLst>
          </p:cNvPr>
          <p:cNvSpPr>
            <a:spLocks noGrp="1"/>
          </p:cNvSpPr>
          <p:nvPr>
            <p:ph type="ftr" sz="quarter" idx="11"/>
          </p:nvPr>
        </p:nvSpPr>
        <p:spPr/>
        <p:txBody>
          <a:bodyPr rtlCol="0"/>
          <a:lstStyle/>
          <a:p>
            <a:pPr rtl="0"/>
            <a:endParaRPr lang="es-ES" noProof="0" dirty="0"/>
          </a:p>
        </p:txBody>
      </p:sp>
      <p:sp>
        <p:nvSpPr>
          <p:cNvPr id="6" name="Marcador de posición de número de diapositiva 5">
            <a:extLst>
              <a:ext uri="{FF2B5EF4-FFF2-40B4-BE49-F238E27FC236}">
                <a16:creationId xmlns:a16="http://schemas.microsoft.com/office/drawing/2014/main" id="{15955B1B-4A5C-42C7-99A5-B8217736F178}"/>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19332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contenidos">
    <p:spTree>
      <p:nvGrpSpPr>
        <p:cNvPr id="1" name=""/>
        <p:cNvGrpSpPr/>
        <p:nvPr/>
      </p:nvGrpSpPr>
      <p:grpSpPr>
        <a:xfrm>
          <a:off x="0" y="0"/>
          <a:ext cx="0" cy="0"/>
          <a:chOff x="0" y="0"/>
          <a:chExt cx="0" cy="0"/>
        </a:xfrm>
      </p:grpSpPr>
      <p:sp>
        <p:nvSpPr>
          <p:cNvPr id="7" name="Marcador de posición de número de diapositiva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
        <p:nvSpPr>
          <p:cNvPr id="2" name="Título 1">
            <a:extLst>
              <a:ext uri="{FF2B5EF4-FFF2-40B4-BE49-F238E27FC236}">
                <a16:creationId xmlns:a16="http://schemas.microsoft.com/office/drawing/2014/main" id="{E7F76098-6FA1-470A-BEF4-E4B0AC75E8FE}"/>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contenido 2">
            <a:extLst>
              <a:ext uri="{FF2B5EF4-FFF2-40B4-BE49-F238E27FC236}">
                <a16:creationId xmlns:a16="http://schemas.microsoft.com/office/drawing/2014/main" id="{4B647ABC-6745-43B6-8A64-6E191BD65CA2}"/>
              </a:ext>
            </a:extLst>
          </p:cNvPr>
          <p:cNvSpPr>
            <a:spLocks noGrp="1"/>
          </p:cNvSpPr>
          <p:nvPr>
            <p:ph sz="half" idx="1"/>
          </p:nvPr>
        </p:nvSpPr>
        <p:spPr>
          <a:xfrm>
            <a:off x="838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contenido 3">
            <a:extLst>
              <a:ext uri="{FF2B5EF4-FFF2-40B4-BE49-F238E27FC236}">
                <a16:creationId xmlns:a16="http://schemas.microsoft.com/office/drawing/2014/main" id="{E4387105-2538-4216-9A7E-445FA092F960}"/>
              </a:ext>
            </a:extLst>
          </p:cNvPr>
          <p:cNvSpPr>
            <a:spLocks noGrp="1"/>
          </p:cNvSpPr>
          <p:nvPr>
            <p:ph sz="half" idx="2"/>
          </p:nvPr>
        </p:nvSpPr>
        <p:spPr>
          <a:xfrm>
            <a:off x="6172200" y="1825625"/>
            <a:ext cx="5181600" cy="435133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fecha 4">
            <a:extLst>
              <a:ext uri="{FF2B5EF4-FFF2-40B4-BE49-F238E27FC236}">
                <a16:creationId xmlns:a16="http://schemas.microsoft.com/office/drawing/2014/main" id="{47F57DE0-C032-4FCC-9006-09C2C328A665}"/>
              </a:ext>
            </a:extLst>
          </p:cNvPr>
          <p:cNvSpPr>
            <a:spLocks noGrp="1"/>
          </p:cNvSpPr>
          <p:nvPr>
            <p:ph type="dt" sz="half" idx="10"/>
          </p:nvPr>
        </p:nvSpPr>
        <p:spPr/>
        <p:txBody>
          <a:bodyPr rtlCol="0"/>
          <a:lstStyle/>
          <a:p>
            <a:pPr rtl="0"/>
            <a:fld id="{C4961380-8195-41EE-9574-2B3429217481}" type="datetime1">
              <a:rPr lang="es-ES" noProof="0" smtClean="0"/>
              <a:t>20/05/2025</a:t>
            </a:fld>
            <a:endParaRPr lang="es-ES" noProof="0" dirty="0"/>
          </a:p>
        </p:txBody>
      </p:sp>
      <p:sp>
        <p:nvSpPr>
          <p:cNvPr id="6" name="Marcador de pie de página 5">
            <a:extLst>
              <a:ext uri="{FF2B5EF4-FFF2-40B4-BE49-F238E27FC236}">
                <a16:creationId xmlns:a16="http://schemas.microsoft.com/office/drawing/2014/main" id="{90C776CB-2819-4488-9012-A6EA22079A47}"/>
              </a:ext>
            </a:extLst>
          </p:cNvPr>
          <p:cNvSpPr>
            <a:spLocks noGrp="1"/>
          </p:cNvSpPr>
          <p:nvPr>
            <p:ph type="ftr" sz="quarter" idx="11"/>
          </p:nvPr>
        </p:nvSpPr>
        <p:spPr/>
        <p:txBody>
          <a:bodyPr rtlCol="0"/>
          <a:lstStyle/>
          <a:p>
            <a:pPr rtl="0"/>
            <a:endParaRPr lang="es-ES" noProof="0" dirty="0"/>
          </a:p>
        </p:txBody>
      </p:sp>
    </p:spTree>
    <p:extLst>
      <p:ext uri="{BB962C8B-B14F-4D97-AF65-F5344CB8AC3E}">
        <p14:creationId xmlns:p14="http://schemas.microsoft.com/office/powerpoint/2010/main" val="13250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rtlCol="0"/>
          <a:lstStyle/>
          <a:p>
            <a:pPr rtl="0"/>
            <a:r>
              <a:rPr lang="es-ES" noProof="0"/>
              <a:t>Haga clic para modificar el estilo de título del patrón</a:t>
            </a:r>
            <a:endParaRPr lang="es-ES" noProof="0" dirty="0"/>
          </a:p>
        </p:txBody>
      </p:sp>
      <p:sp>
        <p:nvSpPr>
          <p:cNvPr id="3" name="Marcador de posición de texto 2">
            <a:extLst>
              <a:ext uri="{FF2B5EF4-FFF2-40B4-BE49-F238E27FC236}">
                <a16:creationId xmlns:a16="http://schemas.microsoft.com/office/drawing/2014/main" id="{D3B88E76-F6AB-4621-A9A6-20A81C5A3F91}"/>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4" name="Marcador de posición de contenido 3">
            <a:extLst>
              <a:ext uri="{FF2B5EF4-FFF2-40B4-BE49-F238E27FC236}">
                <a16:creationId xmlns:a16="http://schemas.microsoft.com/office/drawing/2014/main" id="{6A313FB9-6D6C-4F61-9E7A-76E686D06C25}"/>
              </a:ext>
            </a:extLst>
          </p:cNvPr>
          <p:cNvSpPr>
            <a:spLocks noGrp="1"/>
          </p:cNvSpPr>
          <p:nvPr>
            <p:ph sz="half" idx="2"/>
          </p:nvPr>
        </p:nvSpPr>
        <p:spPr>
          <a:xfrm>
            <a:off x="839788" y="2505075"/>
            <a:ext cx="5157787"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5" name="Marcador de posición de texto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Haga clic para modificar los estilos de texto del patrón</a:t>
            </a:r>
          </a:p>
        </p:txBody>
      </p:sp>
      <p:sp>
        <p:nvSpPr>
          <p:cNvPr id="6" name="Marcador de posición de contenido 5">
            <a:extLst>
              <a:ext uri="{FF2B5EF4-FFF2-40B4-BE49-F238E27FC236}">
                <a16:creationId xmlns:a16="http://schemas.microsoft.com/office/drawing/2014/main" id="{D8F9958C-DB5F-444E-ACE8-73F5E0CA67F1}"/>
              </a:ext>
            </a:extLst>
          </p:cNvPr>
          <p:cNvSpPr>
            <a:spLocks noGrp="1"/>
          </p:cNvSpPr>
          <p:nvPr>
            <p:ph sz="quarter" idx="4"/>
          </p:nvPr>
        </p:nvSpPr>
        <p:spPr>
          <a:xfrm>
            <a:off x="6172200" y="2505075"/>
            <a:ext cx="5183188" cy="3684588"/>
          </a:xfrm>
        </p:spPr>
        <p:txBody>
          <a:bodyPr rtlCol="0"/>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7" name="Marcador de fecha 6">
            <a:extLst>
              <a:ext uri="{FF2B5EF4-FFF2-40B4-BE49-F238E27FC236}">
                <a16:creationId xmlns:a16="http://schemas.microsoft.com/office/drawing/2014/main" id="{11D097D1-3052-4C1F-B573-CA25FFF6CCB5}"/>
              </a:ext>
            </a:extLst>
          </p:cNvPr>
          <p:cNvSpPr>
            <a:spLocks noGrp="1"/>
          </p:cNvSpPr>
          <p:nvPr>
            <p:ph type="dt" sz="half" idx="10"/>
          </p:nvPr>
        </p:nvSpPr>
        <p:spPr/>
        <p:txBody>
          <a:bodyPr rtlCol="0"/>
          <a:lstStyle/>
          <a:p>
            <a:pPr rtl="0"/>
            <a:fld id="{762FC62E-52FA-4487-916D-9648D6F062C2}" type="datetime1">
              <a:rPr lang="es-ES" noProof="0" smtClean="0"/>
              <a:t>20/05/2025</a:t>
            </a:fld>
            <a:endParaRPr lang="es-ES" noProof="0" dirty="0"/>
          </a:p>
        </p:txBody>
      </p:sp>
      <p:sp>
        <p:nvSpPr>
          <p:cNvPr id="8" name="Marcador de pie de página 7">
            <a:extLst>
              <a:ext uri="{FF2B5EF4-FFF2-40B4-BE49-F238E27FC236}">
                <a16:creationId xmlns:a16="http://schemas.microsoft.com/office/drawing/2014/main" id="{F2607AC3-2220-4DDA-A22A-C404538FE48E}"/>
              </a:ext>
            </a:extLst>
          </p:cNvPr>
          <p:cNvSpPr>
            <a:spLocks noGrp="1"/>
          </p:cNvSpPr>
          <p:nvPr>
            <p:ph type="ftr" sz="quarter" idx="11"/>
          </p:nvPr>
        </p:nvSpPr>
        <p:spPr/>
        <p:txBody>
          <a:bodyPr rtlCol="0"/>
          <a:lstStyle/>
          <a:p>
            <a:pPr rtl="0"/>
            <a:endParaRPr lang="es-ES" noProof="0" dirty="0"/>
          </a:p>
        </p:txBody>
      </p:sp>
      <p:sp>
        <p:nvSpPr>
          <p:cNvPr id="9" name="Marcador de número de diapositiva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403276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789EF5-3FD9-4423-A9E8-B67B4E902E9B}"/>
              </a:ext>
            </a:extLst>
          </p:cNvPr>
          <p:cNvSpPr>
            <a:spLocks noGrp="1"/>
          </p:cNvSpPr>
          <p:nvPr>
            <p:ph type="title"/>
          </p:nvPr>
        </p:nvSpPr>
        <p:spPr/>
        <p:txBody>
          <a:bodyPr rtlCol="0"/>
          <a:lstStyle/>
          <a:p>
            <a:pPr rtl="0"/>
            <a:r>
              <a:rPr lang="es-ES" noProof="0"/>
              <a:t>Haga clic para modificar el estilo de título del patrón</a:t>
            </a:r>
            <a:endParaRPr lang="es-ES" noProof="0" dirty="0"/>
          </a:p>
        </p:txBody>
      </p:sp>
      <p:sp>
        <p:nvSpPr>
          <p:cNvPr id="3" name="Marcador de fecha 2">
            <a:extLst>
              <a:ext uri="{FF2B5EF4-FFF2-40B4-BE49-F238E27FC236}">
                <a16:creationId xmlns:a16="http://schemas.microsoft.com/office/drawing/2014/main" id="{030D7191-31B4-440E-A4E9-F412FA55824C}"/>
              </a:ext>
            </a:extLst>
          </p:cNvPr>
          <p:cNvSpPr>
            <a:spLocks noGrp="1"/>
          </p:cNvSpPr>
          <p:nvPr>
            <p:ph type="dt" sz="half" idx="10"/>
          </p:nvPr>
        </p:nvSpPr>
        <p:spPr/>
        <p:txBody>
          <a:bodyPr rtlCol="0"/>
          <a:lstStyle/>
          <a:p>
            <a:pPr rtl="0"/>
            <a:fld id="{83F9C069-0D28-49A2-89E8-C18F9A41EF29}" type="datetime1">
              <a:rPr lang="es-ES" noProof="0" smtClean="0"/>
              <a:t>20/05/2025</a:t>
            </a:fld>
            <a:endParaRPr lang="es-ES" noProof="0" dirty="0"/>
          </a:p>
        </p:txBody>
      </p:sp>
      <p:sp>
        <p:nvSpPr>
          <p:cNvPr id="4" name="Marcador de pie de página 3">
            <a:extLst>
              <a:ext uri="{FF2B5EF4-FFF2-40B4-BE49-F238E27FC236}">
                <a16:creationId xmlns:a16="http://schemas.microsoft.com/office/drawing/2014/main" id="{8EC85CB6-0880-4BF0-8E98-291E70C71377}"/>
              </a:ext>
            </a:extLst>
          </p:cNvPr>
          <p:cNvSpPr>
            <a:spLocks noGrp="1"/>
          </p:cNvSpPr>
          <p:nvPr>
            <p:ph type="ftr" sz="quarter" idx="11"/>
          </p:nvPr>
        </p:nvSpPr>
        <p:spPr/>
        <p:txBody>
          <a:bodyPr rtlCol="0"/>
          <a:lstStyle/>
          <a:p>
            <a:pPr rtl="0"/>
            <a:endParaRPr lang="es-ES" noProof="0" dirty="0"/>
          </a:p>
        </p:txBody>
      </p:sp>
      <p:sp>
        <p:nvSpPr>
          <p:cNvPr id="5" name="Marcador de posición de número de diapositiva 4">
            <a:extLst>
              <a:ext uri="{FF2B5EF4-FFF2-40B4-BE49-F238E27FC236}">
                <a16:creationId xmlns:a16="http://schemas.microsoft.com/office/drawing/2014/main" id="{BE4A5E74-F26F-4C7A-BED1-6EE66C0B3A54}"/>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369190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655C546-684A-45B9-8890-66DC55DF7D06}"/>
              </a:ext>
            </a:extLst>
          </p:cNvPr>
          <p:cNvSpPr>
            <a:spLocks noGrp="1"/>
          </p:cNvSpPr>
          <p:nvPr>
            <p:ph type="dt" sz="half" idx="10"/>
          </p:nvPr>
        </p:nvSpPr>
        <p:spPr/>
        <p:txBody>
          <a:bodyPr rtlCol="0"/>
          <a:lstStyle/>
          <a:p>
            <a:pPr rtl="0"/>
            <a:fld id="{6CA4CD59-E103-4131-8DF1-52DAB13F24DA}" type="datetime1">
              <a:rPr lang="es-ES" noProof="0" smtClean="0"/>
              <a:t>20/05/2025</a:t>
            </a:fld>
            <a:endParaRPr lang="es-ES" noProof="0" dirty="0"/>
          </a:p>
        </p:txBody>
      </p:sp>
      <p:sp>
        <p:nvSpPr>
          <p:cNvPr id="3" name="Marcador de pie de página 2">
            <a:extLst>
              <a:ext uri="{FF2B5EF4-FFF2-40B4-BE49-F238E27FC236}">
                <a16:creationId xmlns:a16="http://schemas.microsoft.com/office/drawing/2014/main" id="{4543EBDF-D696-42F7-B962-56F5FEE120CC}"/>
              </a:ext>
            </a:extLst>
          </p:cNvPr>
          <p:cNvSpPr>
            <a:spLocks noGrp="1"/>
          </p:cNvSpPr>
          <p:nvPr>
            <p:ph type="ftr" sz="quarter" idx="11"/>
          </p:nvPr>
        </p:nvSpPr>
        <p:spPr/>
        <p:txBody>
          <a:bodyPr rtlCol="0"/>
          <a:lstStyle/>
          <a:p>
            <a:pPr rtl="0"/>
            <a:endParaRPr lang="es-ES" noProof="0" dirty="0"/>
          </a:p>
        </p:txBody>
      </p:sp>
      <p:sp>
        <p:nvSpPr>
          <p:cNvPr id="4" name="Marcador de número de diapositiva 3">
            <a:extLst>
              <a:ext uri="{FF2B5EF4-FFF2-40B4-BE49-F238E27FC236}">
                <a16:creationId xmlns:a16="http://schemas.microsoft.com/office/drawing/2014/main" id="{6789D77E-1675-4F9D-9113-B274CB0E87FA}"/>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7460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8E9C90-06AB-49B5-9970-F5791DE93A41}"/>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contenido 2">
            <a:extLst>
              <a:ext uri="{FF2B5EF4-FFF2-40B4-BE49-F238E27FC236}">
                <a16:creationId xmlns:a16="http://schemas.microsoft.com/office/drawing/2014/main" id="{EFFB0071-932D-4CA0-92FB-A6E75AC85569}"/>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Haga clic para modificar los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endParaRPr lang="es-ES" noProof="0" dirty="0"/>
          </a:p>
        </p:txBody>
      </p:sp>
      <p:sp>
        <p:nvSpPr>
          <p:cNvPr id="4" name="Marcador de posición de texto 3">
            <a:extLst>
              <a:ext uri="{FF2B5EF4-FFF2-40B4-BE49-F238E27FC236}">
                <a16:creationId xmlns:a16="http://schemas.microsoft.com/office/drawing/2014/main" id="{71C8D9F5-8B70-4BDD-9CB5-BBF87CF5535C}"/>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7989DE91-7A80-4682-9D32-2CD41DEFB7B2}"/>
              </a:ext>
            </a:extLst>
          </p:cNvPr>
          <p:cNvSpPr>
            <a:spLocks noGrp="1"/>
          </p:cNvSpPr>
          <p:nvPr>
            <p:ph type="dt" sz="half" idx="10"/>
          </p:nvPr>
        </p:nvSpPr>
        <p:spPr/>
        <p:txBody>
          <a:bodyPr rtlCol="0"/>
          <a:lstStyle/>
          <a:p>
            <a:pPr rtl="0"/>
            <a:fld id="{FA5B45D9-35B1-4184-8C71-E0506363883B}" type="datetime1">
              <a:rPr lang="es-ES" noProof="0" smtClean="0"/>
              <a:t>20/05/2025</a:t>
            </a:fld>
            <a:endParaRPr lang="es-ES" noProof="0" dirty="0"/>
          </a:p>
        </p:txBody>
      </p:sp>
      <p:sp>
        <p:nvSpPr>
          <p:cNvPr id="6" name="Marcador de pie de página 5">
            <a:extLst>
              <a:ext uri="{FF2B5EF4-FFF2-40B4-BE49-F238E27FC236}">
                <a16:creationId xmlns:a16="http://schemas.microsoft.com/office/drawing/2014/main" id="{7B9E2482-2E7D-4868-95A7-4A55B40FECE1}"/>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1F4E84CF-C3E5-4475-84C7-21CBAC064B74}"/>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96262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0E0AA-5363-4861-AB6B-0E4D34D74B92}"/>
              </a:ext>
            </a:extLst>
          </p:cNvPr>
          <p:cNvSpPr>
            <a:spLocks noGrp="1"/>
          </p:cNvSpPr>
          <p:nvPr>
            <p:ph type="title"/>
          </p:nvPr>
        </p:nvSpPr>
        <p:spPr>
          <a:xfrm>
            <a:off x="839788" y="457200"/>
            <a:ext cx="3932237" cy="1600200"/>
          </a:xfrm>
        </p:spPr>
        <p:txBody>
          <a:bodyPr rtlCol="0" anchor="b"/>
          <a:lstStyle>
            <a:lvl1pPr>
              <a:defRPr sz="3200"/>
            </a:lvl1pPr>
          </a:lstStyle>
          <a:p>
            <a:pPr rtl="0"/>
            <a:r>
              <a:rPr lang="es-ES" noProof="0"/>
              <a:t>Haga clic para modificar el estilo de título del patrón</a:t>
            </a:r>
            <a:endParaRPr lang="es-ES" noProof="0" dirty="0"/>
          </a:p>
        </p:txBody>
      </p:sp>
      <p:sp>
        <p:nvSpPr>
          <p:cNvPr id="3" name="Marcador de posición de imagen 2">
            <a:extLst>
              <a:ext uri="{FF2B5EF4-FFF2-40B4-BE49-F238E27FC236}">
                <a16:creationId xmlns:a16="http://schemas.microsoft.com/office/drawing/2014/main" id="{8D44B7CE-2038-4CCA-AA8A-D03DE5FD956E}"/>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endParaRPr lang="es-ES" noProof="0" dirty="0"/>
          </a:p>
        </p:txBody>
      </p:sp>
      <p:sp>
        <p:nvSpPr>
          <p:cNvPr id="4" name="Marcador de posición de texto 3">
            <a:extLst>
              <a:ext uri="{FF2B5EF4-FFF2-40B4-BE49-F238E27FC236}">
                <a16:creationId xmlns:a16="http://schemas.microsoft.com/office/drawing/2014/main" id="{EA79774D-36EB-4201-B1AC-922DD2E06640}"/>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Haga clic para modificar los estilos de texto del patrón</a:t>
            </a:r>
          </a:p>
        </p:txBody>
      </p:sp>
      <p:sp>
        <p:nvSpPr>
          <p:cNvPr id="5" name="Marcador de fecha 4">
            <a:extLst>
              <a:ext uri="{FF2B5EF4-FFF2-40B4-BE49-F238E27FC236}">
                <a16:creationId xmlns:a16="http://schemas.microsoft.com/office/drawing/2014/main" id="{CAD1E234-1CB2-41A0-B40D-7E7F160CBA11}"/>
              </a:ext>
            </a:extLst>
          </p:cNvPr>
          <p:cNvSpPr>
            <a:spLocks noGrp="1"/>
          </p:cNvSpPr>
          <p:nvPr>
            <p:ph type="dt" sz="half" idx="10"/>
          </p:nvPr>
        </p:nvSpPr>
        <p:spPr/>
        <p:txBody>
          <a:bodyPr rtlCol="0"/>
          <a:lstStyle/>
          <a:p>
            <a:pPr rtl="0"/>
            <a:fld id="{F6BD2F12-55B2-4258-9B7A-329D8EBE60F6}" type="datetime1">
              <a:rPr lang="es-ES" noProof="0" smtClean="0"/>
              <a:t>20/05/2025</a:t>
            </a:fld>
            <a:endParaRPr lang="es-ES" noProof="0" dirty="0"/>
          </a:p>
        </p:txBody>
      </p:sp>
      <p:sp>
        <p:nvSpPr>
          <p:cNvPr id="6" name="Marcador de pie de página 5">
            <a:extLst>
              <a:ext uri="{FF2B5EF4-FFF2-40B4-BE49-F238E27FC236}">
                <a16:creationId xmlns:a16="http://schemas.microsoft.com/office/drawing/2014/main" id="{99FD472E-6334-4051-B4D9-6361A819F792}"/>
              </a:ext>
            </a:extLst>
          </p:cNvPr>
          <p:cNvSpPr>
            <a:spLocks noGrp="1"/>
          </p:cNvSpPr>
          <p:nvPr>
            <p:ph type="ftr" sz="quarter" idx="11"/>
          </p:nvPr>
        </p:nvSpPr>
        <p:spPr/>
        <p:txBody>
          <a:bodyPr rtlCol="0"/>
          <a:lstStyle/>
          <a:p>
            <a:pPr rtl="0"/>
            <a:endParaRPr lang="es-ES" noProof="0" dirty="0"/>
          </a:p>
        </p:txBody>
      </p:sp>
      <p:sp>
        <p:nvSpPr>
          <p:cNvPr id="7" name="Marcador de posición de número de diapositiva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rtlCol="0"/>
          <a:lstStyle/>
          <a:p>
            <a:pPr rtl="0"/>
            <a:fld id="{82EE24B5-652C-4DB5-B7C3-B5BBEC1280B1}" type="slidenum">
              <a:rPr lang="es-ES" noProof="0" smtClean="0"/>
              <a:t>‹Nº›</a:t>
            </a:fld>
            <a:endParaRPr lang="es-ES" noProof="0" dirty="0"/>
          </a:p>
        </p:txBody>
      </p:sp>
    </p:spTree>
    <p:extLst>
      <p:ext uri="{BB962C8B-B14F-4D97-AF65-F5344CB8AC3E}">
        <p14:creationId xmlns:p14="http://schemas.microsoft.com/office/powerpoint/2010/main" val="236744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dirty="0"/>
              <a:t>Haga clic para modificar el estilo de título del patrón</a:t>
            </a:r>
          </a:p>
        </p:txBody>
      </p:sp>
      <p:sp>
        <p:nvSpPr>
          <p:cNvPr id="3" name="Marcador de posición de texto 2">
            <a:extLst>
              <a:ext uri="{FF2B5EF4-FFF2-40B4-BE49-F238E27FC236}">
                <a16:creationId xmlns:a16="http://schemas.microsoft.com/office/drawing/2014/main"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s-ES" noProof="0" dirty="0"/>
              <a:t>Haga clic para modificar los estilos de texto del patrón</a:t>
            </a:r>
          </a:p>
          <a:p>
            <a:pPr lvl="1" rtl="0"/>
            <a:r>
              <a:rPr lang="es-ES" noProof="0" dirty="0"/>
              <a:t>Segundo nivel</a:t>
            </a:r>
          </a:p>
          <a:p>
            <a:pPr lvl="2" rtl="0"/>
            <a:r>
              <a:rPr lang="es-ES" noProof="0" dirty="0"/>
              <a:t>Tercer nivel</a:t>
            </a:r>
          </a:p>
          <a:p>
            <a:pPr lvl="3" rtl="0"/>
            <a:r>
              <a:rPr lang="es-ES" noProof="0" dirty="0"/>
              <a:t>Cuarto nivel</a:t>
            </a:r>
          </a:p>
          <a:p>
            <a:pPr lvl="4" rtl="0"/>
            <a:r>
              <a:rPr lang="es-ES" noProof="0" dirty="0"/>
              <a:t>Quinto nivel</a:t>
            </a:r>
          </a:p>
        </p:txBody>
      </p:sp>
      <p:sp>
        <p:nvSpPr>
          <p:cNvPr id="4" name="Marcador de fecha 3">
            <a:extLst>
              <a:ext uri="{FF2B5EF4-FFF2-40B4-BE49-F238E27FC236}">
                <a16:creationId xmlns:a16="http://schemas.microsoft.com/office/drawing/2014/main" id="{FDB0252E-67CD-4B33-849F-7B1449CF27D0}"/>
              </a:ext>
            </a:extLst>
          </p:cNvPr>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38414F15-D7D0-4AAB-BCEA-8D737141E1BB}" type="datetime1">
              <a:rPr lang="es-ES" noProof="0" smtClean="0"/>
              <a:t>20/05/2025</a:t>
            </a:fld>
            <a:endParaRPr lang="es-ES" noProof="0" dirty="0"/>
          </a:p>
        </p:txBody>
      </p:sp>
      <p:sp>
        <p:nvSpPr>
          <p:cNvPr id="5" name="Marcador de pie de página 4">
            <a:extLst>
              <a:ext uri="{FF2B5EF4-FFF2-40B4-BE49-F238E27FC236}">
                <a16:creationId xmlns:a16="http://schemas.microsoft.com/office/drawing/2014/main" id="{DC620AD2-E3F8-48CB-8B72-B0945DF5348A}"/>
              </a:ext>
            </a:extLst>
          </p:cNvPr>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es-ES" noProof="0" dirty="0"/>
          </a:p>
        </p:txBody>
      </p:sp>
      <p:sp>
        <p:nvSpPr>
          <p:cNvPr id="10" name="Elipse 9">
            <a:extLst>
              <a:ext uri="{FF2B5EF4-FFF2-40B4-BE49-F238E27FC236}">
                <a16:creationId xmlns:a16="http://schemas.microsoft.com/office/drawing/2014/main" id="{5A5F3BCF-F6FD-4DFF-B0B4-9892C9389344}"/>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dirty="0"/>
          </a:p>
        </p:txBody>
      </p:sp>
      <p:sp>
        <p:nvSpPr>
          <p:cNvPr id="6" name="Marcador de posición de número de diapositiva 5">
            <a:extLst>
              <a:ext uri="{FF2B5EF4-FFF2-40B4-BE49-F238E27FC236}">
                <a16:creationId xmlns:a16="http://schemas.microsoft.com/office/drawing/2014/main" id="{D15DEFFD-817B-43EC-86F0-34DEA2BA5EEB}"/>
              </a:ext>
            </a:extLst>
          </p:cNvPr>
          <p:cNvSpPr>
            <a:spLocks noGrp="1"/>
          </p:cNvSpPr>
          <p:nvPr>
            <p:ph type="sldNum" sz="quarter" idx="4"/>
          </p:nvPr>
        </p:nvSpPr>
        <p:spPr>
          <a:xfrm>
            <a:off x="11453346" y="6174902"/>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pPr rtl="0"/>
            <a:fld id="{82EE24B5-652C-4DB5-B7C3-B5BBEC1280B1}" type="slidenum">
              <a:rPr lang="es-ES" noProof="0" smtClean="0"/>
              <a:pPr rtl="0"/>
              <a:t>‹Nº›</a:t>
            </a:fld>
            <a:endParaRPr lang="es-ES" noProof="0" dirty="0"/>
          </a:p>
        </p:txBody>
      </p:sp>
    </p:spTree>
    <p:extLst>
      <p:ext uri="{BB962C8B-B14F-4D97-AF65-F5344CB8AC3E}">
        <p14:creationId xmlns:p14="http://schemas.microsoft.com/office/powerpoint/2010/main" val="366410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diagramLayout" Target="../diagrams/layout5.xml"/><Relationship Id="rId7" Type="http://schemas.openxmlformats.org/officeDocument/2006/relationships/diagramData" Target="../diagrams/data6.xml"/><Relationship Id="rId2" Type="http://schemas.openxmlformats.org/officeDocument/2006/relationships/diagramData" Target="../diagrams/data5.xml"/><Relationship Id="rId1" Type="http://schemas.openxmlformats.org/officeDocument/2006/relationships/slideLayout" Target="../slideLayouts/slideLayout5.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to 2" descr="Rectángulo azul">
            <a:extLst>
              <a:ext uri="{FF2B5EF4-FFF2-40B4-BE49-F238E27FC236}">
                <a16:creationId xmlns:a16="http://schemas.microsoft.com/office/drawing/2014/main" id="{482BBC39-5D4C-4E24-ADB1-5FFFBA7198DC}"/>
              </a:ext>
            </a:extLst>
          </p:cNvPr>
          <p:cNvSpPr/>
          <p:nvPr/>
        </p:nvSpPr>
        <p:spPr>
          <a:xfrm>
            <a:off x="0" y="0"/>
            <a:ext cx="12188952" cy="6858000"/>
          </a:xfrm>
          <a:prstGeom prst="rect">
            <a:avLst/>
          </a:prstGeom>
          <a:blipFill>
            <a:blip r:embed="rId3"/>
            <a:srcRect/>
            <a:stretch>
              <a:fillRect l="-12" r="-12"/>
            </a:stretch>
          </a:blipFill>
        </p:spPr>
        <p:txBody>
          <a:bodyPr wrap="square" lIns="0" tIns="0" rIns="0" bIns="0" rtlCol="0"/>
          <a:lstStyle/>
          <a:p>
            <a:pPr rtl="0"/>
            <a:endParaRPr lang="es-ES" dirty="0"/>
          </a:p>
        </p:txBody>
      </p:sp>
      <p:sp>
        <p:nvSpPr>
          <p:cNvPr id="4" name="objeto 3" descr="Personas con documentos">
            <a:extLst>
              <a:ext uri="{FF2B5EF4-FFF2-40B4-BE49-F238E27FC236}">
                <a16:creationId xmlns:a16="http://schemas.microsoft.com/office/drawing/2014/main" id="{0CA2E80D-F3EC-4A5F-8E65-56FEA206EE0F}"/>
              </a:ext>
            </a:extLst>
          </p:cNvPr>
          <p:cNvSpPr/>
          <p:nvPr/>
        </p:nvSpPr>
        <p:spPr>
          <a:xfrm>
            <a:off x="2540" y="0"/>
            <a:ext cx="1218946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pPr rtl="0"/>
            <a:endParaRPr lang="es-ES" dirty="0"/>
          </a:p>
        </p:txBody>
      </p:sp>
      <p:sp>
        <p:nvSpPr>
          <p:cNvPr id="2" name="Título 1">
            <a:extLst>
              <a:ext uri="{FF2B5EF4-FFF2-40B4-BE49-F238E27FC236}">
                <a16:creationId xmlns:a16="http://schemas.microsoft.com/office/drawing/2014/main" id="{AFB6C91D-4B22-49F1-9A0B-ABEB9E1F5A26}"/>
              </a:ext>
            </a:extLst>
          </p:cNvPr>
          <p:cNvSpPr>
            <a:spLocks noGrp="1"/>
          </p:cNvSpPr>
          <p:nvPr>
            <p:ph type="ctrTitle"/>
          </p:nvPr>
        </p:nvSpPr>
        <p:spPr>
          <a:xfrm>
            <a:off x="776804" y="602565"/>
            <a:ext cx="10635343" cy="2852053"/>
          </a:xfrm>
        </p:spPr>
        <p:txBody>
          <a:bodyPr rtlCol="0">
            <a:noAutofit/>
          </a:bodyPr>
          <a:lstStyle/>
          <a:p>
            <a:r>
              <a:rPr lang="en-US" sz="4400" dirty="0">
                <a:latin typeface="Slack-Lato"/>
              </a:rPr>
              <a:t>Urban Accommodation Analysis:</a:t>
            </a:r>
            <a:br>
              <a:rPr lang="en-US" sz="4400" dirty="0">
                <a:latin typeface="Slack-Lato"/>
              </a:rPr>
            </a:br>
            <a:r>
              <a:rPr lang="en-US" sz="4400" dirty="0">
                <a:latin typeface="Slack-Lato"/>
              </a:rPr>
              <a:t>Insights from Airbnb in</a:t>
            </a:r>
            <a:br>
              <a:rPr lang="en-US" sz="4400" dirty="0">
                <a:latin typeface="Slack-Lato"/>
              </a:rPr>
            </a:br>
            <a:r>
              <a:rPr lang="en-US" sz="4400" dirty="0">
                <a:latin typeface="Slack-Lato"/>
              </a:rPr>
              <a:t>Barcelona, Madrid, and Seville"</a:t>
            </a:r>
            <a:endParaRPr lang="es-ES" sz="4400" dirty="0">
              <a:latin typeface="Slack-Lato"/>
            </a:endParaRPr>
          </a:p>
        </p:txBody>
      </p:sp>
      <p:sp>
        <p:nvSpPr>
          <p:cNvPr id="3" name="Subtítulo 2">
            <a:extLst>
              <a:ext uri="{FF2B5EF4-FFF2-40B4-BE49-F238E27FC236}">
                <a16:creationId xmlns:a16="http://schemas.microsoft.com/office/drawing/2014/main" id="{2F8CF06A-B594-4BA2-8B1E-D649096D742F}"/>
              </a:ext>
            </a:extLst>
          </p:cNvPr>
          <p:cNvSpPr>
            <a:spLocks noGrp="1"/>
          </p:cNvSpPr>
          <p:nvPr>
            <p:ph type="subTitle" idx="1"/>
          </p:nvPr>
        </p:nvSpPr>
        <p:spPr>
          <a:xfrm>
            <a:off x="3854824" y="4221162"/>
            <a:ext cx="4185176" cy="882001"/>
          </a:xfrm>
          <a:solidFill>
            <a:schemeClr val="accent2">
              <a:alpha val="90000"/>
            </a:schemeClr>
          </a:solidFill>
        </p:spPr>
        <p:txBody>
          <a:bodyPr rtlCol="0" anchor="ctr" anchorCtr="0">
            <a:normAutofit/>
          </a:bodyPr>
          <a:lstStyle/>
          <a:p>
            <a:pPr rtl="0"/>
            <a:r>
              <a:rPr lang="es-ES" dirty="0"/>
              <a:t>Alberto Torres</a:t>
            </a:r>
            <a:endParaRPr lang="es-ES" sz="2500" b="1" i="1" spc="65" dirty="0">
              <a:solidFill>
                <a:schemeClr val="accent1"/>
              </a:solidFill>
              <a:latin typeface="Arial"/>
              <a:cs typeface="Arial"/>
            </a:endParaRPr>
          </a:p>
        </p:txBody>
      </p:sp>
      <p:sp>
        <p:nvSpPr>
          <p:cNvPr id="6" name="objeto 7" descr="Rectángulo beige">
            <a:extLst>
              <a:ext uri="{FF2B5EF4-FFF2-40B4-BE49-F238E27FC236}">
                <a16:creationId xmlns:a16="http://schemas.microsoft.com/office/drawing/2014/main" id="{B36975AA-C62E-46BE-9382-E2CF56FDF817}"/>
              </a:ext>
            </a:extLst>
          </p:cNvPr>
          <p:cNvSpPr/>
          <p:nvPr/>
        </p:nvSpPr>
        <p:spPr>
          <a:xfrm flipV="1">
            <a:off x="2590649" y="3454618"/>
            <a:ext cx="6713526" cy="45719"/>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pPr rtl="0"/>
            <a:endParaRPr lang="es-ES" dirty="0"/>
          </a:p>
        </p:txBody>
      </p:sp>
    </p:spTree>
    <p:extLst>
      <p:ext uri="{BB962C8B-B14F-4D97-AF65-F5344CB8AC3E}">
        <p14:creationId xmlns:p14="http://schemas.microsoft.com/office/powerpoint/2010/main" val="109355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0B808038-5445-16E3-C0D3-39241183A58A}"/>
              </a:ext>
            </a:extLst>
          </p:cNvPr>
          <p:cNvSpPr>
            <a:spLocks noGrp="1"/>
          </p:cNvSpPr>
          <p:nvPr>
            <p:ph type="sldNum" sz="quarter" idx="12"/>
          </p:nvPr>
        </p:nvSpPr>
        <p:spPr>
          <a:xfrm>
            <a:off x="11453346" y="6174902"/>
            <a:ext cx="357116" cy="365125"/>
          </a:xfrm>
        </p:spPr>
        <p:txBody>
          <a:bodyPr anchor="ctr">
            <a:normAutofit/>
          </a:bodyPr>
          <a:lstStyle/>
          <a:p>
            <a:pPr rtl="0">
              <a:spcAft>
                <a:spcPts val="600"/>
              </a:spcAft>
            </a:pPr>
            <a:fld id="{82EE24B5-652C-4DB5-B7C3-B5BBEC1280B1}" type="slidenum">
              <a:rPr lang="es-ES" noProof="0" smtClean="0"/>
              <a:pPr rtl="0">
                <a:spcAft>
                  <a:spcPts val="600"/>
                </a:spcAft>
              </a:pPr>
              <a:t>2</a:t>
            </a:fld>
            <a:endParaRPr lang="es-ES" noProof="0"/>
          </a:p>
        </p:txBody>
      </p:sp>
      <p:sp>
        <p:nvSpPr>
          <p:cNvPr id="9" name="Title 2">
            <a:extLst>
              <a:ext uri="{FF2B5EF4-FFF2-40B4-BE49-F238E27FC236}">
                <a16:creationId xmlns:a16="http://schemas.microsoft.com/office/drawing/2014/main" id="{713CB90B-E1AB-CCC7-9AD4-17C1D97E0FE4}"/>
              </a:ext>
            </a:extLst>
          </p:cNvPr>
          <p:cNvSpPr>
            <a:spLocks noGrp="1"/>
          </p:cNvSpPr>
          <p:nvPr>
            <p:ph type="title"/>
          </p:nvPr>
        </p:nvSpPr>
        <p:spPr>
          <a:xfrm>
            <a:off x="838200" y="365125"/>
            <a:ext cx="10515600" cy="1325563"/>
          </a:xfrm>
        </p:spPr>
        <p:txBody>
          <a:bodyPr anchor="ctr">
            <a:normAutofit/>
          </a:bodyPr>
          <a:lstStyle/>
          <a:p>
            <a:r>
              <a:rPr lang="es-ES" dirty="0"/>
              <a:t>Project </a:t>
            </a:r>
            <a:r>
              <a:rPr lang="es-ES" dirty="0" err="1"/>
              <a:t>Presentation</a:t>
            </a:r>
            <a:endParaRPr lang="en-US" dirty="0"/>
          </a:p>
        </p:txBody>
      </p:sp>
      <p:graphicFrame>
        <p:nvGraphicFramePr>
          <p:cNvPr id="5" name="Marcador de contenido 4">
            <a:extLst>
              <a:ext uri="{FF2B5EF4-FFF2-40B4-BE49-F238E27FC236}">
                <a16:creationId xmlns:a16="http://schemas.microsoft.com/office/drawing/2014/main" id="{A01AC789-DC2D-D1A1-07D1-AAE2703DB630}"/>
              </a:ext>
            </a:extLst>
          </p:cNvPr>
          <p:cNvGraphicFramePr>
            <a:graphicFrameLocks noGrp="1"/>
          </p:cNvGraphicFramePr>
          <p:nvPr>
            <p:ph sz="half" idx="1"/>
            <p:extLst>
              <p:ext uri="{D42A27DB-BD31-4B8C-83A1-F6EECF244321}">
                <p14:modId xmlns:p14="http://schemas.microsoft.com/office/powerpoint/2010/main" val="4264451854"/>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Content Placeholder 4">
            <a:extLst>
              <a:ext uri="{FF2B5EF4-FFF2-40B4-BE49-F238E27FC236}">
                <a16:creationId xmlns:a16="http://schemas.microsoft.com/office/drawing/2014/main" id="{89BC513A-0099-8BC4-D964-64DD89FE014A}"/>
              </a:ext>
            </a:extLst>
          </p:cNvPr>
          <p:cNvGraphicFramePr>
            <a:graphicFrameLocks noGrp="1"/>
          </p:cNvGraphicFramePr>
          <p:nvPr>
            <p:ph sz="half" idx="2"/>
            <p:extLst>
              <p:ext uri="{D42A27DB-BD31-4B8C-83A1-F6EECF244321}">
                <p14:modId xmlns:p14="http://schemas.microsoft.com/office/powerpoint/2010/main" val="2870978431"/>
              </p:ext>
            </p:extLst>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65257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5A398CFA-5748-E179-17ED-A277BC46553E}"/>
              </a:ext>
            </a:extLst>
          </p:cNvPr>
          <p:cNvSpPr>
            <a:spLocks noGrp="1"/>
          </p:cNvSpPr>
          <p:nvPr>
            <p:ph type="sldNum" sz="quarter" idx="12"/>
          </p:nvPr>
        </p:nvSpPr>
        <p:spPr>
          <a:xfrm>
            <a:off x="11453346" y="6174902"/>
            <a:ext cx="357116" cy="365125"/>
          </a:xfrm>
        </p:spPr>
        <p:txBody>
          <a:bodyPr anchor="ctr">
            <a:normAutofit/>
          </a:bodyPr>
          <a:lstStyle/>
          <a:p>
            <a:pPr rtl="0">
              <a:spcAft>
                <a:spcPts val="600"/>
              </a:spcAft>
            </a:pPr>
            <a:fld id="{82EE24B5-652C-4DB5-B7C3-B5BBEC1280B1}" type="slidenum">
              <a:rPr lang="es-ES" noProof="0" smtClean="0"/>
              <a:pPr rtl="0">
                <a:spcAft>
                  <a:spcPts val="600"/>
                </a:spcAft>
              </a:pPr>
              <a:t>3</a:t>
            </a:fld>
            <a:endParaRPr lang="es-ES" noProof="0"/>
          </a:p>
        </p:txBody>
      </p:sp>
      <p:sp>
        <p:nvSpPr>
          <p:cNvPr id="4" name="Marcador de contenido 3">
            <a:extLst>
              <a:ext uri="{FF2B5EF4-FFF2-40B4-BE49-F238E27FC236}">
                <a16:creationId xmlns:a16="http://schemas.microsoft.com/office/drawing/2014/main" id="{0D73C3DA-1F0E-E394-6150-1E16BEB3FF1F}"/>
              </a:ext>
            </a:extLst>
          </p:cNvPr>
          <p:cNvSpPr>
            <a:spLocks noGrp="1"/>
          </p:cNvSpPr>
          <p:nvPr>
            <p:ph sz="half" idx="1"/>
          </p:nvPr>
        </p:nvSpPr>
        <p:spPr>
          <a:xfrm>
            <a:off x="838200" y="1825625"/>
            <a:ext cx="5181600" cy="4351338"/>
          </a:xfrm>
        </p:spPr>
        <p:txBody>
          <a:bodyPr>
            <a:normAutofit lnSpcReduction="10000"/>
          </a:bodyPr>
          <a:lstStyle/>
          <a:p>
            <a:pPr marL="0" indent="0">
              <a:buNone/>
            </a:pPr>
            <a:r>
              <a:rPr lang="en-US" sz="2400" b="1" dirty="0"/>
              <a:t>📌 Solution with AI and Data Analysis:</a:t>
            </a:r>
            <a:br>
              <a:rPr lang="en-US" sz="2400" dirty="0"/>
            </a:br>
            <a:r>
              <a:rPr lang="en-US" sz="2400" dirty="0"/>
              <a:t>Machine Learning (ML) and Deep Learning (DL) techniques were applied to:</a:t>
            </a:r>
            <a:br>
              <a:rPr lang="en-US" sz="2400" dirty="0"/>
            </a:br>
            <a:r>
              <a:rPr lang="en-US" sz="2400" dirty="0"/>
              <a:t>✅ Predict optimal accommodation prices.</a:t>
            </a:r>
            <a:br>
              <a:rPr lang="en-US" sz="2400" dirty="0"/>
            </a:br>
            <a:r>
              <a:rPr lang="en-US" sz="2400" dirty="0"/>
              <a:t>✅ Identify demand patterns based on location, accommodation type, and season.</a:t>
            </a:r>
            <a:br>
              <a:rPr lang="en-US" sz="2400" dirty="0"/>
            </a:br>
            <a:r>
              <a:rPr lang="en-US" sz="2400" dirty="0"/>
              <a:t>✅ Perform segmentation analysis to differentiate host and guest profiles</a:t>
            </a:r>
            <a:endParaRPr lang="es-ES" dirty="0"/>
          </a:p>
        </p:txBody>
      </p:sp>
      <p:pic>
        <p:nvPicPr>
          <p:cNvPr id="1026" name="Picture 2" descr="Deep Learning e Machine Learning">
            <a:extLst>
              <a:ext uri="{FF2B5EF4-FFF2-40B4-BE49-F238E27FC236}">
                <a16:creationId xmlns:a16="http://schemas.microsoft.com/office/drawing/2014/main" id="{C78F7AD1-8EE7-18E5-380E-2BCD81A6B0F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b="-2"/>
          <a:stretch/>
        </p:blipFill>
        <p:spPr bwMode="auto">
          <a:xfrm>
            <a:off x="6172200" y="1825625"/>
            <a:ext cx="5181600" cy="4351338"/>
          </a:xfrm>
          <a:prstGeom prst="rect">
            <a:avLst/>
          </a:prstGeom>
          <a:solidFill>
            <a:srgbClr val="FFFFFF"/>
          </a:solidFill>
        </p:spPr>
      </p:pic>
      <p:sp>
        <p:nvSpPr>
          <p:cNvPr id="7" name="Rectangle 3">
            <a:extLst>
              <a:ext uri="{FF2B5EF4-FFF2-40B4-BE49-F238E27FC236}">
                <a16:creationId xmlns:a16="http://schemas.microsoft.com/office/drawing/2014/main" id="{95A68C02-03DC-388B-4D8F-8277B6AC3F4E}"/>
              </a:ext>
            </a:extLst>
          </p:cNvPr>
          <p:cNvSpPr>
            <a:spLocks noGrp="1" noChangeArrowheads="1"/>
          </p:cNvSpPr>
          <p:nvPr>
            <p:ph type="title"/>
          </p:nvPr>
        </p:nvSpPr>
        <p:spPr bwMode="auto">
          <a:xfrm>
            <a:off x="838200" y="597020"/>
            <a:ext cx="5894371"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b="1" i="0" u="none" strike="noStrike" cap="none" normalizeH="0" baseline="0" dirty="0" err="1">
                <a:ln>
                  <a:noFill/>
                </a:ln>
                <a:solidFill>
                  <a:schemeClr val="bg2">
                    <a:lumMod val="50000"/>
                  </a:schemeClr>
                </a:solidFill>
                <a:effectLst/>
              </a:rPr>
              <a:t>Technical</a:t>
            </a:r>
            <a:r>
              <a:rPr kumimoji="0" lang="es-ES" altLang="es-ES" b="1" i="0" u="none" strike="noStrike" cap="none" normalizeH="0" baseline="0" dirty="0">
                <a:ln>
                  <a:noFill/>
                </a:ln>
                <a:solidFill>
                  <a:schemeClr val="bg2">
                    <a:lumMod val="50000"/>
                  </a:schemeClr>
                </a:solidFill>
                <a:effectLst/>
              </a:rPr>
              <a:t> </a:t>
            </a:r>
            <a:r>
              <a:rPr kumimoji="0" lang="es-ES" altLang="es-ES" b="1" i="0" u="none" strike="noStrike" cap="none" normalizeH="0" baseline="0" dirty="0" err="1">
                <a:ln>
                  <a:noFill/>
                </a:ln>
                <a:solidFill>
                  <a:schemeClr val="bg2">
                    <a:lumMod val="50000"/>
                  </a:schemeClr>
                </a:solidFill>
                <a:effectLst/>
              </a:rPr>
              <a:t>Problem</a:t>
            </a:r>
            <a:r>
              <a:rPr kumimoji="0" lang="es-ES" altLang="es-ES" b="1" i="0" u="none" strike="noStrike" cap="none" normalizeH="0" baseline="0" dirty="0">
                <a:ln>
                  <a:noFill/>
                </a:ln>
                <a:solidFill>
                  <a:schemeClr val="bg2">
                    <a:lumMod val="50000"/>
                  </a:schemeClr>
                </a:solidFill>
                <a:effectLst/>
              </a:rPr>
              <a:t> </a:t>
            </a:r>
            <a:r>
              <a:rPr kumimoji="0" lang="es-ES" altLang="es-ES" b="1" i="0" u="none" strike="noStrike" cap="none" normalizeH="0" baseline="0" dirty="0" err="1">
                <a:ln>
                  <a:noFill/>
                </a:ln>
                <a:solidFill>
                  <a:schemeClr val="bg2">
                    <a:lumMod val="50000"/>
                  </a:schemeClr>
                </a:solidFill>
                <a:effectLst/>
              </a:rPr>
              <a:t>Statement</a:t>
            </a:r>
            <a:endParaRPr kumimoji="0" lang="es-ES" altLang="es-ES" b="0" i="0" u="none" strike="noStrike" cap="none" normalizeH="0" baseline="0" dirty="0">
              <a:ln>
                <a:noFill/>
              </a:ln>
              <a:solidFill>
                <a:schemeClr val="bg2">
                  <a:lumMod val="50000"/>
                </a:schemeClr>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11152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0DAD5C-E953-A28B-6F48-521FEEE4C79C}"/>
              </a:ext>
            </a:extLst>
          </p:cNvPr>
          <p:cNvSpPr>
            <a:spLocks noGrp="1"/>
          </p:cNvSpPr>
          <p:nvPr>
            <p:ph type="title"/>
          </p:nvPr>
        </p:nvSpPr>
        <p:spPr>
          <a:xfrm>
            <a:off x="838200" y="365125"/>
            <a:ext cx="10515600" cy="1325563"/>
          </a:xfrm>
        </p:spPr>
        <p:txBody>
          <a:bodyPr anchor="ctr">
            <a:normAutofit/>
          </a:bodyPr>
          <a:lstStyle/>
          <a:p>
            <a:r>
              <a:rPr lang="es-ES" dirty="0" err="1"/>
              <a:t>Exploratory</a:t>
            </a:r>
            <a:r>
              <a:rPr lang="es-ES" dirty="0"/>
              <a:t> Data </a:t>
            </a:r>
            <a:r>
              <a:rPr lang="es-ES" dirty="0" err="1"/>
              <a:t>Analysis</a:t>
            </a:r>
            <a:r>
              <a:rPr lang="es-ES" dirty="0"/>
              <a:t> (EDA)</a:t>
            </a:r>
          </a:p>
        </p:txBody>
      </p:sp>
      <p:sp>
        <p:nvSpPr>
          <p:cNvPr id="4" name="Marcador de número de diapositiva 3">
            <a:extLst>
              <a:ext uri="{FF2B5EF4-FFF2-40B4-BE49-F238E27FC236}">
                <a16:creationId xmlns:a16="http://schemas.microsoft.com/office/drawing/2014/main" id="{0F58735D-8F7B-F034-04E9-A2F39A6E2A1D}"/>
              </a:ext>
            </a:extLst>
          </p:cNvPr>
          <p:cNvSpPr>
            <a:spLocks noGrp="1"/>
          </p:cNvSpPr>
          <p:nvPr>
            <p:ph type="sldNum" sz="quarter" idx="12"/>
          </p:nvPr>
        </p:nvSpPr>
        <p:spPr>
          <a:xfrm>
            <a:off x="11453346" y="6174902"/>
            <a:ext cx="357116" cy="365125"/>
          </a:xfrm>
        </p:spPr>
        <p:txBody>
          <a:bodyPr anchor="ctr">
            <a:normAutofit/>
          </a:bodyPr>
          <a:lstStyle/>
          <a:p>
            <a:pPr rtl="0">
              <a:spcAft>
                <a:spcPts val="600"/>
              </a:spcAft>
            </a:pPr>
            <a:fld id="{82EE24B5-652C-4DB5-B7C3-B5BBEC1280B1}" type="slidenum">
              <a:rPr lang="es-ES" noProof="0" smtClean="0"/>
              <a:pPr rtl="0">
                <a:spcAft>
                  <a:spcPts val="600"/>
                </a:spcAft>
              </a:pPr>
              <a:t>4</a:t>
            </a:fld>
            <a:endParaRPr lang="es-ES" noProof="0"/>
          </a:p>
        </p:txBody>
      </p:sp>
      <p:graphicFrame>
        <p:nvGraphicFramePr>
          <p:cNvPr id="5" name="Marcador de contenido 4">
            <a:extLst>
              <a:ext uri="{FF2B5EF4-FFF2-40B4-BE49-F238E27FC236}">
                <a16:creationId xmlns:a16="http://schemas.microsoft.com/office/drawing/2014/main" id="{76E9A23C-849A-277C-8824-12E151110C0C}"/>
              </a:ext>
            </a:extLst>
          </p:cNvPr>
          <p:cNvGraphicFramePr>
            <a:graphicFrameLocks noGrp="1"/>
          </p:cNvGraphicFramePr>
          <p:nvPr>
            <p:ph idx="1"/>
            <p:extLst>
              <p:ext uri="{D42A27DB-BD31-4B8C-83A1-F6EECF244321}">
                <p14:modId xmlns:p14="http://schemas.microsoft.com/office/powerpoint/2010/main" val="222704353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85229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ítulo 11">
            <a:extLst>
              <a:ext uri="{FF2B5EF4-FFF2-40B4-BE49-F238E27FC236}">
                <a16:creationId xmlns:a16="http://schemas.microsoft.com/office/drawing/2014/main" id="{4EFA0675-B481-DD58-70A3-167C755886E8}"/>
              </a:ext>
            </a:extLst>
          </p:cNvPr>
          <p:cNvSpPr>
            <a:spLocks noGrp="1"/>
          </p:cNvSpPr>
          <p:nvPr>
            <p:ph type="title"/>
          </p:nvPr>
        </p:nvSpPr>
        <p:spPr>
          <a:xfrm>
            <a:off x="839788" y="457200"/>
            <a:ext cx="3932237" cy="1163280"/>
          </a:xfrm>
        </p:spPr>
        <p:txBody>
          <a:bodyPr/>
          <a:lstStyle/>
          <a:p>
            <a:pPr algn="just"/>
            <a:r>
              <a:rPr lang="es-ES" dirty="0" err="1"/>
              <a:t>Accommodation</a:t>
            </a:r>
            <a:r>
              <a:rPr lang="es-ES" dirty="0"/>
              <a:t> </a:t>
            </a:r>
            <a:r>
              <a:rPr lang="es-ES" dirty="0" err="1"/>
              <a:t>Type</a:t>
            </a:r>
            <a:r>
              <a:rPr lang="es-ES" dirty="0"/>
              <a:t> </a:t>
            </a:r>
            <a:r>
              <a:rPr lang="es-ES" dirty="0" err="1"/>
              <a:t>Distribution</a:t>
            </a:r>
            <a:endParaRPr lang="es-ES" dirty="0"/>
          </a:p>
        </p:txBody>
      </p:sp>
      <p:pic>
        <p:nvPicPr>
          <p:cNvPr id="6" name="Marcador de contenido 5" descr="Gráfico, Gráfico de barras&#10;&#10;Descripción generada automáticamente">
            <a:extLst>
              <a:ext uri="{FF2B5EF4-FFF2-40B4-BE49-F238E27FC236}">
                <a16:creationId xmlns:a16="http://schemas.microsoft.com/office/drawing/2014/main" id="{37923184-3726-F779-F4A9-1B1CAE0969D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p:blipFill>
        <p:spPr>
          <a:xfrm>
            <a:off x="4779731" y="1398836"/>
            <a:ext cx="6059026" cy="4776065"/>
          </a:xfrm>
        </p:spPr>
      </p:pic>
      <p:sp>
        <p:nvSpPr>
          <p:cNvPr id="4" name="Marcador de número de diapositiva 3">
            <a:extLst>
              <a:ext uri="{FF2B5EF4-FFF2-40B4-BE49-F238E27FC236}">
                <a16:creationId xmlns:a16="http://schemas.microsoft.com/office/drawing/2014/main" id="{5A484A95-A2ED-A0BB-C0B9-77D2BCD370E9}"/>
              </a:ext>
            </a:extLst>
          </p:cNvPr>
          <p:cNvSpPr>
            <a:spLocks noGrp="1"/>
          </p:cNvSpPr>
          <p:nvPr>
            <p:ph type="sldNum" sz="quarter" idx="12"/>
          </p:nvPr>
        </p:nvSpPr>
        <p:spPr/>
        <p:txBody>
          <a:bodyPr/>
          <a:lstStyle/>
          <a:p>
            <a:pPr rtl="0"/>
            <a:fld id="{82EE24B5-652C-4DB5-B7C3-B5BBEC1280B1}" type="slidenum">
              <a:rPr lang="es-ES" noProof="0" smtClean="0"/>
              <a:t>5</a:t>
            </a:fld>
            <a:endParaRPr lang="es-ES" noProof="0" dirty="0"/>
          </a:p>
        </p:txBody>
      </p:sp>
      <p:sp>
        <p:nvSpPr>
          <p:cNvPr id="9" name="Flecha: curvada hacia la derecha 8">
            <a:extLst>
              <a:ext uri="{FF2B5EF4-FFF2-40B4-BE49-F238E27FC236}">
                <a16:creationId xmlns:a16="http://schemas.microsoft.com/office/drawing/2014/main" id="{C643E0C6-BE4A-6BBC-69E1-66583A56A89C}"/>
              </a:ext>
            </a:extLst>
          </p:cNvPr>
          <p:cNvSpPr/>
          <p:nvPr/>
        </p:nvSpPr>
        <p:spPr>
          <a:xfrm rot="19919517">
            <a:off x="2330045" y="4276519"/>
            <a:ext cx="2634046" cy="2311098"/>
          </a:xfrm>
          <a:prstGeom prst="curvedRightArrow">
            <a:avLst>
              <a:gd name="adj1" fmla="val 19121"/>
              <a:gd name="adj2" fmla="val 31894"/>
              <a:gd name="adj3" fmla="val 30156"/>
            </a:avLst>
          </a:prstGeom>
          <a:solidFill>
            <a:schemeClr val="accent2">
              <a:lumMod val="75000"/>
            </a:scheme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endParaRPr>
          </a:p>
        </p:txBody>
      </p:sp>
      <p:graphicFrame>
        <p:nvGraphicFramePr>
          <p:cNvPr id="8" name="Diagrama 7">
            <a:extLst>
              <a:ext uri="{FF2B5EF4-FFF2-40B4-BE49-F238E27FC236}">
                <a16:creationId xmlns:a16="http://schemas.microsoft.com/office/drawing/2014/main" id="{821C4563-BC55-721B-4A40-6C06012D118F}"/>
              </a:ext>
            </a:extLst>
          </p:cNvPr>
          <p:cNvGraphicFramePr/>
          <p:nvPr>
            <p:extLst>
              <p:ext uri="{D42A27DB-BD31-4B8C-83A1-F6EECF244321}">
                <p14:modId xmlns:p14="http://schemas.microsoft.com/office/powerpoint/2010/main" val="776806299"/>
              </p:ext>
            </p:extLst>
          </p:nvPr>
        </p:nvGraphicFramePr>
        <p:xfrm>
          <a:off x="663326" y="2461855"/>
          <a:ext cx="3932237" cy="29702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29706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45686546-3D24-438C-669D-6BDF5E4ED82C}"/>
              </a:ext>
            </a:extLst>
          </p:cNvPr>
          <p:cNvSpPr>
            <a:spLocks noGrp="1"/>
          </p:cNvSpPr>
          <p:nvPr>
            <p:ph type="title"/>
          </p:nvPr>
        </p:nvSpPr>
        <p:spPr>
          <a:xfrm>
            <a:off x="839788" y="457200"/>
            <a:ext cx="3932237" cy="1600200"/>
          </a:xfrm>
        </p:spPr>
        <p:txBody>
          <a:bodyPr anchor="b">
            <a:normAutofit/>
          </a:bodyPr>
          <a:lstStyle/>
          <a:p>
            <a:r>
              <a:rPr lang="en-US" dirty="0"/>
              <a:t>Average Price per Month and City</a:t>
            </a:r>
          </a:p>
        </p:txBody>
      </p:sp>
      <p:pic>
        <p:nvPicPr>
          <p:cNvPr id="7" name="Marcador de contenido 6" descr="Gráfico, Gráfico de líneas&#10;&#10;Descripción generada automáticamente">
            <a:extLst>
              <a:ext uri="{FF2B5EF4-FFF2-40B4-BE49-F238E27FC236}">
                <a16:creationId xmlns:a16="http://schemas.microsoft.com/office/drawing/2014/main" id="{97DAE1DA-6CB7-19A7-A6E4-03A56201EE3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83188" y="1441418"/>
            <a:ext cx="6172200" cy="3965639"/>
          </a:xfrm>
          <a:noFill/>
        </p:spPr>
      </p:pic>
      <p:sp>
        <p:nvSpPr>
          <p:cNvPr id="14" name="Text Placeholder 3">
            <a:extLst>
              <a:ext uri="{FF2B5EF4-FFF2-40B4-BE49-F238E27FC236}">
                <a16:creationId xmlns:a16="http://schemas.microsoft.com/office/drawing/2014/main" id="{4F8F9042-0541-3895-4B6E-66670AA7E71D}"/>
              </a:ext>
            </a:extLst>
          </p:cNvPr>
          <p:cNvSpPr>
            <a:spLocks noGrp="1"/>
          </p:cNvSpPr>
          <p:nvPr>
            <p:ph type="body" sz="half" idx="2"/>
          </p:nvPr>
        </p:nvSpPr>
        <p:spPr>
          <a:xfrm>
            <a:off x="839788" y="2057400"/>
            <a:ext cx="3932237" cy="3811588"/>
          </a:xfrm>
        </p:spPr>
        <p:txBody>
          <a:bodyPr>
            <a:normAutofit/>
          </a:bodyPr>
          <a:lstStyle/>
          <a:p>
            <a:pPr marL="285750" indent="-285750">
              <a:buFont typeface="Arial" panose="020B0604020202020204" pitchFamily="34" charset="0"/>
              <a:buChar char="•"/>
            </a:pPr>
            <a:r>
              <a:rPr lang="en-US" dirty="0"/>
              <a:t>Barcelona has a significant price spike at the beginning of summer.</a:t>
            </a:r>
          </a:p>
          <a:p>
            <a:pPr marL="285750" indent="-285750">
              <a:buFont typeface="Arial" panose="020B0604020202020204" pitchFamily="34" charset="0"/>
              <a:buChar char="•"/>
            </a:pPr>
            <a:r>
              <a:rPr lang="en-US" dirty="0"/>
              <a:t>In Madrid, prices are more stable throughout the year, with small fluctuations.</a:t>
            </a:r>
          </a:p>
          <a:p>
            <a:pPr marL="285750" indent="-285750">
              <a:buFont typeface="Arial" panose="020B0604020202020204" pitchFamily="34" charset="0"/>
              <a:buChar char="•"/>
            </a:pPr>
            <a:r>
              <a:rPr lang="en-US" dirty="0"/>
              <a:t>Seville shows strong seasonality.</a:t>
            </a:r>
          </a:p>
        </p:txBody>
      </p:sp>
      <p:sp>
        <p:nvSpPr>
          <p:cNvPr id="5" name="Marcador de número de diapositiva 4">
            <a:extLst>
              <a:ext uri="{FF2B5EF4-FFF2-40B4-BE49-F238E27FC236}">
                <a16:creationId xmlns:a16="http://schemas.microsoft.com/office/drawing/2014/main" id="{739260F0-B912-5181-F5A5-3F0A0DBA75E1}"/>
              </a:ext>
            </a:extLst>
          </p:cNvPr>
          <p:cNvSpPr>
            <a:spLocks noGrp="1"/>
          </p:cNvSpPr>
          <p:nvPr>
            <p:ph type="sldNum" sz="quarter" idx="12"/>
          </p:nvPr>
        </p:nvSpPr>
        <p:spPr>
          <a:xfrm>
            <a:off x="11453346" y="6174902"/>
            <a:ext cx="357116" cy="365125"/>
          </a:xfrm>
        </p:spPr>
        <p:txBody>
          <a:bodyPr anchor="ctr">
            <a:normAutofit/>
          </a:bodyPr>
          <a:lstStyle/>
          <a:p>
            <a:pPr rtl="0">
              <a:spcAft>
                <a:spcPts val="600"/>
              </a:spcAft>
            </a:pPr>
            <a:fld id="{82EE24B5-652C-4DB5-B7C3-B5BBEC1280B1}" type="slidenum">
              <a:rPr lang="es-ES" noProof="0" smtClean="0"/>
              <a:pPr rtl="0">
                <a:spcAft>
                  <a:spcPts val="600"/>
                </a:spcAft>
              </a:pPr>
              <a:t>6</a:t>
            </a:fld>
            <a:endParaRPr lang="es-ES" noProof="0"/>
          </a:p>
        </p:txBody>
      </p:sp>
    </p:spTree>
    <p:extLst>
      <p:ext uri="{BB962C8B-B14F-4D97-AF65-F5344CB8AC3E}">
        <p14:creationId xmlns:p14="http://schemas.microsoft.com/office/powerpoint/2010/main" val="19012558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F717FF-C24B-1904-48E4-14449EC11E6E}"/>
              </a:ext>
            </a:extLst>
          </p:cNvPr>
          <p:cNvSpPr>
            <a:spLocks noGrp="1"/>
          </p:cNvSpPr>
          <p:nvPr>
            <p:ph type="title"/>
          </p:nvPr>
        </p:nvSpPr>
        <p:spPr/>
        <p:txBody>
          <a:bodyPr/>
          <a:lstStyle/>
          <a:p>
            <a:r>
              <a:rPr lang="es-ES" dirty="0" err="1"/>
              <a:t>Average</a:t>
            </a:r>
            <a:r>
              <a:rPr lang="es-ES" dirty="0"/>
              <a:t> Price </a:t>
            </a:r>
            <a:r>
              <a:rPr lang="es-ES" dirty="0" err="1"/>
              <a:t>by</a:t>
            </a:r>
            <a:r>
              <a:rPr lang="es-ES" dirty="0"/>
              <a:t> </a:t>
            </a:r>
            <a:r>
              <a:rPr lang="es-ES" dirty="0" err="1"/>
              <a:t>Season</a:t>
            </a:r>
            <a:r>
              <a:rPr lang="es-ES" dirty="0"/>
              <a:t> and City</a:t>
            </a:r>
          </a:p>
        </p:txBody>
      </p:sp>
      <p:pic>
        <p:nvPicPr>
          <p:cNvPr id="9" name="Marcador de contenido 8" descr="Gráfico, Gráfico de barras&#10;&#10;Descripción generada automáticamente">
            <a:extLst>
              <a:ext uri="{FF2B5EF4-FFF2-40B4-BE49-F238E27FC236}">
                <a16:creationId xmlns:a16="http://schemas.microsoft.com/office/drawing/2014/main" id="{6189EB85-FB9B-5CB4-5740-9322C13DBD6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78367" y="2007770"/>
            <a:ext cx="4623955" cy="3684588"/>
          </a:xfrm>
        </p:spPr>
      </p:pic>
      <p:sp>
        <p:nvSpPr>
          <p:cNvPr id="6" name="Marcador de contenido 5">
            <a:extLst>
              <a:ext uri="{FF2B5EF4-FFF2-40B4-BE49-F238E27FC236}">
                <a16:creationId xmlns:a16="http://schemas.microsoft.com/office/drawing/2014/main" id="{E48C6310-A7BE-9A94-7390-D52E6C96E61E}"/>
              </a:ext>
            </a:extLst>
          </p:cNvPr>
          <p:cNvSpPr>
            <a:spLocks noGrp="1"/>
          </p:cNvSpPr>
          <p:nvPr>
            <p:ph sz="quarter" idx="4"/>
          </p:nvPr>
        </p:nvSpPr>
        <p:spPr>
          <a:xfrm>
            <a:off x="6172200" y="2154200"/>
            <a:ext cx="5183188" cy="3684588"/>
          </a:xfrm>
        </p:spPr>
        <p:txBody>
          <a:bodyPr/>
          <a:lstStyle/>
          <a:p>
            <a:r>
              <a:rPr lang="en-US" dirty="0"/>
              <a:t>Barcelona has the highest average prices compared to Madrid and Seville.</a:t>
            </a:r>
          </a:p>
          <a:p>
            <a:r>
              <a:rPr lang="en-US" dirty="0"/>
              <a:t>The difference between high and low season is minimal.</a:t>
            </a:r>
          </a:p>
          <a:p>
            <a:r>
              <a:rPr lang="en-US" dirty="0"/>
              <a:t>Madrid has lower prices, but there is a larger difference between high and low season.</a:t>
            </a:r>
          </a:p>
          <a:p>
            <a:r>
              <a:rPr lang="en-US" dirty="0"/>
              <a:t>Seville has the lowest average prices of the three cities. Additionally, it shows little seasonal variation, except for in April.</a:t>
            </a:r>
            <a:r>
              <a:rPr lang="es-ES" dirty="0"/>
              <a:t>.</a:t>
            </a:r>
          </a:p>
        </p:txBody>
      </p:sp>
      <p:sp>
        <p:nvSpPr>
          <p:cNvPr id="7" name="Marcador de número de diapositiva 6">
            <a:extLst>
              <a:ext uri="{FF2B5EF4-FFF2-40B4-BE49-F238E27FC236}">
                <a16:creationId xmlns:a16="http://schemas.microsoft.com/office/drawing/2014/main" id="{B410E9E1-2565-91BB-74FF-B51A101D6950}"/>
              </a:ext>
            </a:extLst>
          </p:cNvPr>
          <p:cNvSpPr>
            <a:spLocks noGrp="1"/>
          </p:cNvSpPr>
          <p:nvPr>
            <p:ph type="sldNum" sz="quarter" idx="12"/>
          </p:nvPr>
        </p:nvSpPr>
        <p:spPr/>
        <p:txBody>
          <a:bodyPr/>
          <a:lstStyle/>
          <a:p>
            <a:pPr rtl="0"/>
            <a:fld id="{82EE24B5-652C-4DB5-B7C3-B5BBEC1280B1}" type="slidenum">
              <a:rPr lang="es-ES" noProof="0" smtClean="0"/>
              <a:t>7</a:t>
            </a:fld>
            <a:endParaRPr lang="es-ES" noProof="0" dirty="0"/>
          </a:p>
        </p:txBody>
      </p:sp>
    </p:spTree>
    <p:extLst>
      <p:ext uri="{BB962C8B-B14F-4D97-AF65-F5344CB8AC3E}">
        <p14:creationId xmlns:p14="http://schemas.microsoft.com/office/powerpoint/2010/main" val="2944434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C1BE70-41D7-F088-908A-FE43EEA28D42}"/>
              </a:ext>
            </a:extLst>
          </p:cNvPr>
          <p:cNvSpPr>
            <a:spLocks noGrp="1"/>
          </p:cNvSpPr>
          <p:nvPr>
            <p:ph type="title"/>
          </p:nvPr>
        </p:nvSpPr>
        <p:spPr/>
        <p:txBody>
          <a:bodyPr/>
          <a:lstStyle/>
          <a:p>
            <a:r>
              <a:rPr lang="es-ES" dirty="0"/>
              <a:t>Price </a:t>
            </a:r>
            <a:r>
              <a:rPr lang="es-ES" dirty="0" err="1"/>
              <a:t>Distribution</a:t>
            </a:r>
            <a:endParaRPr lang="es-ES" dirty="0"/>
          </a:p>
        </p:txBody>
      </p:sp>
      <p:sp>
        <p:nvSpPr>
          <p:cNvPr id="6" name="Marcador de contenido 5">
            <a:extLst>
              <a:ext uri="{FF2B5EF4-FFF2-40B4-BE49-F238E27FC236}">
                <a16:creationId xmlns:a16="http://schemas.microsoft.com/office/drawing/2014/main" id="{47473DBC-364F-03BF-DF27-E82AC291C338}"/>
              </a:ext>
            </a:extLst>
          </p:cNvPr>
          <p:cNvSpPr>
            <a:spLocks noGrp="1"/>
          </p:cNvSpPr>
          <p:nvPr>
            <p:ph sz="quarter" idx="4"/>
          </p:nvPr>
        </p:nvSpPr>
        <p:spPr/>
        <p:txBody>
          <a:bodyPr/>
          <a:lstStyle/>
          <a:p>
            <a:r>
              <a:rPr lang="en-US" dirty="0"/>
              <a:t>Barcelona appears to have the highest prices in terms of extreme outliers.</a:t>
            </a:r>
          </a:p>
          <a:p>
            <a:r>
              <a:rPr lang="en-US" dirty="0"/>
              <a:t>Madrid has fewer extremes compared to Barcelona and Seville.</a:t>
            </a:r>
          </a:p>
          <a:p>
            <a:r>
              <a:rPr lang="en-US" dirty="0"/>
              <a:t>Seville also presents extreme values, but the overall distribution is similar to the other cities.</a:t>
            </a:r>
            <a:endParaRPr lang="es-ES" dirty="0"/>
          </a:p>
        </p:txBody>
      </p:sp>
      <p:sp>
        <p:nvSpPr>
          <p:cNvPr id="7" name="Marcador de número de diapositiva 6">
            <a:extLst>
              <a:ext uri="{FF2B5EF4-FFF2-40B4-BE49-F238E27FC236}">
                <a16:creationId xmlns:a16="http://schemas.microsoft.com/office/drawing/2014/main" id="{027CB545-C5EF-054D-3AC5-097A3B3E3A61}"/>
              </a:ext>
            </a:extLst>
          </p:cNvPr>
          <p:cNvSpPr>
            <a:spLocks noGrp="1"/>
          </p:cNvSpPr>
          <p:nvPr>
            <p:ph type="sldNum" sz="quarter" idx="12"/>
          </p:nvPr>
        </p:nvSpPr>
        <p:spPr/>
        <p:txBody>
          <a:bodyPr/>
          <a:lstStyle/>
          <a:p>
            <a:pPr rtl="0"/>
            <a:fld id="{82EE24B5-652C-4DB5-B7C3-B5BBEC1280B1}" type="slidenum">
              <a:rPr lang="es-ES" noProof="0" smtClean="0"/>
              <a:t>8</a:t>
            </a:fld>
            <a:endParaRPr lang="es-ES" noProof="0" dirty="0"/>
          </a:p>
        </p:txBody>
      </p:sp>
      <p:pic>
        <p:nvPicPr>
          <p:cNvPr id="8" name="Marcador de contenido 8" descr="Imagen que contiene Gráfico&#10;&#10;Descripción generada automáticamente">
            <a:extLst>
              <a:ext uri="{FF2B5EF4-FFF2-40B4-BE49-F238E27FC236}">
                <a16:creationId xmlns:a16="http://schemas.microsoft.com/office/drawing/2014/main" id="{036B5768-BBEA-880F-B40B-464204A48B4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04587" y="1586706"/>
            <a:ext cx="4793998" cy="3684588"/>
          </a:xfrm>
        </p:spPr>
      </p:pic>
    </p:spTree>
    <p:extLst>
      <p:ext uri="{BB962C8B-B14F-4D97-AF65-F5344CB8AC3E}">
        <p14:creationId xmlns:p14="http://schemas.microsoft.com/office/powerpoint/2010/main" val="3434605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89EFB6-74F6-F285-3217-7D3B729C53A3}"/>
              </a:ext>
            </a:extLst>
          </p:cNvPr>
          <p:cNvSpPr>
            <a:spLocks noGrp="1"/>
          </p:cNvSpPr>
          <p:nvPr>
            <p:ph type="title"/>
          </p:nvPr>
        </p:nvSpPr>
        <p:spPr>
          <a:xfrm>
            <a:off x="839788" y="649705"/>
            <a:ext cx="3932237" cy="1600200"/>
          </a:xfrm>
        </p:spPr>
        <p:txBody>
          <a:bodyPr>
            <a:normAutofit fontScale="90000"/>
          </a:bodyPr>
          <a:lstStyle/>
          <a:p>
            <a:r>
              <a:rPr lang="es-ES" dirty="0" err="1"/>
              <a:t>Correlation</a:t>
            </a:r>
            <a:r>
              <a:rPr lang="es-ES" dirty="0"/>
              <a:t> Matrices </a:t>
            </a:r>
            <a:r>
              <a:rPr lang="es-ES" dirty="0" err="1"/>
              <a:t>for</a:t>
            </a:r>
            <a:r>
              <a:rPr lang="es-ES" dirty="0"/>
              <a:t> Barcelona,  Madrid and </a:t>
            </a:r>
            <a:r>
              <a:rPr lang="es-ES" dirty="0" err="1"/>
              <a:t>Seville</a:t>
            </a:r>
            <a:endParaRPr lang="es-ES" dirty="0"/>
          </a:p>
        </p:txBody>
      </p:sp>
      <p:pic>
        <p:nvPicPr>
          <p:cNvPr id="6" name="Marcador de contenido 5" descr="Gráfico, Gráfico de rectángulos&#10;&#10;Descripción generada automáticamente">
            <a:extLst>
              <a:ext uri="{FF2B5EF4-FFF2-40B4-BE49-F238E27FC236}">
                <a16:creationId xmlns:a16="http://schemas.microsoft.com/office/drawing/2014/main" id="{E5CC2F9F-90E0-17AE-2ED9-271B7CA81EE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80012" y="1257300"/>
            <a:ext cx="6172200" cy="4630748"/>
          </a:xfrm>
        </p:spPr>
      </p:pic>
      <p:sp>
        <p:nvSpPr>
          <p:cNvPr id="3" name="Marcador de texto 2">
            <a:extLst>
              <a:ext uri="{FF2B5EF4-FFF2-40B4-BE49-F238E27FC236}">
                <a16:creationId xmlns:a16="http://schemas.microsoft.com/office/drawing/2014/main" id="{75B3749D-340F-AC06-C084-A795DCA213B0}"/>
              </a:ext>
            </a:extLst>
          </p:cNvPr>
          <p:cNvSpPr>
            <a:spLocks noGrp="1"/>
          </p:cNvSpPr>
          <p:nvPr>
            <p:ph type="body" sz="half" idx="2"/>
          </p:nvPr>
        </p:nvSpPr>
        <p:spPr>
          <a:xfrm>
            <a:off x="839788" y="2593223"/>
            <a:ext cx="3932237" cy="3811588"/>
          </a:xfrm>
        </p:spPr>
        <p:txBody>
          <a:bodyPr/>
          <a:lstStyle/>
          <a:p>
            <a:r>
              <a:rPr lang="en-US" dirty="0"/>
              <a:t>The highest positive correlation with price is with the number of reviews and reviews per month, suggesting a slight relationship between popularity and higher prices.</a:t>
            </a:r>
            <a:br>
              <a:rPr lang="en-US" dirty="0"/>
            </a:br>
            <a:r>
              <a:rPr lang="en-US" dirty="0"/>
              <a:t>As for the calculated counts of listings per host, it has a positive correlation with reviews per month, which may suggest that hosts with more than one property have higher activity.</a:t>
            </a:r>
            <a:endParaRPr lang="es-ES" dirty="0"/>
          </a:p>
        </p:txBody>
      </p:sp>
      <p:sp>
        <p:nvSpPr>
          <p:cNvPr id="4" name="Marcador de número de diapositiva 3">
            <a:extLst>
              <a:ext uri="{FF2B5EF4-FFF2-40B4-BE49-F238E27FC236}">
                <a16:creationId xmlns:a16="http://schemas.microsoft.com/office/drawing/2014/main" id="{C2AF5ECB-5BC0-0BCE-EFDA-684C19769249}"/>
              </a:ext>
            </a:extLst>
          </p:cNvPr>
          <p:cNvSpPr>
            <a:spLocks noGrp="1"/>
          </p:cNvSpPr>
          <p:nvPr>
            <p:ph type="sldNum" sz="quarter" idx="12"/>
          </p:nvPr>
        </p:nvSpPr>
        <p:spPr/>
        <p:txBody>
          <a:bodyPr/>
          <a:lstStyle/>
          <a:p>
            <a:pPr rtl="0"/>
            <a:fld id="{82EE24B5-652C-4DB5-B7C3-B5BBEC1280B1}" type="slidenum">
              <a:rPr lang="es-ES" noProof="0" smtClean="0"/>
              <a:t>9</a:t>
            </a:fld>
            <a:endParaRPr lang="es-ES" noProof="0" dirty="0"/>
          </a:p>
        </p:txBody>
      </p:sp>
    </p:spTree>
    <p:extLst>
      <p:ext uri="{BB962C8B-B14F-4D97-AF65-F5344CB8AC3E}">
        <p14:creationId xmlns:p14="http://schemas.microsoft.com/office/powerpoint/2010/main" val="1186506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43730B1-105A-BCA5-BCEB-ED86466B836E}"/>
              </a:ext>
            </a:extLst>
          </p:cNvPr>
          <p:cNvSpPr>
            <a:spLocks noGrp="1"/>
          </p:cNvSpPr>
          <p:nvPr>
            <p:ph type="sldNum" sz="quarter" idx="12"/>
          </p:nvPr>
        </p:nvSpPr>
        <p:spPr/>
        <p:txBody>
          <a:bodyPr/>
          <a:lstStyle/>
          <a:p>
            <a:pPr rtl="0"/>
            <a:fld id="{82EE24B5-652C-4DB5-B7C3-B5BBEC1280B1}" type="slidenum">
              <a:rPr lang="es-ES" noProof="0" smtClean="0"/>
              <a:t>10</a:t>
            </a:fld>
            <a:endParaRPr lang="es-ES" noProof="0" dirty="0"/>
          </a:p>
        </p:txBody>
      </p:sp>
      <p:sp>
        <p:nvSpPr>
          <p:cNvPr id="3" name="Título 2">
            <a:extLst>
              <a:ext uri="{FF2B5EF4-FFF2-40B4-BE49-F238E27FC236}">
                <a16:creationId xmlns:a16="http://schemas.microsoft.com/office/drawing/2014/main" id="{B0D944FD-4A42-19E8-5999-EBFF67A79490}"/>
              </a:ext>
            </a:extLst>
          </p:cNvPr>
          <p:cNvSpPr>
            <a:spLocks noGrp="1"/>
          </p:cNvSpPr>
          <p:nvPr>
            <p:ph type="title"/>
          </p:nvPr>
        </p:nvSpPr>
        <p:spPr>
          <a:xfrm>
            <a:off x="838200" y="365125"/>
            <a:ext cx="10615146" cy="849441"/>
          </a:xfrm>
        </p:spPr>
        <p:txBody>
          <a:bodyPr/>
          <a:lstStyle/>
          <a:p>
            <a:r>
              <a:rPr lang="es-ES" dirty="0" err="1"/>
              <a:t>Prices</a:t>
            </a:r>
            <a:r>
              <a:rPr lang="es-ES" dirty="0"/>
              <a:t> </a:t>
            </a:r>
            <a:r>
              <a:rPr lang="es-ES" dirty="0" err="1"/>
              <a:t>by</a:t>
            </a:r>
            <a:r>
              <a:rPr lang="es-ES" dirty="0"/>
              <a:t> </a:t>
            </a:r>
            <a:r>
              <a:rPr lang="es-ES" dirty="0" err="1"/>
              <a:t>Neighborhood</a:t>
            </a:r>
            <a:r>
              <a:rPr lang="es-ES" dirty="0"/>
              <a:t> and </a:t>
            </a:r>
            <a:r>
              <a:rPr lang="es-ES" dirty="0" err="1"/>
              <a:t>Location</a:t>
            </a:r>
            <a:endParaRPr lang="es-ES" dirty="0"/>
          </a:p>
        </p:txBody>
      </p:sp>
      <p:pic>
        <p:nvPicPr>
          <p:cNvPr id="7" name="Marcador de contenido 6" descr="Gráfico, Gráfico de cajas y bigotes&#10;&#10;Descripción generada automáticamente">
            <a:extLst>
              <a:ext uri="{FF2B5EF4-FFF2-40B4-BE49-F238E27FC236}">
                <a16:creationId xmlns:a16="http://schemas.microsoft.com/office/drawing/2014/main" id="{A0FD1011-BCED-528B-C6C6-1C0147E3D82D}"/>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381538" y="1310528"/>
            <a:ext cx="5181600" cy="2571189"/>
          </a:xfrm>
        </p:spPr>
      </p:pic>
      <p:pic>
        <p:nvPicPr>
          <p:cNvPr id="9" name="Marcador de contenido 8" descr="Gráfico, Gráfico de dispersión&#10;&#10;Descripción generada automáticamente">
            <a:extLst>
              <a:ext uri="{FF2B5EF4-FFF2-40B4-BE49-F238E27FC236}">
                <a16:creationId xmlns:a16="http://schemas.microsoft.com/office/drawing/2014/main" id="{647C7912-F195-4082-8AF4-36D65CD4AE06}"/>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172202" y="2239576"/>
            <a:ext cx="5181600" cy="3284281"/>
          </a:xfrm>
        </p:spPr>
      </p:pic>
      <p:sp>
        <p:nvSpPr>
          <p:cNvPr id="4" name="CuadroTexto 3">
            <a:extLst>
              <a:ext uri="{FF2B5EF4-FFF2-40B4-BE49-F238E27FC236}">
                <a16:creationId xmlns:a16="http://schemas.microsoft.com/office/drawing/2014/main" id="{54DF3635-727C-F371-6D11-202F4D6795A4}"/>
              </a:ext>
            </a:extLst>
          </p:cNvPr>
          <p:cNvSpPr txBox="1"/>
          <p:nvPr/>
        </p:nvSpPr>
        <p:spPr>
          <a:xfrm>
            <a:off x="381538" y="3977679"/>
            <a:ext cx="5638262" cy="2031325"/>
          </a:xfrm>
          <a:prstGeom prst="rect">
            <a:avLst/>
          </a:prstGeom>
          <a:noFill/>
        </p:spPr>
        <p:txBody>
          <a:bodyPr wrap="square" rtlCol="0">
            <a:spAutoFit/>
          </a:bodyPr>
          <a:lstStyle/>
          <a:p>
            <a:r>
              <a:rPr lang="en-US" dirty="0"/>
              <a:t>Some prices are extremely high compared to the average.</a:t>
            </a:r>
            <a:br>
              <a:rPr lang="en-US" dirty="0"/>
            </a:br>
            <a:r>
              <a:rPr lang="en-US" dirty="0"/>
              <a:t>Sarrià-Sant Gervasi appears to have more dispersed prices with several outliers.</a:t>
            </a:r>
            <a:br>
              <a:rPr lang="en-US" dirty="0"/>
            </a:br>
            <a:r>
              <a:rPr lang="en-US" dirty="0"/>
              <a:t>Eixample and Gràcia show similar trends.</a:t>
            </a:r>
            <a:br>
              <a:rPr lang="en-US" dirty="0"/>
            </a:br>
            <a:r>
              <a:rPr lang="en-US" dirty="0"/>
              <a:t>The highest prices are particularly concentrated in central or strategic areas.</a:t>
            </a:r>
            <a:endParaRPr lang="es-ES" dirty="0"/>
          </a:p>
        </p:txBody>
      </p:sp>
    </p:spTree>
    <p:extLst>
      <p:ext uri="{BB962C8B-B14F-4D97-AF65-F5344CB8AC3E}">
        <p14:creationId xmlns:p14="http://schemas.microsoft.com/office/powerpoint/2010/main" val="1041881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757CDD05-A9A0-B57C-CB46-51DEA22C707F}"/>
              </a:ext>
            </a:extLst>
          </p:cNvPr>
          <p:cNvSpPr>
            <a:spLocks noGrp="1"/>
          </p:cNvSpPr>
          <p:nvPr>
            <p:ph type="sldNum" sz="quarter" idx="12"/>
          </p:nvPr>
        </p:nvSpPr>
        <p:spPr/>
        <p:txBody>
          <a:bodyPr/>
          <a:lstStyle/>
          <a:p>
            <a:pPr rtl="0"/>
            <a:fld id="{82EE24B5-652C-4DB5-B7C3-B5BBEC1280B1}" type="slidenum">
              <a:rPr lang="es-ES" noProof="0" smtClean="0"/>
              <a:t>11</a:t>
            </a:fld>
            <a:endParaRPr lang="es-ES" noProof="0" dirty="0"/>
          </a:p>
        </p:txBody>
      </p:sp>
      <p:pic>
        <p:nvPicPr>
          <p:cNvPr id="7" name="Marcador de contenido 6" descr="Gráfico&#10;&#10;Descripción generada automáticamente">
            <a:extLst>
              <a:ext uri="{FF2B5EF4-FFF2-40B4-BE49-F238E27FC236}">
                <a16:creationId xmlns:a16="http://schemas.microsoft.com/office/drawing/2014/main" id="{496D0442-A276-5B35-1E1C-AF23129355D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61475" y="3384113"/>
            <a:ext cx="5181600" cy="2571189"/>
          </a:xfrm>
        </p:spPr>
      </p:pic>
      <p:pic>
        <p:nvPicPr>
          <p:cNvPr id="9" name="Marcador de contenido 8" descr="Gráfico, Gráfico de dispersión&#10;&#10;Descripción generada automáticamente">
            <a:extLst>
              <a:ext uri="{FF2B5EF4-FFF2-40B4-BE49-F238E27FC236}">
                <a16:creationId xmlns:a16="http://schemas.microsoft.com/office/drawing/2014/main" id="{B177EF82-FAA5-245F-2FD6-E9D6A579A85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271746" y="606731"/>
            <a:ext cx="5181600" cy="3250384"/>
          </a:xfrm>
        </p:spPr>
      </p:pic>
      <p:sp>
        <p:nvSpPr>
          <p:cNvPr id="4" name="CuadroTexto 3">
            <a:extLst>
              <a:ext uri="{FF2B5EF4-FFF2-40B4-BE49-F238E27FC236}">
                <a16:creationId xmlns:a16="http://schemas.microsoft.com/office/drawing/2014/main" id="{406413E8-CFF6-6D34-0374-BE1BC5347A14}"/>
              </a:ext>
            </a:extLst>
          </p:cNvPr>
          <p:cNvSpPr txBox="1"/>
          <p:nvPr/>
        </p:nvSpPr>
        <p:spPr>
          <a:xfrm>
            <a:off x="6448927" y="4409964"/>
            <a:ext cx="5004420" cy="923330"/>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p:spPr>
        <p:txBody>
          <a:bodyPr wrap="square" rtlCol="0">
            <a:spAutoFit/>
          </a:bodyPr>
          <a:lstStyle/>
          <a:p>
            <a:r>
              <a:rPr lang="en-US" dirty="0">
                <a:solidFill>
                  <a:schemeClr val="bg1"/>
                </a:solidFill>
              </a:rPr>
              <a:t>The outskirts show lower prices in general.</a:t>
            </a:r>
            <a:br>
              <a:rPr lang="en-US" dirty="0">
                <a:solidFill>
                  <a:schemeClr val="bg1"/>
                </a:solidFill>
              </a:rPr>
            </a:br>
            <a:r>
              <a:rPr lang="en-US" dirty="0">
                <a:solidFill>
                  <a:schemeClr val="bg1"/>
                </a:solidFill>
              </a:rPr>
              <a:t>There is a higher concentration in the center of Madrid.</a:t>
            </a:r>
          </a:p>
        </p:txBody>
      </p:sp>
      <p:sp>
        <p:nvSpPr>
          <p:cNvPr id="5" name="CuadroTexto 4">
            <a:extLst>
              <a:ext uri="{FF2B5EF4-FFF2-40B4-BE49-F238E27FC236}">
                <a16:creationId xmlns:a16="http://schemas.microsoft.com/office/drawing/2014/main" id="{8CBE0C9A-0CA6-F747-E021-8FAF824AF68F}"/>
              </a:ext>
            </a:extLst>
          </p:cNvPr>
          <p:cNvSpPr txBox="1"/>
          <p:nvPr/>
        </p:nvSpPr>
        <p:spPr>
          <a:xfrm>
            <a:off x="633305" y="1179697"/>
            <a:ext cx="5037939" cy="1477328"/>
          </a:xfrm>
          <a:prstGeom prst="rect">
            <a:avLst/>
          </a:prstGeom>
          <a:solidFill>
            <a:schemeClr val="accent2">
              <a:lumMod val="60000"/>
              <a:lumOff val="40000"/>
            </a:schemeClr>
          </a:solidFill>
          <a:effectLst>
            <a:outerShdw blurRad="50800" dist="38100" dir="13500000" algn="br" rotWithShape="0">
              <a:prstClr val="black">
                <a:alpha val="40000"/>
              </a:prstClr>
            </a:outerShdw>
            <a:softEdge rad="0"/>
          </a:effectLst>
          <a:scene3d>
            <a:camera prst="orthographicFront"/>
            <a:lightRig rig="threePt" dir="t"/>
          </a:scene3d>
          <a:sp3d>
            <a:bevelT/>
          </a:sp3d>
        </p:spPr>
        <p:txBody>
          <a:bodyPr wrap="square" rtlCol="0" anchor="ctr" anchorCtr="1">
            <a:spAutoFit/>
          </a:bodyPr>
          <a:lstStyle/>
          <a:p>
            <a:r>
              <a:rPr lang="en-US" dirty="0">
                <a:solidFill>
                  <a:schemeClr val="bg1"/>
                </a:solidFill>
              </a:rPr>
              <a:t>The Salamanca and Chamartín neighborhoods show distributions with higher values compared to the rest.</a:t>
            </a:r>
            <a:br>
              <a:rPr lang="en-US" dirty="0">
                <a:solidFill>
                  <a:schemeClr val="bg1"/>
                </a:solidFill>
              </a:rPr>
            </a:br>
            <a:r>
              <a:rPr lang="en-US" dirty="0">
                <a:solidFill>
                  <a:schemeClr val="bg1"/>
                </a:solidFill>
              </a:rPr>
              <a:t>Most neighborhoods have similar medians, but in Retiro and Centro, the dispersion is greater.</a:t>
            </a:r>
            <a:endParaRPr lang="es-ES" dirty="0">
              <a:solidFill>
                <a:schemeClr val="bg1"/>
              </a:solidFill>
            </a:endParaRPr>
          </a:p>
        </p:txBody>
      </p:sp>
    </p:spTree>
    <p:extLst>
      <p:ext uri="{BB962C8B-B14F-4D97-AF65-F5344CB8AC3E}">
        <p14:creationId xmlns:p14="http://schemas.microsoft.com/office/powerpoint/2010/main" val="1027531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841DFAC3-0B9C-5C93-8D5C-52BDBFF85DBE}"/>
              </a:ext>
            </a:extLst>
          </p:cNvPr>
          <p:cNvSpPr>
            <a:spLocks noGrp="1"/>
          </p:cNvSpPr>
          <p:nvPr>
            <p:ph type="sldNum" sz="quarter" idx="12"/>
          </p:nvPr>
        </p:nvSpPr>
        <p:spPr/>
        <p:txBody>
          <a:bodyPr/>
          <a:lstStyle/>
          <a:p>
            <a:pPr rtl="0"/>
            <a:fld id="{82EE24B5-652C-4DB5-B7C3-B5BBEC1280B1}" type="slidenum">
              <a:rPr lang="es-ES" noProof="0" smtClean="0"/>
              <a:t>12</a:t>
            </a:fld>
            <a:endParaRPr lang="es-ES" noProof="0" dirty="0"/>
          </a:p>
        </p:txBody>
      </p:sp>
      <p:pic>
        <p:nvPicPr>
          <p:cNvPr id="7" name="Marcador de contenido 6" descr="Gráfico&#10;&#10;Descripción generada automáticamente">
            <a:extLst>
              <a:ext uri="{FF2B5EF4-FFF2-40B4-BE49-F238E27FC236}">
                <a16:creationId xmlns:a16="http://schemas.microsoft.com/office/drawing/2014/main" id="{52ADA5A0-B27F-4245-C73F-D1910E502674}"/>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24162" y="3142026"/>
            <a:ext cx="5181600" cy="2571189"/>
          </a:xfrm>
        </p:spPr>
      </p:pic>
      <p:pic>
        <p:nvPicPr>
          <p:cNvPr id="9" name="Marcador de contenido 8" descr="Gráfico&#10;&#10;Descripción generada automáticamente">
            <a:extLst>
              <a:ext uri="{FF2B5EF4-FFF2-40B4-BE49-F238E27FC236}">
                <a16:creationId xmlns:a16="http://schemas.microsoft.com/office/drawing/2014/main" id="{CBF973D0-A30B-63BA-217C-F2E2A4BD70B0}"/>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172200" y="546876"/>
            <a:ext cx="5181600" cy="3370196"/>
          </a:xfrm>
        </p:spPr>
      </p:pic>
      <p:sp>
        <p:nvSpPr>
          <p:cNvPr id="4" name="CuadroTexto 3">
            <a:extLst>
              <a:ext uri="{FF2B5EF4-FFF2-40B4-BE49-F238E27FC236}">
                <a16:creationId xmlns:a16="http://schemas.microsoft.com/office/drawing/2014/main" id="{A40161B0-CF4F-D2D7-06D9-23828F768F93}"/>
              </a:ext>
            </a:extLst>
          </p:cNvPr>
          <p:cNvSpPr txBox="1"/>
          <p:nvPr/>
        </p:nvSpPr>
        <p:spPr>
          <a:xfrm>
            <a:off x="1056772" y="1144785"/>
            <a:ext cx="4716379" cy="1477328"/>
          </a:xfrm>
          <a:prstGeom prst="rect">
            <a:avLst/>
          </a:prstGeom>
          <a:noFill/>
        </p:spPr>
        <p:txBody>
          <a:bodyPr wrap="square" rtlCol="0">
            <a:spAutoFit/>
          </a:bodyPr>
          <a:lstStyle/>
          <a:p>
            <a:r>
              <a:rPr lang="en-US" dirty="0"/>
              <a:t>The old town shows greater dispersion and higher prices compared to other neighborhoods.</a:t>
            </a:r>
            <a:br>
              <a:rPr lang="en-US" dirty="0"/>
            </a:br>
            <a:r>
              <a:rPr lang="en-US" dirty="0"/>
              <a:t>Most neighborhoods have moderate and relatively similar prices.</a:t>
            </a:r>
            <a:endParaRPr lang="es-ES" dirty="0"/>
          </a:p>
        </p:txBody>
      </p:sp>
      <p:sp>
        <p:nvSpPr>
          <p:cNvPr id="5" name="CuadroTexto 4">
            <a:extLst>
              <a:ext uri="{FF2B5EF4-FFF2-40B4-BE49-F238E27FC236}">
                <a16:creationId xmlns:a16="http://schemas.microsoft.com/office/drawing/2014/main" id="{8E75AD0A-ABD2-BBD6-CC82-738BFD3CD4C2}"/>
              </a:ext>
            </a:extLst>
          </p:cNvPr>
          <p:cNvSpPr txBox="1"/>
          <p:nvPr/>
        </p:nvSpPr>
        <p:spPr>
          <a:xfrm>
            <a:off x="6545179" y="4154905"/>
            <a:ext cx="4808621" cy="1754326"/>
          </a:xfrm>
          <a:prstGeom prst="rect">
            <a:avLst/>
          </a:prstGeom>
          <a:noFill/>
        </p:spPr>
        <p:txBody>
          <a:bodyPr wrap="square" rtlCol="0">
            <a:spAutoFit/>
          </a:bodyPr>
          <a:lstStyle/>
          <a:p>
            <a:r>
              <a:rPr lang="en-US" dirty="0"/>
              <a:t>We see much less concentration of points compared to the previous charts.</a:t>
            </a:r>
            <a:br>
              <a:rPr lang="en-US" dirty="0"/>
            </a:br>
            <a:r>
              <a:rPr lang="en-US" dirty="0"/>
              <a:t>The dispersion is minimal.</a:t>
            </a:r>
            <a:br>
              <a:rPr lang="en-US" dirty="0"/>
            </a:br>
            <a:r>
              <a:rPr lang="en-US" dirty="0"/>
              <a:t>The properties with the highest prices are very isolated, suggesting a more homogeneous real estate market</a:t>
            </a:r>
            <a:endParaRPr lang="es-ES" dirty="0"/>
          </a:p>
        </p:txBody>
      </p:sp>
    </p:spTree>
    <p:extLst>
      <p:ext uri="{BB962C8B-B14F-4D97-AF65-F5344CB8AC3E}">
        <p14:creationId xmlns:p14="http://schemas.microsoft.com/office/powerpoint/2010/main" val="3431046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5ACE8E-F7BB-17AB-64D0-D8F24DE7595D}"/>
              </a:ext>
            </a:extLst>
          </p:cNvPr>
          <p:cNvSpPr>
            <a:spLocks noGrp="1"/>
          </p:cNvSpPr>
          <p:nvPr>
            <p:ph type="title"/>
          </p:nvPr>
        </p:nvSpPr>
        <p:spPr>
          <a:xfrm>
            <a:off x="739775" y="194030"/>
            <a:ext cx="10515600" cy="1049980"/>
          </a:xfrm>
        </p:spPr>
        <p:txBody>
          <a:bodyPr/>
          <a:lstStyle/>
          <a:p>
            <a:r>
              <a:rPr lang="es-ES" dirty="0" err="1"/>
              <a:t>Relationship</a:t>
            </a:r>
            <a:r>
              <a:rPr lang="es-ES" dirty="0"/>
              <a:t> </a:t>
            </a:r>
            <a:r>
              <a:rPr lang="es-ES" dirty="0" err="1"/>
              <a:t>between</a:t>
            </a:r>
            <a:r>
              <a:rPr lang="es-ES" dirty="0"/>
              <a:t> Price, </a:t>
            </a:r>
            <a:r>
              <a:rPr lang="es-ES" dirty="0" err="1"/>
              <a:t>Number</a:t>
            </a:r>
            <a:r>
              <a:rPr lang="es-ES" dirty="0"/>
              <a:t> </a:t>
            </a:r>
            <a:r>
              <a:rPr lang="es-ES" dirty="0" err="1"/>
              <a:t>of</a:t>
            </a:r>
            <a:r>
              <a:rPr lang="es-ES" dirty="0"/>
              <a:t> </a:t>
            </a:r>
            <a:r>
              <a:rPr lang="es-ES" dirty="0" err="1"/>
              <a:t>Reviews</a:t>
            </a:r>
            <a:r>
              <a:rPr lang="es-ES" dirty="0"/>
              <a:t> and </a:t>
            </a:r>
            <a:r>
              <a:rPr lang="es-ES" dirty="0" err="1"/>
              <a:t>Availability</a:t>
            </a:r>
            <a:endParaRPr lang="es-ES" dirty="0"/>
          </a:p>
        </p:txBody>
      </p:sp>
      <p:sp>
        <p:nvSpPr>
          <p:cNvPr id="3" name="Marcador de texto 2">
            <a:extLst>
              <a:ext uri="{FF2B5EF4-FFF2-40B4-BE49-F238E27FC236}">
                <a16:creationId xmlns:a16="http://schemas.microsoft.com/office/drawing/2014/main" id="{06F0128A-856F-9DB8-AAB1-0E29E6ADCAEB}"/>
              </a:ext>
            </a:extLst>
          </p:cNvPr>
          <p:cNvSpPr>
            <a:spLocks noGrp="1"/>
          </p:cNvSpPr>
          <p:nvPr>
            <p:ph type="body" idx="1"/>
          </p:nvPr>
        </p:nvSpPr>
        <p:spPr>
          <a:xfrm>
            <a:off x="839788" y="1462586"/>
            <a:ext cx="5157787" cy="1174276"/>
          </a:xfrm>
        </p:spPr>
        <p:txBody>
          <a:bodyPr>
            <a:noAutofit/>
          </a:bodyPr>
          <a:lstStyle/>
          <a:p>
            <a:pPr algn="just"/>
            <a:r>
              <a:rPr lang="en-US" sz="1600" b="0" dirty="0"/>
              <a:t>The chart suggests that accommodations with more reviews tend to have more affordable prices. High-priced accommodations typically have a lower number of reviews, possibly due to their lower accessibility or a more niche customer base.</a:t>
            </a:r>
            <a:endParaRPr lang="es-ES" sz="1600" b="0" dirty="0"/>
          </a:p>
        </p:txBody>
      </p:sp>
      <p:pic>
        <p:nvPicPr>
          <p:cNvPr id="9" name="Marcador de contenido 8" descr="Gráfico, Gráfico de dispersión&#10;&#10;Descripción generada automáticamente">
            <a:extLst>
              <a:ext uri="{FF2B5EF4-FFF2-40B4-BE49-F238E27FC236}">
                <a16:creationId xmlns:a16="http://schemas.microsoft.com/office/drawing/2014/main" id="{C6DA071F-C8D0-880A-214C-865725235C16}"/>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39788" y="2855439"/>
            <a:ext cx="4794013" cy="3684588"/>
          </a:xfrm>
        </p:spPr>
      </p:pic>
      <p:sp>
        <p:nvSpPr>
          <p:cNvPr id="5" name="Marcador de texto 4">
            <a:extLst>
              <a:ext uri="{FF2B5EF4-FFF2-40B4-BE49-F238E27FC236}">
                <a16:creationId xmlns:a16="http://schemas.microsoft.com/office/drawing/2014/main" id="{210D6975-145F-90B8-333E-2972D5886DC2}"/>
              </a:ext>
            </a:extLst>
          </p:cNvPr>
          <p:cNvSpPr>
            <a:spLocks noGrp="1"/>
          </p:cNvSpPr>
          <p:nvPr>
            <p:ph type="body" sz="quarter" idx="3"/>
          </p:nvPr>
        </p:nvSpPr>
        <p:spPr>
          <a:xfrm>
            <a:off x="6270158" y="1436614"/>
            <a:ext cx="5183188" cy="1174276"/>
          </a:xfrm>
        </p:spPr>
        <p:txBody>
          <a:bodyPr>
            <a:noAutofit/>
          </a:bodyPr>
          <a:lstStyle/>
          <a:p>
            <a:pPr algn="just"/>
            <a:r>
              <a:rPr lang="en-US" sz="1600" b="0" dirty="0"/>
              <a:t>high prices tend to have low availability, possibly because they There is no strong relationship between availability and price. However, accommodations with very are associated with very specific stays or the exclusivity of the offer</a:t>
            </a:r>
            <a:r>
              <a:rPr lang="en-US" sz="1100" dirty="0"/>
              <a:t>.</a:t>
            </a:r>
            <a:endParaRPr lang="es-ES" sz="1400" dirty="0"/>
          </a:p>
        </p:txBody>
      </p:sp>
      <p:pic>
        <p:nvPicPr>
          <p:cNvPr id="11" name="Marcador de contenido 10" descr="Gráfico, Gráfico de dispersión&#10;&#10;Descripción generada automáticamente">
            <a:extLst>
              <a:ext uri="{FF2B5EF4-FFF2-40B4-BE49-F238E27FC236}">
                <a16:creationId xmlns:a16="http://schemas.microsoft.com/office/drawing/2014/main" id="{598E36E1-FF10-C258-5DB2-9F35097A51EA}"/>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6384164" y="2855439"/>
            <a:ext cx="4759260" cy="3684588"/>
          </a:xfrm>
        </p:spPr>
      </p:pic>
      <p:sp>
        <p:nvSpPr>
          <p:cNvPr id="7" name="Marcador de número de diapositiva 6">
            <a:extLst>
              <a:ext uri="{FF2B5EF4-FFF2-40B4-BE49-F238E27FC236}">
                <a16:creationId xmlns:a16="http://schemas.microsoft.com/office/drawing/2014/main" id="{DECB60EB-1CAE-8B04-44D4-3F0E7C0FCE05}"/>
              </a:ext>
            </a:extLst>
          </p:cNvPr>
          <p:cNvSpPr>
            <a:spLocks noGrp="1"/>
          </p:cNvSpPr>
          <p:nvPr>
            <p:ph type="sldNum" sz="quarter" idx="12"/>
          </p:nvPr>
        </p:nvSpPr>
        <p:spPr/>
        <p:txBody>
          <a:bodyPr/>
          <a:lstStyle/>
          <a:p>
            <a:pPr rtl="0"/>
            <a:fld id="{82EE24B5-652C-4DB5-B7C3-B5BBEC1280B1}" type="slidenum">
              <a:rPr lang="es-ES" noProof="0" smtClean="0"/>
              <a:t>13</a:t>
            </a:fld>
            <a:endParaRPr lang="es-ES" noProof="0" dirty="0"/>
          </a:p>
        </p:txBody>
      </p:sp>
    </p:spTree>
    <p:extLst>
      <p:ext uri="{BB962C8B-B14F-4D97-AF65-F5344CB8AC3E}">
        <p14:creationId xmlns:p14="http://schemas.microsoft.com/office/powerpoint/2010/main" val="1267701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CFD990-039D-9635-F017-0210C20340C0}"/>
              </a:ext>
            </a:extLst>
          </p:cNvPr>
          <p:cNvSpPr>
            <a:spLocks noGrp="1"/>
          </p:cNvSpPr>
          <p:nvPr>
            <p:ph type="title"/>
          </p:nvPr>
        </p:nvSpPr>
        <p:spPr/>
        <p:txBody>
          <a:bodyPr>
            <a:normAutofit/>
          </a:bodyPr>
          <a:lstStyle/>
          <a:p>
            <a:r>
              <a:rPr lang="es-ES" sz="4000" dirty="0" err="1"/>
              <a:t>Results</a:t>
            </a:r>
            <a:r>
              <a:rPr lang="es-ES" sz="4000" dirty="0"/>
              <a:t> </a:t>
            </a:r>
            <a:r>
              <a:rPr lang="es-ES" sz="4000" dirty="0" err="1"/>
              <a:t>of</a:t>
            </a:r>
            <a:r>
              <a:rPr lang="es-ES" sz="4000" dirty="0"/>
              <a:t> </a:t>
            </a:r>
            <a:r>
              <a:rPr lang="es-ES" sz="4000" dirty="0" err="1"/>
              <a:t>Tested</a:t>
            </a:r>
            <a:r>
              <a:rPr lang="es-ES" sz="4000" dirty="0"/>
              <a:t> </a:t>
            </a:r>
            <a:r>
              <a:rPr lang="es-ES" sz="4000" dirty="0" err="1"/>
              <a:t>Models</a:t>
            </a:r>
            <a:endParaRPr lang="es-ES" sz="4000" dirty="0"/>
          </a:p>
        </p:txBody>
      </p:sp>
      <p:sp>
        <p:nvSpPr>
          <p:cNvPr id="3" name="Marcador de texto 2">
            <a:extLst>
              <a:ext uri="{FF2B5EF4-FFF2-40B4-BE49-F238E27FC236}">
                <a16:creationId xmlns:a16="http://schemas.microsoft.com/office/drawing/2014/main" id="{6E121427-5C4C-4D10-A6C2-47A65E480F9D}"/>
              </a:ext>
            </a:extLst>
          </p:cNvPr>
          <p:cNvSpPr>
            <a:spLocks noGrp="1"/>
          </p:cNvSpPr>
          <p:nvPr>
            <p:ph type="body" idx="1"/>
          </p:nvPr>
        </p:nvSpPr>
        <p:spPr>
          <a:xfrm>
            <a:off x="839788" y="1681163"/>
            <a:ext cx="5157787" cy="480146"/>
          </a:xfrm>
        </p:spPr>
        <p:txBody>
          <a:bodyPr/>
          <a:lstStyle/>
          <a:p>
            <a:r>
              <a:rPr lang="es-ES" b="1" dirty="0" err="1"/>
              <a:t>Models</a:t>
            </a:r>
            <a:r>
              <a:rPr lang="es-ES" b="1" dirty="0"/>
              <a:t> </a:t>
            </a:r>
            <a:r>
              <a:rPr lang="es-ES" b="1" dirty="0" err="1"/>
              <a:t>with</a:t>
            </a:r>
            <a:r>
              <a:rPr lang="es-ES" b="1" dirty="0"/>
              <a:t> Low Performance</a:t>
            </a:r>
          </a:p>
        </p:txBody>
      </p:sp>
      <p:sp>
        <p:nvSpPr>
          <p:cNvPr id="5" name="Marcador de texto 4">
            <a:extLst>
              <a:ext uri="{FF2B5EF4-FFF2-40B4-BE49-F238E27FC236}">
                <a16:creationId xmlns:a16="http://schemas.microsoft.com/office/drawing/2014/main" id="{7AA50129-52A8-E850-5A17-BBE1E74740DE}"/>
              </a:ext>
            </a:extLst>
          </p:cNvPr>
          <p:cNvSpPr>
            <a:spLocks noGrp="1"/>
          </p:cNvSpPr>
          <p:nvPr>
            <p:ph type="body" sz="quarter" idx="3"/>
          </p:nvPr>
        </p:nvSpPr>
        <p:spPr>
          <a:xfrm>
            <a:off x="6172200" y="1681163"/>
            <a:ext cx="5183188" cy="480146"/>
          </a:xfrm>
        </p:spPr>
        <p:txBody>
          <a:bodyPr/>
          <a:lstStyle/>
          <a:p>
            <a:r>
              <a:rPr lang="es-ES" b="1" dirty="0" err="1"/>
              <a:t>Models</a:t>
            </a:r>
            <a:r>
              <a:rPr lang="es-ES" b="1" dirty="0"/>
              <a:t> </a:t>
            </a:r>
            <a:r>
              <a:rPr lang="es-ES" b="1" dirty="0" err="1"/>
              <a:t>with</a:t>
            </a:r>
            <a:r>
              <a:rPr lang="es-ES" b="1" dirty="0"/>
              <a:t> </a:t>
            </a:r>
            <a:r>
              <a:rPr lang="es-ES" b="1" dirty="0" err="1"/>
              <a:t>Best</a:t>
            </a:r>
            <a:r>
              <a:rPr lang="es-ES" b="1" dirty="0"/>
              <a:t> Perfor</a:t>
            </a:r>
            <a:r>
              <a:rPr lang="es-ES" dirty="0"/>
              <a:t>mance</a:t>
            </a:r>
            <a:endParaRPr lang="es-ES" b="1" dirty="0"/>
          </a:p>
        </p:txBody>
      </p:sp>
      <p:sp>
        <p:nvSpPr>
          <p:cNvPr id="6" name="Marcador de contenido 5">
            <a:extLst>
              <a:ext uri="{FF2B5EF4-FFF2-40B4-BE49-F238E27FC236}">
                <a16:creationId xmlns:a16="http://schemas.microsoft.com/office/drawing/2014/main" id="{E53B8C1A-C322-76CD-B559-3AD22221A392}"/>
              </a:ext>
            </a:extLst>
          </p:cNvPr>
          <p:cNvSpPr>
            <a:spLocks noGrp="1"/>
          </p:cNvSpPr>
          <p:nvPr>
            <p:ph sz="quarter" idx="4"/>
          </p:nvPr>
        </p:nvSpPr>
        <p:spPr>
          <a:xfrm>
            <a:off x="6096000" y="2362210"/>
            <a:ext cx="5259388" cy="3827453"/>
          </a:xfrm>
        </p:spPr>
        <p:txBody>
          <a:bodyPr>
            <a:normAutofit/>
          </a:bodyPr>
          <a:lstStyle/>
          <a:p>
            <a:pPr>
              <a:buNone/>
            </a:pPr>
            <a:r>
              <a:rPr lang="en-US" b="1" dirty="0"/>
              <a:t>3️⃣ </a:t>
            </a:r>
            <a:r>
              <a:rPr lang="en-US" b="1" dirty="0" err="1"/>
              <a:t>XGBoost</a:t>
            </a:r>
            <a:br>
              <a:rPr lang="en-US" dirty="0"/>
            </a:br>
            <a:r>
              <a:rPr lang="en-US" dirty="0"/>
              <a:t>Gradient Boosting model, robust and efficient.</a:t>
            </a:r>
            <a:br>
              <a:rPr lang="en-US" dirty="0"/>
            </a:br>
            <a:r>
              <a:rPr lang="en-US" b="1" dirty="0"/>
              <a:t>Advantage:</a:t>
            </a:r>
            <a:r>
              <a:rPr lang="en-US" dirty="0"/>
              <a:t> Captures complex relationships between variables.</a:t>
            </a:r>
            <a:br>
              <a:rPr lang="en-US" dirty="0"/>
            </a:br>
            <a:r>
              <a:rPr lang="en-US" b="1" dirty="0"/>
              <a:t>Problem:</a:t>
            </a:r>
            <a:r>
              <a:rPr lang="en-US" dirty="0"/>
              <a:t> Longer training time and less interpretability.</a:t>
            </a:r>
            <a:br>
              <a:rPr lang="en-US" dirty="0"/>
            </a:br>
            <a:r>
              <a:rPr lang="en-US" b="1" dirty="0"/>
              <a:t>RMSE:</a:t>
            </a:r>
            <a:r>
              <a:rPr lang="en-US" dirty="0"/>
              <a:t> Significantly reduced error compared to previous models.</a:t>
            </a:r>
          </a:p>
          <a:p>
            <a:r>
              <a:rPr lang="en-US" b="1" dirty="0"/>
              <a:t>4️⃣ Neural Network (Deep Learning)</a:t>
            </a:r>
            <a:br>
              <a:rPr lang="en-US" dirty="0"/>
            </a:br>
            <a:r>
              <a:rPr lang="en-US" dirty="0"/>
              <a:t>A neural network with several dense layers was tested.</a:t>
            </a:r>
            <a:br>
              <a:rPr lang="en-US" dirty="0"/>
            </a:br>
            <a:r>
              <a:rPr lang="en-US" b="1" dirty="0"/>
              <a:t>Advantage:</a:t>
            </a:r>
            <a:r>
              <a:rPr lang="en-US" dirty="0"/>
              <a:t> Good generalization, especially with large volumes of data.</a:t>
            </a:r>
            <a:br>
              <a:rPr lang="en-US" dirty="0"/>
            </a:br>
            <a:r>
              <a:rPr lang="en-US" b="1" dirty="0"/>
              <a:t>Problem:</a:t>
            </a:r>
            <a:r>
              <a:rPr lang="en-US" dirty="0"/>
              <a:t> Requires a lot of tuning and computing time, with no significant improvement over simpler models.</a:t>
            </a:r>
          </a:p>
          <a:p>
            <a:endParaRPr lang="es-ES" dirty="0"/>
          </a:p>
        </p:txBody>
      </p:sp>
      <p:sp>
        <p:nvSpPr>
          <p:cNvPr id="7" name="Marcador de número de diapositiva 6">
            <a:extLst>
              <a:ext uri="{FF2B5EF4-FFF2-40B4-BE49-F238E27FC236}">
                <a16:creationId xmlns:a16="http://schemas.microsoft.com/office/drawing/2014/main" id="{DF2B8371-D149-82E8-366C-570567200986}"/>
              </a:ext>
            </a:extLst>
          </p:cNvPr>
          <p:cNvSpPr>
            <a:spLocks noGrp="1"/>
          </p:cNvSpPr>
          <p:nvPr>
            <p:ph type="sldNum" sz="quarter" idx="12"/>
          </p:nvPr>
        </p:nvSpPr>
        <p:spPr/>
        <p:txBody>
          <a:bodyPr/>
          <a:lstStyle/>
          <a:p>
            <a:pPr rtl="0"/>
            <a:fld id="{82EE24B5-652C-4DB5-B7C3-B5BBEC1280B1}" type="slidenum">
              <a:rPr lang="es-ES" noProof="0" smtClean="0"/>
              <a:t>14</a:t>
            </a:fld>
            <a:endParaRPr lang="es-ES" noProof="0" dirty="0"/>
          </a:p>
        </p:txBody>
      </p:sp>
      <p:sp>
        <p:nvSpPr>
          <p:cNvPr id="10" name="Rectangle 3">
            <a:extLst>
              <a:ext uri="{FF2B5EF4-FFF2-40B4-BE49-F238E27FC236}">
                <a16:creationId xmlns:a16="http://schemas.microsoft.com/office/drawing/2014/main" id="{798B8838-E536-F347-A812-D91195C347B6}"/>
              </a:ext>
            </a:extLst>
          </p:cNvPr>
          <p:cNvSpPr>
            <a:spLocks noGrp="1" noChangeArrowheads="1"/>
          </p:cNvSpPr>
          <p:nvPr>
            <p:ph sz="half" idx="2"/>
          </p:nvPr>
        </p:nvSpPr>
        <p:spPr bwMode="auto">
          <a:xfrm>
            <a:off x="839788" y="2362210"/>
            <a:ext cx="515778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1" i="0" u="none" strike="noStrike" cap="none" normalizeH="0" baseline="0" dirty="0">
                <a:ln>
                  <a:noFill/>
                </a:ln>
                <a:solidFill>
                  <a:schemeClr val="tx1"/>
                </a:solidFill>
                <a:effectLst/>
                <a:latin typeface="Arial" panose="020B0604020202020204" pitchFamily="34" charset="0"/>
              </a:rPr>
              <a:t>1️⃣ Linear </a:t>
            </a:r>
            <a:r>
              <a:rPr kumimoji="0" lang="es-ES" altLang="es-ES" sz="1800" b="1" i="0" u="none" strike="noStrike" cap="none" normalizeH="0" baseline="0" dirty="0" err="1">
                <a:ln>
                  <a:noFill/>
                </a:ln>
                <a:solidFill>
                  <a:schemeClr val="tx1"/>
                </a:solidFill>
                <a:effectLst/>
                <a:latin typeface="Arial" panose="020B0604020202020204" pitchFamily="34" charset="0"/>
              </a:rPr>
              <a:t>Regression</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0" i="0" u="none" strike="noStrike" cap="none" normalizeH="0" baseline="0" dirty="0" err="1">
                <a:ln>
                  <a:noFill/>
                </a:ln>
                <a:solidFill>
                  <a:schemeClr val="tx1"/>
                </a:solidFill>
                <a:effectLst/>
                <a:latin typeface="Arial" panose="020B0604020202020204" pitchFamily="34" charset="0"/>
              </a:rPr>
              <a:t>It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was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our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first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approach</a:t>
            </a:r>
            <a:r>
              <a:rPr kumimoji="0" lang="es-ES" altLang="es-ES" sz="1800" b="0" i="0" u="none" strike="noStrike" cap="none" normalizeH="0" baseline="0" dirty="0">
                <a:ln>
                  <a:noFill/>
                </a:ln>
                <a:solidFill>
                  <a:schemeClr val="tx1"/>
                </a:solidFill>
                <a:effectLst/>
                <a:latin typeface="Arial" panose="020B0604020202020204" pitchFamily="34" charset="0"/>
              </a:rPr>
              <a:t> as a </a:t>
            </a:r>
            <a:r>
              <a:rPr kumimoji="0" lang="es-ES" altLang="es-ES" sz="1800" b="0" i="0" u="none" strike="noStrike" cap="none" normalizeH="0" baseline="0" dirty="0" err="1">
                <a:ln>
                  <a:noFill/>
                </a:ln>
                <a:solidFill>
                  <a:schemeClr val="tx1"/>
                </a:solidFill>
                <a:effectLst/>
                <a:latin typeface="Arial" panose="020B0604020202020204" pitchFamily="34" charset="0"/>
              </a:rPr>
              <a:t>baseline</a:t>
            </a:r>
            <a:r>
              <a:rPr kumimoji="0" lang="es-ES" altLang="es-ES" sz="1800" b="0" i="0" u="none" strike="noStrike" cap="none" normalizeH="0" baseline="0" dirty="0">
                <a:ln>
                  <a:noFill/>
                </a:ln>
                <a:solidFill>
                  <a:schemeClr val="tx1"/>
                </a:solidFill>
                <a:effectLst/>
                <a:latin typeface="Arial" panose="020B0604020202020204" pitchFamily="34" charset="0"/>
              </a:rPr>
              <a:t>.</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1" i="0" u="none" strike="noStrike" cap="none" normalizeH="0" baseline="0" dirty="0" err="1">
                <a:ln>
                  <a:noFill/>
                </a:ln>
                <a:solidFill>
                  <a:schemeClr val="tx1"/>
                </a:solidFill>
                <a:effectLst/>
                <a:latin typeface="Arial" panose="020B0604020202020204" pitchFamily="34" charset="0"/>
              </a:rPr>
              <a:t>Problem</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didn't</a:t>
            </a:r>
            <a:r>
              <a:rPr kumimoji="0" lang="es-ES" altLang="es-ES" sz="1800" b="0" i="0" u="none" strike="noStrike" cap="none" normalizeH="0" baseline="0" dirty="0">
                <a:ln>
                  <a:noFill/>
                </a:ln>
                <a:solidFill>
                  <a:schemeClr val="tx1"/>
                </a:solidFill>
                <a:effectLst/>
                <a:latin typeface="Arial" panose="020B0604020202020204" pitchFamily="34" charset="0"/>
              </a:rPr>
              <a:t> capture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relationship</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between</a:t>
            </a:r>
            <a:r>
              <a:rPr kumimoji="0" lang="es-ES" altLang="es-ES" sz="1800" b="0" i="0" u="none" strike="noStrike" cap="none" normalizeH="0" baseline="0" dirty="0">
                <a:ln>
                  <a:noFill/>
                </a:ln>
                <a:solidFill>
                  <a:schemeClr val="tx1"/>
                </a:solidFill>
                <a:effectLst/>
                <a:latin typeface="Arial" panose="020B0604020202020204" pitchFamily="34" charset="0"/>
              </a:rPr>
              <a:t> variables </a:t>
            </a:r>
            <a:r>
              <a:rPr kumimoji="0" lang="es-ES" altLang="es-ES" sz="1800" b="0" i="0" u="none" strike="noStrike" cap="none" normalizeH="0" baseline="0" dirty="0" err="1">
                <a:ln>
                  <a:noFill/>
                </a:ln>
                <a:solidFill>
                  <a:schemeClr val="tx1"/>
                </a:solidFill>
                <a:effectLst/>
                <a:latin typeface="Arial" panose="020B0604020202020204" pitchFamily="34" charset="0"/>
              </a:rPr>
              <a:t>well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especially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for</a:t>
            </a:r>
            <a:r>
              <a:rPr kumimoji="0" lang="es-ES" altLang="es-ES" sz="1800" b="0" i="0" u="none" strike="noStrike" cap="none" normalizeH="0" baseline="0" dirty="0">
                <a:ln>
                  <a:noFill/>
                </a:ln>
                <a:solidFill>
                  <a:schemeClr val="tx1"/>
                </a:solidFill>
                <a:effectLst/>
                <a:latin typeface="Arial" panose="020B0604020202020204" pitchFamily="34" charset="0"/>
              </a:rPr>
              <a:t> extreme </a:t>
            </a:r>
            <a:r>
              <a:rPr kumimoji="0" lang="es-ES" altLang="es-ES" sz="1800" b="0" i="0" u="none" strike="noStrike" cap="none" normalizeH="0" baseline="0" dirty="0" err="1">
                <a:ln>
                  <a:noFill/>
                </a:ln>
                <a:solidFill>
                  <a:schemeClr val="tx1"/>
                </a:solidFill>
                <a:effectLst/>
                <a:latin typeface="Arial" panose="020B0604020202020204" pitchFamily="34" charset="0"/>
              </a:rPr>
              <a:t>prices</a:t>
            </a:r>
            <a:r>
              <a:rPr kumimoji="0" lang="es-ES" altLang="es-ES" sz="1800" b="0" i="0" u="none" strike="noStrike" cap="none" normalizeH="0" baseline="0" dirty="0">
                <a:ln>
                  <a:noFill/>
                </a:ln>
                <a:solidFill>
                  <a:schemeClr val="tx1"/>
                </a:solidFill>
                <a:effectLst/>
                <a:latin typeface="Arial" panose="020B0604020202020204" pitchFamily="34" charset="0"/>
              </a:rPr>
              <a:t>.</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1" i="0" u="none" strike="noStrike" cap="none" normalizeH="0" baseline="0" dirty="0">
                <a:ln>
                  <a:noFill/>
                </a:ln>
                <a:solidFill>
                  <a:schemeClr val="tx1"/>
                </a:solidFill>
                <a:effectLst/>
                <a:latin typeface="Arial" panose="020B0604020202020204" pitchFamily="34" charset="0"/>
              </a:rPr>
              <a:t>Error:</a:t>
            </a:r>
            <a:r>
              <a:rPr kumimoji="0" lang="es-ES" altLang="es-ES" sz="1800" b="0" i="0" u="none" strike="noStrike" cap="none" normalizeH="0" baseline="0" dirty="0">
                <a:ln>
                  <a:noFill/>
                </a:ln>
                <a:solidFill>
                  <a:schemeClr val="tx1"/>
                </a:solidFill>
                <a:effectLst/>
                <a:latin typeface="Arial" panose="020B0604020202020204" pitchFamily="34" charset="0"/>
              </a:rPr>
              <a:t> High RMSE, </a:t>
            </a:r>
            <a:r>
              <a:rPr kumimoji="0" lang="es-ES" altLang="es-ES" sz="1800" b="0" i="0" u="none" strike="noStrike" cap="none" normalizeH="0" baseline="0" dirty="0" err="1">
                <a:ln>
                  <a:noFill/>
                </a:ln>
                <a:solidFill>
                  <a:schemeClr val="tx1"/>
                </a:solidFill>
                <a:effectLst/>
                <a:latin typeface="Arial" panose="020B0604020202020204" pitchFamily="34" charset="0"/>
              </a:rPr>
              <a:t>indicating</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poor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prediction</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accuracy</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1" i="0" u="none" strike="noStrike" cap="none" normalizeH="0" baseline="0" dirty="0">
                <a:ln>
                  <a:noFill/>
                </a:ln>
                <a:solidFill>
                  <a:schemeClr val="tx1"/>
                </a:solidFill>
                <a:effectLst/>
                <a:latin typeface="Arial" panose="020B0604020202020204" pitchFamily="34" charset="0"/>
              </a:rPr>
              <a:t>2️⃣ K-</a:t>
            </a:r>
            <a:r>
              <a:rPr kumimoji="0" lang="es-ES" altLang="es-ES" sz="1800" b="1" i="0" u="none" strike="noStrike" cap="none" normalizeH="0" baseline="0" dirty="0" err="1">
                <a:ln>
                  <a:noFill/>
                </a:ln>
                <a:solidFill>
                  <a:schemeClr val="tx1"/>
                </a:solidFill>
                <a:effectLst/>
                <a:latin typeface="Arial" panose="020B0604020202020204" pitchFamily="34" charset="0"/>
              </a:rPr>
              <a:t>Nearest</a:t>
            </a:r>
            <a:r>
              <a:rPr kumimoji="0" lang="es-ES" altLang="es-ES" sz="1800" b="1" i="0" u="none" strike="noStrike" cap="none" normalizeH="0" baseline="0" dirty="0">
                <a:ln>
                  <a:noFill/>
                </a:ln>
                <a:solidFill>
                  <a:schemeClr val="tx1"/>
                </a:solidFill>
                <a:effectLst/>
                <a:latin typeface="Arial" panose="020B0604020202020204" pitchFamily="34" charset="0"/>
              </a:rPr>
              <a:t> </a:t>
            </a:r>
            <a:r>
              <a:rPr kumimoji="0" lang="es-ES" altLang="es-ES" sz="1800" b="1" i="0" u="none" strike="noStrike" cap="none" normalizeH="0" baseline="0" dirty="0" err="1">
                <a:ln>
                  <a:noFill/>
                </a:ln>
                <a:solidFill>
                  <a:schemeClr val="tx1"/>
                </a:solidFill>
                <a:effectLst/>
                <a:latin typeface="Arial" panose="020B0604020202020204" pitchFamily="34" charset="0"/>
              </a:rPr>
              <a:t>Neighbors</a:t>
            </a:r>
            <a:r>
              <a:rPr kumimoji="0" lang="es-ES" altLang="es-ES" sz="1800" b="1" i="0" u="none" strike="noStrike" cap="none" normalizeH="0" baseline="0" dirty="0">
                <a:ln>
                  <a:noFill/>
                </a:ln>
                <a:solidFill>
                  <a:schemeClr val="tx1"/>
                </a:solidFill>
                <a:effectLst/>
                <a:latin typeface="Arial" panose="020B0604020202020204" pitchFamily="34" charset="0"/>
              </a:rPr>
              <a:t> (KNN)</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0" i="0" u="none" strike="noStrike" cap="none" normalizeH="0" baseline="0" dirty="0" err="1">
                <a:ln>
                  <a:noFill/>
                </a:ln>
                <a:solidFill>
                  <a:schemeClr val="tx1"/>
                </a:solidFill>
                <a:effectLst/>
                <a:latin typeface="Arial" panose="020B0604020202020204" pitchFamily="34" charset="0"/>
              </a:rPr>
              <a:t>Tested</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with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different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values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of</a:t>
            </a:r>
            <a:r>
              <a:rPr kumimoji="0" lang="es-ES" altLang="es-ES" sz="1800" b="0" i="0" u="none" strike="noStrike" cap="none" normalizeH="0" baseline="0" dirty="0">
                <a:ln>
                  <a:noFill/>
                </a:ln>
                <a:solidFill>
                  <a:schemeClr val="tx1"/>
                </a:solidFill>
                <a:effectLst/>
                <a:latin typeface="Arial" panose="020B0604020202020204" pitchFamily="34" charset="0"/>
              </a:rPr>
              <a:t> k.</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1" i="0" u="none" strike="noStrike" cap="none" normalizeH="0" baseline="0" dirty="0" err="1">
                <a:ln>
                  <a:noFill/>
                </a:ln>
                <a:solidFill>
                  <a:schemeClr val="tx1"/>
                </a:solidFill>
                <a:effectLst/>
                <a:latin typeface="Arial" panose="020B0604020202020204" pitchFamily="34" charset="0"/>
              </a:rPr>
              <a:t>Problem</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doesn't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fit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well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with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high</a:t>
            </a:r>
            <a:r>
              <a:rPr kumimoji="0" lang="es-ES" altLang="es-ES" sz="1800" b="0" i="0" u="none" strike="noStrike" cap="none" normalizeH="0" baseline="0" dirty="0">
                <a:ln>
                  <a:noFill/>
                </a:ln>
                <a:solidFill>
                  <a:schemeClr val="tx1"/>
                </a:solidFill>
                <a:effectLst/>
                <a:latin typeface="Arial" panose="020B0604020202020204" pitchFamily="34" charset="0"/>
              </a:rPr>
              <a:t>-dimensional data.</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1" i="0" u="none" strike="noStrike" cap="none" normalizeH="0" baseline="0" dirty="0" err="1">
                <a:ln>
                  <a:noFill/>
                </a:ln>
                <a:solidFill>
                  <a:schemeClr val="tx1"/>
                </a:solidFill>
                <a:effectLst/>
                <a:latin typeface="Arial" panose="020B0604020202020204" pitchFamily="34" charset="0"/>
              </a:rPr>
              <a:t>Result</a:t>
            </a:r>
            <a:r>
              <a:rPr kumimoji="0" lang="es-ES" altLang="es-ES" sz="1800" b="1" i="0" u="none" strike="noStrike" cap="none" normalizeH="0" baseline="0" dirty="0">
                <a:ln>
                  <a:noFill/>
                </a:ln>
                <a:solidFill>
                  <a:schemeClr val="tx1"/>
                </a:solidFill>
                <a:effectLst/>
                <a:latin typeface="Arial" panose="020B0604020202020204" pitchFamily="34" charset="0"/>
              </a:rPr>
              <a: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Inaccurate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predictions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especially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with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outliers</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9836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D4C3DF-4A30-2A92-2E58-3CE833EF1A75}"/>
              </a:ext>
            </a:extLst>
          </p:cNvPr>
          <p:cNvSpPr>
            <a:spLocks noGrp="1"/>
          </p:cNvSpPr>
          <p:nvPr>
            <p:ph type="title"/>
          </p:nvPr>
        </p:nvSpPr>
        <p:spPr/>
        <p:txBody>
          <a:bodyPr/>
          <a:lstStyle/>
          <a:p>
            <a:r>
              <a:rPr lang="es-ES" dirty="0"/>
              <a:t>Final </a:t>
            </a:r>
            <a:r>
              <a:rPr lang="es-ES" dirty="0" err="1"/>
              <a:t>Selected</a:t>
            </a:r>
            <a:r>
              <a:rPr lang="es-ES" dirty="0"/>
              <a:t> </a:t>
            </a:r>
            <a:r>
              <a:rPr lang="es-ES" dirty="0" err="1"/>
              <a:t>Model</a:t>
            </a:r>
            <a:r>
              <a:rPr lang="es-ES" dirty="0"/>
              <a:t>: </a:t>
            </a:r>
            <a:r>
              <a:rPr lang="es-ES" dirty="0" err="1"/>
              <a:t>Random</a:t>
            </a:r>
            <a:r>
              <a:rPr lang="es-ES" dirty="0"/>
              <a:t> Forest </a:t>
            </a:r>
            <a:r>
              <a:rPr lang="es-ES" dirty="0" err="1"/>
              <a:t>Clasiffier</a:t>
            </a:r>
            <a:endParaRPr lang="es-ES" dirty="0"/>
          </a:p>
        </p:txBody>
      </p:sp>
      <p:sp>
        <p:nvSpPr>
          <p:cNvPr id="6" name="Marcador de contenido 5">
            <a:extLst>
              <a:ext uri="{FF2B5EF4-FFF2-40B4-BE49-F238E27FC236}">
                <a16:creationId xmlns:a16="http://schemas.microsoft.com/office/drawing/2014/main" id="{429FDD3A-0CAB-2388-9FBC-E864BF15CDA7}"/>
              </a:ext>
            </a:extLst>
          </p:cNvPr>
          <p:cNvSpPr>
            <a:spLocks noGrp="1"/>
          </p:cNvSpPr>
          <p:nvPr>
            <p:ph sz="quarter" idx="4"/>
          </p:nvPr>
        </p:nvSpPr>
        <p:spPr>
          <a:xfrm>
            <a:off x="6449931" y="4332608"/>
            <a:ext cx="5183188" cy="3684588"/>
          </a:xfrm>
        </p:spPr>
        <p:txBody>
          <a:bodyPr/>
          <a:lstStyle/>
          <a:p>
            <a:pPr>
              <a:buNone/>
            </a:pPr>
            <a:r>
              <a:rPr lang="en-US" b="1" dirty="0"/>
              <a:t>Key Results:</a:t>
            </a:r>
            <a:endParaRPr lang="en-US" dirty="0"/>
          </a:p>
          <a:p>
            <a:pPr>
              <a:buFont typeface="Arial" panose="020B0604020202020204" pitchFamily="34" charset="0"/>
              <a:buChar char="•"/>
            </a:pPr>
            <a:r>
              <a:rPr lang="en-US" b="1" dirty="0"/>
              <a:t>Lower RMSE</a:t>
            </a:r>
            <a:r>
              <a:rPr lang="en-US" dirty="0"/>
              <a:t> compared to simpler models.</a:t>
            </a:r>
          </a:p>
          <a:p>
            <a:pPr>
              <a:buFont typeface="Arial" panose="020B0604020202020204" pitchFamily="34" charset="0"/>
              <a:buChar char="•"/>
            </a:pPr>
            <a:r>
              <a:rPr lang="en-US" b="1" dirty="0"/>
              <a:t>Feature Importance:</a:t>
            </a:r>
            <a:r>
              <a:rPr lang="en-US" dirty="0"/>
              <a:t> Variables such as location, type of accommodation, and minimum number of nights were key in predicting prices.</a:t>
            </a:r>
          </a:p>
          <a:p>
            <a:endParaRPr lang="es-ES" dirty="0"/>
          </a:p>
        </p:txBody>
      </p:sp>
      <p:sp>
        <p:nvSpPr>
          <p:cNvPr id="7" name="Marcador de número de diapositiva 6">
            <a:extLst>
              <a:ext uri="{FF2B5EF4-FFF2-40B4-BE49-F238E27FC236}">
                <a16:creationId xmlns:a16="http://schemas.microsoft.com/office/drawing/2014/main" id="{C0EAA38A-0027-7716-3D4E-47EB8A93F088}"/>
              </a:ext>
            </a:extLst>
          </p:cNvPr>
          <p:cNvSpPr>
            <a:spLocks noGrp="1"/>
          </p:cNvSpPr>
          <p:nvPr>
            <p:ph type="sldNum" sz="quarter" idx="12"/>
          </p:nvPr>
        </p:nvSpPr>
        <p:spPr/>
        <p:txBody>
          <a:bodyPr/>
          <a:lstStyle/>
          <a:p>
            <a:pPr rtl="0"/>
            <a:fld id="{82EE24B5-652C-4DB5-B7C3-B5BBEC1280B1}" type="slidenum">
              <a:rPr lang="es-ES" noProof="0" smtClean="0"/>
              <a:t>15</a:t>
            </a:fld>
            <a:endParaRPr lang="es-ES" noProof="0" dirty="0"/>
          </a:p>
        </p:txBody>
      </p:sp>
      <p:pic>
        <p:nvPicPr>
          <p:cNvPr id="9" name="Imagen 8">
            <a:extLst>
              <a:ext uri="{FF2B5EF4-FFF2-40B4-BE49-F238E27FC236}">
                <a16:creationId xmlns:a16="http://schemas.microsoft.com/office/drawing/2014/main" id="{DFEBAB37-2132-48F8-6815-3E185C71D327}"/>
              </a:ext>
            </a:extLst>
          </p:cNvPr>
          <p:cNvPicPr>
            <a:picLocks noChangeAspect="1"/>
          </p:cNvPicPr>
          <p:nvPr/>
        </p:nvPicPr>
        <p:blipFill>
          <a:blip r:embed="rId3"/>
          <a:stretch>
            <a:fillRect/>
          </a:stretch>
        </p:blipFill>
        <p:spPr>
          <a:xfrm>
            <a:off x="6449931" y="1690688"/>
            <a:ext cx="4814968" cy="2280106"/>
          </a:xfrm>
          <a:prstGeom prst="rect">
            <a:avLst/>
          </a:prstGeom>
        </p:spPr>
      </p:pic>
      <p:sp>
        <p:nvSpPr>
          <p:cNvPr id="5" name="Rectangle 2">
            <a:extLst>
              <a:ext uri="{FF2B5EF4-FFF2-40B4-BE49-F238E27FC236}">
                <a16:creationId xmlns:a16="http://schemas.microsoft.com/office/drawing/2014/main" id="{6F78D1FF-0212-98E9-0F83-6A40B89DBD23}"/>
              </a:ext>
            </a:extLst>
          </p:cNvPr>
          <p:cNvSpPr>
            <a:spLocks noGrp="1" noChangeArrowheads="1"/>
          </p:cNvSpPr>
          <p:nvPr>
            <p:ph sz="half" idx="2"/>
          </p:nvPr>
        </p:nvSpPr>
        <p:spPr bwMode="auto">
          <a:xfrm>
            <a:off x="927100" y="1720840"/>
            <a:ext cx="481496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dirty="0">
                <a:ln>
                  <a:noFill/>
                </a:ln>
                <a:solidFill>
                  <a:schemeClr val="tx1"/>
                </a:solidFill>
                <a:effectLst/>
                <a:latin typeface="Arial" panose="020B0604020202020204" pitchFamily="34" charset="0"/>
              </a:rPr>
              <a:t>After </a:t>
            </a:r>
            <a:r>
              <a:rPr kumimoji="0" lang="es-ES" altLang="es-ES" sz="1800" b="0" i="0" u="none" strike="noStrike" cap="none" normalizeH="0" baseline="0" dirty="0" err="1">
                <a:ln>
                  <a:noFill/>
                </a:ln>
                <a:solidFill>
                  <a:schemeClr val="tx1"/>
                </a:solidFill>
                <a:effectLst/>
                <a:latin typeface="Arial" panose="020B0604020202020204" pitchFamily="34" charset="0"/>
              </a:rPr>
              <a:t>analyzing</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results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Random</a:t>
            </a:r>
            <a:r>
              <a:rPr kumimoji="0" lang="es-ES" altLang="es-ES" sz="1800" b="0" i="0" u="none" strike="noStrike" cap="none" normalizeH="0" baseline="0" dirty="0">
                <a:ln>
                  <a:noFill/>
                </a:ln>
                <a:solidFill>
                  <a:schemeClr val="tx1"/>
                </a:solidFill>
                <a:effectLst/>
                <a:latin typeface="Arial" panose="020B0604020202020204" pitchFamily="34" charset="0"/>
              </a:rPr>
              <a:t> Forest </a:t>
            </a:r>
            <a:r>
              <a:rPr kumimoji="0" lang="es-ES" altLang="es-ES" sz="1800" b="0" i="0" u="none" strike="noStrike" cap="none" normalizeH="0" baseline="0" dirty="0" err="1">
                <a:ln>
                  <a:noFill/>
                </a:ln>
                <a:solidFill>
                  <a:schemeClr val="tx1"/>
                </a:solidFill>
                <a:effectLst/>
                <a:latin typeface="Arial" panose="020B0604020202020204" pitchFamily="34" charset="0"/>
              </a:rPr>
              <a:t>Classifier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was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selected</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for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several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reasons</a:t>
            </a:r>
            <a:r>
              <a:rPr kumimoji="0" lang="es-ES" altLang="es-ES" sz="1800" b="0" i="0" u="none" strike="noStrike" cap="none" normalizeH="0" baseline="0" dirty="0">
                <a:ln>
                  <a:noFill/>
                </a:ln>
                <a:solidFill>
                  <a:schemeClr val="tx1"/>
                </a:solidFill>
                <a:effectLst/>
                <a:latin typeface="Arial" panose="020B0604020202020204" pitchFamily="34" charset="0"/>
              </a:rPr>
              <a:t>:</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0" i="0" u="none" strike="noStrike" cap="none" normalizeH="0" baseline="0" dirty="0">
                <a:ln>
                  <a:noFill/>
                </a:ln>
                <a:solidFill>
                  <a:schemeClr val="tx1"/>
                </a:solidFill>
                <a:effectLst/>
                <a:latin typeface="Arial" panose="020B0604020202020204" pitchFamily="34" charset="0"/>
              </a:rPr>
              <a:t>✅ High </a:t>
            </a:r>
            <a:r>
              <a:rPr kumimoji="0" lang="es-ES" altLang="es-ES" sz="1800" b="0" i="0" u="none" strike="noStrike" cap="none" normalizeH="0" baseline="0" dirty="0" err="1">
                <a:ln>
                  <a:noFill/>
                </a:ln>
                <a:solidFill>
                  <a:schemeClr val="tx1"/>
                </a:solidFill>
                <a:effectLst/>
                <a:latin typeface="Arial" panose="020B0604020202020204" pitchFamily="34" charset="0"/>
              </a:rPr>
              <a:t>accuracy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with</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minimal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hyperparameter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tuning</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required</a:t>
            </a:r>
            <a:r>
              <a:rPr kumimoji="0" lang="es-ES" altLang="es-ES" sz="1800" b="0" i="0" u="none" strike="noStrike" cap="none" normalizeH="0" baseline="0" dirty="0">
                <a:ln>
                  <a:noFill/>
                </a:ln>
                <a:solidFill>
                  <a:schemeClr val="tx1"/>
                </a:solidFill>
                <a:effectLst/>
                <a:latin typeface="Arial" panose="020B0604020202020204" pitchFamily="34" charset="0"/>
              </a:rPr>
              <a:t>.</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Robustness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to</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missing</a:t>
            </a:r>
            <a:r>
              <a:rPr kumimoji="0" lang="es-ES" altLang="es-ES" sz="1800" b="0" i="0" u="none" strike="noStrike" cap="none" normalizeH="0" baseline="0" dirty="0">
                <a:ln>
                  <a:noFill/>
                </a:ln>
                <a:solidFill>
                  <a:schemeClr val="tx1"/>
                </a:solidFill>
                <a:effectLst/>
                <a:latin typeface="Arial" panose="020B0604020202020204" pitchFamily="34" charset="0"/>
              </a:rPr>
              <a:t> data and </a:t>
            </a:r>
            <a:r>
              <a:rPr kumimoji="0" lang="es-ES" altLang="es-ES" sz="1800" b="0" i="0" u="none" strike="noStrike" cap="none" normalizeH="0" baseline="0" dirty="0" err="1">
                <a:ln>
                  <a:noFill/>
                </a:ln>
                <a:solidFill>
                  <a:schemeClr val="tx1"/>
                </a:solidFill>
                <a:effectLst/>
                <a:latin typeface="Arial" panose="020B0604020202020204" pitchFamily="34" charset="0"/>
              </a:rPr>
              <a:t>outliers</a:t>
            </a:r>
            <a:r>
              <a:rPr kumimoji="0" lang="es-ES" altLang="es-ES" sz="1800" b="0" i="0" u="none" strike="noStrike" cap="none" normalizeH="0" baseline="0" dirty="0">
                <a:ln>
                  <a:noFill/>
                </a:ln>
                <a:solidFill>
                  <a:schemeClr val="tx1"/>
                </a:solidFill>
                <a:effectLst/>
                <a:latin typeface="Arial" panose="020B0604020202020204" pitchFamily="34" charset="0"/>
              </a:rPr>
              <a:t>.</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0" i="0" u="none" strike="noStrike" cap="none" normalizeH="0" baseline="0" dirty="0">
                <a:ln>
                  <a:noFill/>
                </a:ln>
                <a:solidFill>
                  <a:schemeClr val="tx1"/>
                </a:solidFill>
                <a:effectLst/>
                <a:latin typeface="Arial" panose="020B0604020202020204" pitchFamily="34" charset="0"/>
              </a:rPr>
              <a:t>✅ Good </a:t>
            </a:r>
            <a:r>
              <a:rPr kumimoji="0" lang="es-ES" altLang="es-ES" sz="1800" b="0" i="0" u="none" strike="noStrike" cap="none" normalizeH="0" baseline="0" dirty="0" err="1">
                <a:ln>
                  <a:noFill/>
                </a:ln>
                <a:solidFill>
                  <a:schemeClr val="tx1"/>
                </a:solidFill>
                <a:effectLst/>
                <a:latin typeface="Arial" panose="020B0604020202020204" pitchFamily="34" charset="0"/>
              </a:rPr>
              <a:t>interpretability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allowing</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an</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understanding</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of</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which</a:t>
            </a:r>
            <a:r>
              <a:rPr kumimoji="0" lang="es-ES" altLang="es-ES" sz="1800" b="0" i="0" u="none" strike="noStrike" cap="none" normalizeH="0" baseline="0" dirty="0">
                <a:ln>
                  <a:noFill/>
                </a:ln>
                <a:solidFill>
                  <a:schemeClr val="tx1"/>
                </a:solidFill>
                <a:effectLst/>
                <a:latin typeface="Arial" panose="020B0604020202020204" pitchFamily="34" charset="0"/>
              </a:rPr>
              <a:t> variables </a:t>
            </a:r>
            <a:r>
              <a:rPr kumimoji="0" lang="es-ES" altLang="es-ES" sz="1800" b="0" i="0" u="none" strike="noStrike" cap="none" normalizeH="0" baseline="0" dirty="0" err="1">
                <a:ln>
                  <a:noFill/>
                </a:ln>
                <a:solidFill>
                  <a:schemeClr val="tx1"/>
                </a:solidFill>
                <a:effectLst/>
                <a:latin typeface="Arial" panose="020B0604020202020204" pitchFamily="34" charset="0"/>
              </a:rPr>
              <a:t>influence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predictions</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the</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most</a:t>
            </a:r>
            <a:r>
              <a:rPr kumimoji="0" lang="es-ES" altLang="es-ES" sz="1800" b="0" i="0" u="none" strike="noStrike" cap="none" normalizeH="0" baseline="0" dirty="0">
                <a:ln>
                  <a:noFill/>
                </a:ln>
                <a:solidFill>
                  <a:schemeClr val="tx1"/>
                </a:solidFill>
                <a:effectLst/>
                <a:latin typeface="Arial" panose="020B0604020202020204" pitchFamily="34" charset="0"/>
              </a:rPr>
              <a:t>.</a:t>
            </a:r>
            <a:br>
              <a:rPr kumimoji="0" lang="es-ES" altLang="es-ES" sz="1800" b="0" i="0" u="none" strike="noStrike" cap="none" normalizeH="0" baseline="0" dirty="0">
                <a:ln>
                  <a:noFill/>
                </a:ln>
                <a:solidFill>
                  <a:schemeClr val="tx1"/>
                </a:solidFill>
                <a:effectLst/>
                <a:latin typeface="Arial" panose="020B0604020202020204" pitchFamily="34" charset="0"/>
              </a:rPr>
            </a:b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Computational</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efficiency</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faster</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than</a:t>
            </a:r>
            <a:r>
              <a:rPr kumimoji="0" lang="es-ES" altLang="es-ES" sz="1800" b="0" i="0" u="none" strike="noStrike" cap="none" normalizeH="0" baseline="0" dirty="0">
                <a:ln>
                  <a:noFill/>
                </a:ln>
                <a:solidFill>
                  <a:schemeClr val="tx1"/>
                </a:solidFill>
                <a:effectLst/>
                <a:latin typeface="Arial" panose="020B0604020202020204" pitchFamily="34" charset="0"/>
              </a:rPr>
              <a:t> a neural </a:t>
            </a:r>
            <a:r>
              <a:rPr kumimoji="0" lang="es-ES" altLang="es-ES" sz="1800" b="0" i="0" u="none" strike="noStrike" cap="none" normalizeH="0" baseline="0" dirty="0" err="1">
                <a:ln>
                  <a:noFill/>
                </a:ln>
                <a:solidFill>
                  <a:schemeClr val="tx1"/>
                </a:solidFill>
                <a:effectLst/>
                <a:latin typeface="Arial" panose="020B0604020202020204" pitchFamily="34" charset="0"/>
              </a:rPr>
              <a:t>network</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without</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losing</a:t>
            </a:r>
            <a:r>
              <a:rPr kumimoji="0" lang="es-ES" altLang="es-ES" sz="1800" b="0" i="0" u="none" strike="noStrike" cap="none" normalizeH="0" baseline="0" dirty="0">
                <a:ln>
                  <a:noFill/>
                </a:ln>
                <a:solidFill>
                  <a:schemeClr val="tx1"/>
                </a:solidFill>
                <a:effectLst/>
                <a:latin typeface="Arial" panose="020B0604020202020204" pitchFamily="34" charset="0"/>
              </a:rPr>
              <a:t> </a:t>
            </a:r>
            <a:r>
              <a:rPr kumimoji="0" lang="es-ES" altLang="es-ES" sz="1800" b="0" i="0" u="none" strike="noStrike" cap="none" normalizeH="0" baseline="0" dirty="0" err="1">
                <a:ln>
                  <a:noFill/>
                </a:ln>
                <a:solidFill>
                  <a:schemeClr val="tx1"/>
                </a:solidFill>
                <a:effectLst/>
                <a:latin typeface="Arial" panose="020B0604020202020204" pitchFamily="34" charset="0"/>
              </a:rPr>
              <a:t>accuracy</a:t>
            </a:r>
            <a:r>
              <a:rPr kumimoji="0" lang="es-ES" altLang="es-ES" sz="1800" b="0" i="0" u="none" strike="noStrike" cap="none" normalizeH="0" baseline="0" dirty="0">
                <a:ln>
                  <a:noFill/>
                </a:ln>
                <a:solidFill>
                  <a:schemeClr val="tx1"/>
                </a:solidFill>
                <a:effectLst/>
                <a:latin typeface="Arial" panose="020B0604020202020204" pitchFamily="34" charset="0"/>
              </a:rPr>
              <a:t>.</a:t>
            </a:r>
          </a:p>
          <a:p>
            <a:pPr marL="0" marR="0" lvl="0" indent="0" algn="r"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186093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AEA27D-61C6-A8EE-F93C-DB6348F39A5E}"/>
              </a:ext>
            </a:extLst>
          </p:cNvPr>
          <p:cNvSpPr>
            <a:spLocks noGrp="1"/>
          </p:cNvSpPr>
          <p:nvPr>
            <p:ph type="title"/>
          </p:nvPr>
        </p:nvSpPr>
        <p:spPr/>
        <p:txBody>
          <a:bodyPr>
            <a:normAutofit/>
          </a:bodyPr>
          <a:lstStyle/>
          <a:p>
            <a:r>
              <a:rPr lang="es-ES" sz="4000" b="1" dirty="0" err="1"/>
              <a:t>Conclusi</a:t>
            </a:r>
            <a:r>
              <a:rPr lang="es-ES" sz="4000" dirty="0" err="1"/>
              <a:t>ons</a:t>
            </a:r>
            <a:r>
              <a:rPr lang="es-ES" sz="4000" dirty="0"/>
              <a:t> and </a:t>
            </a:r>
            <a:r>
              <a:rPr lang="es-ES" sz="4000" dirty="0" err="1"/>
              <a:t>Improvements</a:t>
            </a:r>
            <a:endParaRPr lang="es-ES" sz="4000" dirty="0"/>
          </a:p>
        </p:txBody>
      </p:sp>
      <p:sp>
        <p:nvSpPr>
          <p:cNvPr id="3" name="Marcador de texto 2">
            <a:extLst>
              <a:ext uri="{FF2B5EF4-FFF2-40B4-BE49-F238E27FC236}">
                <a16:creationId xmlns:a16="http://schemas.microsoft.com/office/drawing/2014/main" id="{DC4515DB-5623-D2F4-0E04-2726441F0CE9}"/>
              </a:ext>
            </a:extLst>
          </p:cNvPr>
          <p:cNvSpPr>
            <a:spLocks noGrp="1"/>
          </p:cNvSpPr>
          <p:nvPr>
            <p:ph type="body" idx="1"/>
          </p:nvPr>
        </p:nvSpPr>
        <p:spPr/>
        <p:txBody>
          <a:bodyPr>
            <a:normAutofit/>
          </a:bodyPr>
          <a:lstStyle/>
          <a:p>
            <a:r>
              <a:rPr lang="es-ES" sz="2800" dirty="0"/>
              <a:t>📌 Key </a:t>
            </a:r>
            <a:r>
              <a:rPr lang="es-ES" sz="2800" dirty="0" err="1"/>
              <a:t>conclusions</a:t>
            </a:r>
            <a:r>
              <a:rPr lang="es-ES" sz="2800" dirty="0"/>
              <a:t>:</a:t>
            </a:r>
          </a:p>
        </p:txBody>
      </p:sp>
      <p:graphicFrame>
        <p:nvGraphicFramePr>
          <p:cNvPr id="8" name="Marcador de contenido 7">
            <a:extLst>
              <a:ext uri="{FF2B5EF4-FFF2-40B4-BE49-F238E27FC236}">
                <a16:creationId xmlns:a16="http://schemas.microsoft.com/office/drawing/2014/main" id="{441E5B70-7CCC-93F4-CEC7-11E28A16DA84}"/>
              </a:ext>
            </a:extLst>
          </p:cNvPr>
          <p:cNvGraphicFramePr>
            <a:graphicFrameLocks noGrp="1"/>
          </p:cNvGraphicFramePr>
          <p:nvPr>
            <p:ph sz="half" idx="2"/>
            <p:extLst>
              <p:ext uri="{D42A27DB-BD31-4B8C-83A1-F6EECF244321}">
                <p14:modId xmlns:p14="http://schemas.microsoft.com/office/powerpoint/2010/main" val="3162027398"/>
              </p:ext>
            </p:extLst>
          </p:nvPr>
        </p:nvGraphicFramePr>
        <p:xfrm>
          <a:off x="839788" y="250507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Marcador de texto 4">
            <a:extLst>
              <a:ext uri="{FF2B5EF4-FFF2-40B4-BE49-F238E27FC236}">
                <a16:creationId xmlns:a16="http://schemas.microsoft.com/office/drawing/2014/main" id="{187955A3-5B5E-6AF0-0764-621C59FBDD14}"/>
              </a:ext>
            </a:extLst>
          </p:cNvPr>
          <p:cNvSpPr>
            <a:spLocks noGrp="1"/>
          </p:cNvSpPr>
          <p:nvPr>
            <p:ph type="body" sz="quarter" idx="3"/>
          </p:nvPr>
        </p:nvSpPr>
        <p:spPr/>
        <p:txBody>
          <a:bodyPr>
            <a:normAutofit/>
          </a:bodyPr>
          <a:lstStyle/>
          <a:p>
            <a:r>
              <a:rPr lang="es-ES" sz="2800" dirty="0"/>
              <a:t>📌 </a:t>
            </a:r>
            <a:r>
              <a:rPr lang="es-ES" sz="2800" b="1" dirty="0"/>
              <a:t>Future </a:t>
            </a:r>
            <a:r>
              <a:rPr lang="es-ES" sz="2800" b="1" dirty="0" err="1"/>
              <a:t>Improvements</a:t>
            </a:r>
            <a:endParaRPr lang="es-ES" sz="2800" dirty="0"/>
          </a:p>
        </p:txBody>
      </p:sp>
      <p:graphicFrame>
        <p:nvGraphicFramePr>
          <p:cNvPr id="9" name="Marcador de contenido 8">
            <a:extLst>
              <a:ext uri="{FF2B5EF4-FFF2-40B4-BE49-F238E27FC236}">
                <a16:creationId xmlns:a16="http://schemas.microsoft.com/office/drawing/2014/main" id="{FBC306C8-7C40-4BFE-FD41-11AC00C1C3C9}"/>
              </a:ext>
            </a:extLst>
          </p:cNvPr>
          <p:cNvGraphicFramePr>
            <a:graphicFrameLocks noGrp="1"/>
          </p:cNvGraphicFramePr>
          <p:nvPr>
            <p:ph sz="quarter" idx="4"/>
            <p:extLst>
              <p:ext uri="{D42A27DB-BD31-4B8C-83A1-F6EECF244321}">
                <p14:modId xmlns:p14="http://schemas.microsoft.com/office/powerpoint/2010/main" val="3140720570"/>
              </p:ext>
            </p:extLst>
          </p:nvPr>
        </p:nvGraphicFramePr>
        <p:xfrm>
          <a:off x="6172200" y="2505075"/>
          <a:ext cx="5183188" cy="368458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7" name="Marcador de número de diapositiva 6">
            <a:extLst>
              <a:ext uri="{FF2B5EF4-FFF2-40B4-BE49-F238E27FC236}">
                <a16:creationId xmlns:a16="http://schemas.microsoft.com/office/drawing/2014/main" id="{514773E2-CA76-E153-2295-DEB4558C05C2}"/>
              </a:ext>
            </a:extLst>
          </p:cNvPr>
          <p:cNvSpPr>
            <a:spLocks noGrp="1"/>
          </p:cNvSpPr>
          <p:nvPr>
            <p:ph type="sldNum" sz="quarter" idx="12"/>
          </p:nvPr>
        </p:nvSpPr>
        <p:spPr/>
        <p:txBody>
          <a:bodyPr/>
          <a:lstStyle/>
          <a:p>
            <a:pPr rtl="0"/>
            <a:fld id="{82EE24B5-652C-4DB5-B7C3-B5BBEC1280B1}" type="slidenum">
              <a:rPr lang="es-ES" noProof="0" smtClean="0"/>
              <a:t>16</a:t>
            </a:fld>
            <a:endParaRPr lang="es-ES" noProof="0" dirty="0"/>
          </a:p>
        </p:txBody>
      </p:sp>
    </p:spTree>
    <p:extLst>
      <p:ext uri="{BB962C8B-B14F-4D97-AF65-F5344CB8AC3E}">
        <p14:creationId xmlns:p14="http://schemas.microsoft.com/office/powerpoint/2010/main" val="3039409945"/>
      </p:ext>
    </p:extLst>
  </p:cSld>
  <p:clrMapOvr>
    <a:masterClrMapping/>
  </p:clrMapOvr>
</p:sld>
</file>

<file path=ppt/theme/theme1.xml><?xml version="1.0" encoding="utf-8"?>
<a:theme xmlns:a="http://schemas.openxmlformats.org/drawingml/2006/main" name="Tema de la oficina">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4">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5087709_TF45022061.potx" id="{CF8F7AC9-B209-40DA-B01B-03DE7680F64C}" vid="{9567545B-13CB-48C1-B233-082DD3A40F6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426FE2C-7640-4BF0-9D68-FDFD4151F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2DDA16B-F3AC-4A5B-9F5F-6F5A8F47A9E6}">
  <ds:schemaRefs>
    <ds:schemaRef ds:uri="http://schemas.microsoft.com/sharepoint/v3/contenttype/forms"/>
  </ds:schemaRefs>
</ds:datastoreItem>
</file>

<file path=customXml/itemProps3.xml><?xml version="1.0" encoding="utf-8"?>
<ds:datastoreItem xmlns:ds="http://schemas.openxmlformats.org/officeDocument/2006/customXml" ds:itemID="{3C118CE8-9293-4220-BA3B-5D353B13ABC9}">
  <ds:schemaRefs>
    <ds:schemaRef ds:uri="http://www.w3.org/XML/1998/namespace"/>
    <ds:schemaRef ds:uri="http://purl.org/dc/terms/"/>
    <ds:schemaRef ds:uri="http://purl.org/dc/elements/1.1/"/>
    <ds:schemaRef ds:uri="http://schemas.microsoft.com/office/infopath/2007/PartnerControls"/>
    <ds:schemaRef ds:uri="http://schemas.microsoft.com/office/2006/documentManagement/types"/>
    <ds:schemaRef ds:uri="71af3243-3dd4-4a8d-8c0d-dd76da1f02a5"/>
    <ds:schemaRef ds:uri="http://schemas.microsoft.com/office/2006/metadata/properties"/>
    <ds:schemaRef ds:uri="http://schemas.openxmlformats.org/package/2006/metadata/core-properties"/>
    <ds:schemaRef ds:uri="16c05727-aa75-4e4a-9b5f-8a80a1165891"/>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Plan de marketing de servicios profesionales</Template>
  <TotalTime>1782</TotalTime>
  <Words>2337</Words>
  <Application>Microsoft Office PowerPoint</Application>
  <PresentationFormat>Panorámica</PresentationFormat>
  <Paragraphs>161</Paragraphs>
  <Slides>16</Slides>
  <Notes>14</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16</vt:i4>
      </vt:variant>
    </vt:vector>
  </HeadingPairs>
  <TitlesOfParts>
    <vt:vector size="24" baseType="lpstr">
      <vt:lpstr>Aptos</vt:lpstr>
      <vt:lpstr>Arial</vt:lpstr>
      <vt:lpstr>Arial </vt:lpstr>
      <vt:lpstr>Calibri</vt:lpstr>
      <vt:lpstr>Gill Sans MT</vt:lpstr>
      <vt:lpstr>Slack-Lato</vt:lpstr>
      <vt:lpstr>Symbol</vt:lpstr>
      <vt:lpstr>Tema de la oficina</vt:lpstr>
      <vt:lpstr>Urban Accommodation Analysis: Insights from Airbnb in Barcelona, Madrid, and Seville"</vt:lpstr>
      <vt:lpstr>Project Presentation</vt:lpstr>
      <vt:lpstr>Technical Problem Statement </vt:lpstr>
      <vt:lpstr>Exploratory Data Analysis (EDA)</vt:lpstr>
      <vt:lpstr>Accommodation Type Distribution</vt:lpstr>
      <vt:lpstr>Average Price per Month and City</vt:lpstr>
      <vt:lpstr>Average Price by Season and City</vt:lpstr>
      <vt:lpstr>Price Distribution</vt:lpstr>
      <vt:lpstr>Correlation Matrices for Barcelona,  Madrid and Seville</vt:lpstr>
      <vt:lpstr>Prices by Neighborhood and Location</vt:lpstr>
      <vt:lpstr>Presentación de PowerPoint</vt:lpstr>
      <vt:lpstr>Presentación de PowerPoint</vt:lpstr>
      <vt:lpstr>Relationship between Price, Number of Reviews and Availability</vt:lpstr>
      <vt:lpstr>Results of Tested Models</vt:lpstr>
      <vt:lpstr>Final Selected Model: Random Forest Clasiffier</vt:lpstr>
      <vt:lpstr>Conclusions and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Alberto Torres Cacheda</dc:creator>
  <cp:lastModifiedBy>Alberto Torres Cacheda</cp:lastModifiedBy>
  <cp:revision>11</cp:revision>
  <dcterms:created xsi:type="dcterms:W3CDTF">2024-12-16T16:19:40Z</dcterms:created>
  <dcterms:modified xsi:type="dcterms:W3CDTF">2025-05-20T16:55:31Z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